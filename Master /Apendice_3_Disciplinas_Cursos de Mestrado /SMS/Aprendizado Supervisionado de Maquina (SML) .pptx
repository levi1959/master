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1" r:id="rId3"/>
    <p:sldId id="264" r:id="rId4"/>
    <p:sldId id="262" r:id="rId5"/>
    <p:sldId id="272" r:id="rId6"/>
    <p:sldId id="263" r:id="rId7"/>
    <p:sldId id="265" r:id="rId8"/>
    <p:sldId id="266" r:id="rId9"/>
    <p:sldId id="268" r:id="rId10"/>
    <p:sldId id="267" r:id="rId11"/>
    <p:sldId id="269" r:id="rId12"/>
    <p:sldId id="275" r:id="rId13"/>
    <p:sldId id="273" r:id="rId14"/>
    <p:sldId id="274" r:id="rId15"/>
    <p:sldId id="270" r:id="rId16"/>
    <p:sldId id="276" r:id="rId17"/>
    <p:sldId id="271" r:id="rId18"/>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12" d="100"/>
          <a:sy n="112" d="100"/>
        </p:scale>
        <p:origin x="552"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0AAA84-98AC-074C-B1E0-D57E7BD893BB}"/>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C9BB3EA4-408A-EBF7-02AE-8620EBAEF0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490B2F69-907A-A6C6-4C8C-B37EC5257B4A}"/>
              </a:ext>
            </a:extLst>
          </p:cNvPr>
          <p:cNvSpPr>
            <a:spLocks noGrp="1"/>
          </p:cNvSpPr>
          <p:nvPr>
            <p:ph type="dt" sz="half" idx="10"/>
          </p:nvPr>
        </p:nvSpPr>
        <p:spPr/>
        <p:txBody>
          <a:bodyPr/>
          <a:lstStyle/>
          <a:p>
            <a:fld id="{9A4B4AF1-A59E-4B99-A90E-3D2393F08FAC}" type="datetimeFigureOut">
              <a:rPr lang="pt-BR" smtClean="0"/>
              <a:t>27/06/2024</a:t>
            </a:fld>
            <a:endParaRPr lang="pt-BR"/>
          </a:p>
        </p:txBody>
      </p:sp>
      <p:sp>
        <p:nvSpPr>
          <p:cNvPr id="5" name="Espaço Reservado para Rodapé 4">
            <a:extLst>
              <a:ext uri="{FF2B5EF4-FFF2-40B4-BE49-F238E27FC236}">
                <a16:creationId xmlns:a16="http://schemas.microsoft.com/office/drawing/2014/main" id="{B14A4F4B-B2B8-BCD5-DCEF-06D56841887A}"/>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0A87B653-B7EF-C5DD-5F49-AB173D104F85}"/>
              </a:ext>
            </a:extLst>
          </p:cNvPr>
          <p:cNvSpPr>
            <a:spLocks noGrp="1"/>
          </p:cNvSpPr>
          <p:nvPr>
            <p:ph type="sldNum" sz="quarter" idx="12"/>
          </p:nvPr>
        </p:nvSpPr>
        <p:spPr/>
        <p:txBody>
          <a:bodyPr/>
          <a:lstStyle/>
          <a:p>
            <a:fld id="{85517FB5-8940-48DC-8389-4196DB4E9170}" type="slidenum">
              <a:rPr lang="pt-BR" smtClean="0"/>
              <a:t>‹nº›</a:t>
            </a:fld>
            <a:endParaRPr lang="pt-BR"/>
          </a:p>
        </p:txBody>
      </p:sp>
      <p:sp>
        <p:nvSpPr>
          <p:cNvPr id="7" name="CaixaDeTexto 6">
            <a:extLst>
              <a:ext uri="{FF2B5EF4-FFF2-40B4-BE49-F238E27FC236}">
                <a16:creationId xmlns:a16="http://schemas.microsoft.com/office/drawing/2014/main" id="{5CD565AA-5A4C-AACA-C81D-FF9DFDC298E4}"/>
              </a:ext>
            </a:extLst>
          </p:cNvPr>
          <p:cNvSpPr txBox="1"/>
          <p:nvPr userDrawn="1"/>
        </p:nvSpPr>
        <p:spPr>
          <a:xfrm>
            <a:off x="0" y="6559141"/>
            <a:ext cx="956416" cy="276999"/>
          </a:xfrm>
          <a:prstGeom prst="rect">
            <a:avLst/>
          </a:prstGeom>
          <a:noFill/>
        </p:spPr>
        <p:txBody>
          <a:bodyPr wrap="none" rtlCol="0">
            <a:spAutoFit/>
          </a:bodyPr>
          <a:lstStyle/>
          <a:p>
            <a:r>
              <a:rPr lang="pt-BR" sz="1200" dirty="0">
                <a:solidFill>
                  <a:srgbClr val="FF0000"/>
                </a:solidFill>
              </a:rPr>
              <a:t>Confidencial</a:t>
            </a:r>
          </a:p>
        </p:txBody>
      </p:sp>
    </p:spTree>
    <p:extLst>
      <p:ext uri="{BB962C8B-B14F-4D97-AF65-F5344CB8AC3E}">
        <p14:creationId xmlns:p14="http://schemas.microsoft.com/office/powerpoint/2010/main" val="3756760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AE0CE0-8943-7616-F10E-56A74119E499}"/>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5FD2F6A7-B06E-7218-AF14-B7789833403D}"/>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10" name="CaixaDeTexto 9">
            <a:extLst>
              <a:ext uri="{FF2B5EF4-FFF2-40B4-BE49-F238E27FC236}">
                <a16:creationId xmlns:a16="http://schemas.microsoft.com/office/drawing/2014/main" id="{A3464A71-07ED-BA52-B7C3-D40092209161}"/>
              </a:ext>
            </a:extLst>
          </p:cNvPr>
          <p:cNvSpPr txBox="1"/>
          <p:nvPr userDrawn="1"/>
        </p:nvSpPr>
        <p:spPr>
          <a:xfrm>
            <a:off x="0" y="6559141"/>
            <a:ext cx="956416" cy="276999"/>
          </a:xfrm>
          <a:prstGeom prst="rect">
            <a:avLst/>
          </a:prstGeom>
          <a:noFill/>
        </p:spPr>
        <p:txBody>
          <a:bodyPr wrap="none" rtlCol="0">
            <a:spAutoFit/>
          </a:bodyPr>
          <a:lstStyle/>
          <a:p>
            <a:r>
              <a:rPr lang="pt-BR" sz="1200" dirty="0">
                <a:solidFill>
                  <a:srgbClr val="FF0000"/>
                </a:solidFill>
              </a:rPr>
              <a:t>Confidencial</a:t>
            </a:r>
          </a:p>
        </p:txBody>
      </p:sp>
    </p:spTree>
    <p:extLst>
      <p:ext uri="{BB962C8B-B14F-4D97-AF65-F5344CB8AC3E}">
        <p14:creationId xmlns:p14="http://schemas.microsoft.com/office/powerpoint/2010/main" val="9543283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D819AF-F8C8-D3E7-9FAF-D125426CC91D}"/>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CD866E98-D18F-6992-3EBA-6BA3EA13BF8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5" name="Espaço Reservado para Rodapé 4">
            <a:extLst>
              <a:ext uri="{FF2B5EF4-FFF2-40B4-BE49-F238E27FC236}">
                <a16:creationId xmlns:a16="http://schemas.microsoft.com/office/drawing/2014/main" id="{D702EF49-3528-E09F-60B3-B80D9D54BEB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2912DCF1-E202-1025-25DD-A3D7F8073026}"/>
              </a:ext>
            </a:extLst>
          </p:cNvPr>
          <p:cNvSpPr>
            <a:spLocks noGrp="1"/>
          </p:cNvSpPr>
          <p:nvPr>
            <p:ph type="sldNum" sz="quarter" idx="12"/>
          </p:nvPr>
        </p:nvSpPr>
        <p:spPr/>
        <p:txBody>
          <a:bodyPr/>
          <a:lstStyle/>
          <a:p>
            <a:fld id="{85517FB5-8940-48DC-8389-4196DB4E9170}" type="slidenum">
              <a:rPr lang="pt-BR" smtClean="0"/>
              <a:t>‹nº›</a:t>
            </a:fld>
            <a:endParaRPr lang="pt-BR"/>
          </a:p>
        </p:txBody>
      </p:sp>
      <p:sp>
        <p:nvSpPr>
          <p:cNvPr id="7" name="CaixaDeTexto 6">
            <a:extLst>
              <a:ext uri="{FF2B5EF4-FFF2-40B4-BE49-F238E27FC236}">
                <a16:creationId xmlns:a16="http://schemas.microsoft.com/office/drawing/2014/main" id="{E0FC0617-E1B0-772A-DFC0-26BEEFA37B86}"/>
              </a:ext>
            </a:extLst>
          </p:cNvPr>
          <p:cNvSpPr txBox="1"/>
          <p:nvPr userDrawn="1"/>
        </p:nvSpPr>
        <p:spPr>
          <a:xfrm>
            <a:off x="0" y="6559141"/>
            <a:ext cx="956416" cy="276999"/>
          </a:xfrm>
          <a:prstGeom prst="rect">
            <a:avLst/>
          </a:prstGeom>
          <a:noFill/>
        </p:spPr>
        <p:txBody>
          <a:bodyPr wrap="none" rtlCol="0">
            <a:spAutoFit/>
          </a:bodyPr>
          <a:lstStyle/>
          <a:p>
            <a:r>
              <a:rPr lang="pt-BR" sz="1200" dirty="0">
                <a:solidFill>
                  <a:srgbClr val="FF0000"/>
                </a:solidFill>
              </a:rPr>
              <a:t>Confidencial</a:t>
            </a:r>
          </a:p>
        </p:txBody>
      </p:sp>
    </p:spTree>
    <p:extLst>
      <p:ext uri="{BB962C8B-B14F-4D97-AF65-F5344CB8AC3E}">
        <p14:creationId xmlns:p14="http://schemas.microsoft.com/office/powerpoint/2010/main" val="28504219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84A2C4-A147-DA2C-65AF-B881EF100BE7}"/>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4AE5366B-B48F-1DF1-C2F0-C53FF4B88A33}"/>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27D3A720-D26F-7387-D892-CB8CF15756D8}"/>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a:extLst>
              <a:ext uri="{FF2B5EF4-FFF2-40B4-BE49-F238E27FC236}">
                <a16:creationId xmlns:a16="http://schemas.microsoft.com/office/drawing/2014/main" id="{FFF08C36-9091-594C-7902-A0EFF57C312F}"/>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9A58CF77-8805-FBBA-D00D-88FD01F48254}"/>
              </a:ext>
            </a:extLst>
          </p:cNvPr>
          <p:cNvSpPr>
            <a:spLocks noGrp="1"/>
          </p:cNvSpPr>
          <p:nvPr>
            <p:ph type="sldNum" sz="quarter" idx="12"/>
          </p:nvPr>
        </p:nvSpPr>
        <p:spPr/>
        <p:txBody>
          <a:bodyPr/>
          <a:lstStyle/>
          <a:p>
            <a:fld id="{85517FB5-8940-48DC-8389-4196DB4E9170}" type="slidenum">
              <a:rPr lang="pt-BR" smtClean="0"/>
              <a:t>‹nº›</a:t>
            </a:fld>
            <a:endParaRPr lang="pt-BR"/>
          </a:p>
        </p:txBody>
      </p:sp>
      <p:sp>
        <p:nvSpPr>
          <p:cNvPr id="8" name="CaixaDeTexto 7">
            <a:extLst>
              <a:ext uri="{FF2B5EF4-FFF2-40B4-BE49-F238E27FC236}">
                <a16:creationId xmlns:a16="http://schemas.microsoft.com/office/drawing/2014/main" id="{7123E40F-8611-CF2B-9AB3-C74CC7587BF5}"/>
              </a:ext>
            </a:extLst>
          </p:cNvPr>
          <p:cNvSpPr txBox="1"/>
          <p:nvPr userDrawn="1"/>
        </p:nvSpPr>
        <p:spPr>
          <a:xfrm>
            <a:off x="0" y="6559141"/>
            <a:ext cx="956416" cy="276999"/>
          </a:xfrm>
          <a:prstGeom prst="rect">
            <a:avLst/>
          </a:prstGeom>
          <a:noFill/>
        </p:spPr>
        <p:txBody>
          <a:bodyPr wrap="none" rtlCol="0">
            <a:spAutoFit/>
          </a:bodyPr>
          <a:lstStyle/>
          <a:p>
            <a:r>
              <a:rPr lang="pt-BR" sz="1200" dirty="0">
                <a:solidFill>
                  <a:srgbClr val="FF0000"/>
                </a:solidFill>
              </a:rPr>
              <a:t>Confidencial</a:t>
            </a:r>
          </a:p>
        </p:txBody>
      </p:sp>
    </p:spTree>
    <p:extLst>
      <p:ext uri="{BB962C8B-B14F-4D97-AF65-F5344CB8AC3E}">
        <p14:creationId xmlns:p14="http://schemas.microsoft.com/office/powerpoint/2010/main" val="3769795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B976F7-60E2-2EC2-1BBC-AC4A8023BD28}"/>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66A84A64-7FF1-F2AC-EF05-1EFA01BE63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0F589BAA-5ACC-9F8E-05C4-0DE209756347}"/>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9D462136-65FE-704B-1FF9-4D71D9F7C5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F81EF08D-ADEE-5D65-8080-2E7706816A59}"/>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8" name="Espaço Reservado para Rodapé 7">
            <a:extLst>
              <a:ext uri="{FF2B5EF4-FFF2-40B4-BE49-F238E27FC236}">
                <a16:creationId xmlns:a16="http://schemas.microsoft.com/office/drawing/2014/main" id="{36DF0C4D-D1C9-E7DC-1D75-83CC7461FE2E}"/>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7CD95C15-9901-47C2-12BA-61ABF3E5E88F}"/>
              </a:ext>
            </a:extLst>
          </p:cNvPr>
          <p:cNvSpPr>
            <a:spLocks noGrp="1"/>
          </p:cNvSpPr>
          <p:nvPr>
            <p:ph type="sldNum" sz="quarter" idx="12"/>
          </p:nvPr>
        </p:nvSpPr>
        <p:spPr/>
        <p:txBody>
          <a:bodyPr/>
          <a:lstStyle/>
          <a:p>
            <a:fld id="{85517FB5-8940-48DC-8389-4196DB4E9170}" type="slidenum">
              <a:rPr lang="pt-BR" smtClean="0"/>
              <a:t>‹nº›</a:t>
            </a:fld>
            <a:endParaRPr lang="pt-BR"/>
          </a:p>
        </p:txBody>
      </p:sp>
      <p:sp>
        <p:nvSpPr>
          <p:cNvPr id="10" name="CaixaDeTexto 9">
            <a:extLst>
              <a:ext uri="{FF2B5EF4-FFF2-40B4-BE49-F238E27FC236}">
                <a16:creationId xmlns:a16="http://schemas.microsoft.com/office/drawing/2014/main" id="{2EF6F45F-B25F-8D6F-F13F-AE18BBB1BF32}"/>
              </a:ext>
            </a:extLst>
          </p:cNvPr>
          <p:cNvSpPr txBox="1"/>
          <p:nvPr userDrawn="1"/>
        </p:nvSpPr>
        <p:spPr>
          <a:xfrm>
            <a:off x="0" y="6559141"/>
            <a:ext cx="956416" cy="276999"/>
          </a:xfrm>
          <a:prstGeom prst="rect">
            <a:avLst/>
          </a:prstGeom>
          <a:noFill/>
        </p:spPr>
        <p:txBody>
          <a:bodyPr wrap="none" rtlCol="0">
            <a:spAutoFit/>
          </a:bodyPr>
          <a:lstStyle/>
          <a:p>
            <a:r>
              <a:rPr lang="pt-BR" sz="1200" dirty="0">
                <a:solidFill>
                  <a:srgbClr val="FF0000"/>
                </a:solidFill>
              </a:rPr>
              <a:t>Confidencial</a:t>
            </a:r>
          </a:p>
        </p:txBody>
      </p:sp>
    </p:spTree>
    <p:extLst>
      <p:ext uri="{BB962C8B-B14F-4D97-AF65-F5344CB8AC3E}">
        <p14:creationId xmlns:p14="http://schemas.microsoft.com/office/powerpoint/2010/main" val="82054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EC469C-53CD-CA1A-68BC-657144429B8B}"/>
              </a:ext>
            </a:extLst>
          </p:cNvPr>
          <p:cNvSpPr>
            <a:spLocks noGrp="1"/>
          </p:cNvSpPr>
          <p:nvPr>
            <p:ph type="title"/>
          </p:nvPr>
        </p:nvSpPr>
        <p:spPr/>
        <p:txBody>
          <a:bodyPr/>
          <a:lstStyle/>
          <a:p>
            <a:r>
              <a:rPr lang="pt-BR"/>
              <a:t>Clique para editar o título Mestre</a:t>
            </a:r>
          </a:p>
        </p:txBody>
      </p:sp>
      <p:sp>
        <p:nvSpPr>
          <p:cNvPr id="4" name="Espaço Reservado para Rodapé 3">
            <a:extLst>
              <a:ext uri="{FF2B5EF4-FFF2-40B4-BE49-F238E27FC236}">
                <a16:creationId xmlns:a16="http://schemas.microsoft.com/office/drawing/2014/main" id="{3A78B8CA-B479-0979-7BF6-17B84C23B1AD}"/>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3BB2A489-84F5-B7F3-3615-128FABF29F69}"/>
              </a:ext>
            </a:extLst>
          </p:cNvPr>
          <p:cNvSpPr>
            <a:spLocks noGrp="1"/>
          </p:cNvSpPr>
          <p:nvPr>
            <p:ph type="sldNum" sz="quarter" idx="12"/>
          </p:nvPr>
        </p:nvSpPr>
        <p:spPr/>
        <p:txBody>
          <a:bodyPr/>
          <a:lstStyle/>
          <a:p>
            <a:fld id="{85517FB5-8940-48DC-8389-4196DB4E9170}" type="slidenum">
              <a:rPr lang="pt-BR" smtClean="0"/>
              <a:t>‹nº›</a:t>
            </a:fld>
            <a:endParaRPr lang="pt-BR"/>
          </a:p>
        </p:txBody>
      </p:sp>
      <p:sp>
        <p:nvSpPr>
          <p:cNvPr id="6" name="CaixaDeTexto 5">
            <a:extLst>
              <a:ext uri="{FF2B5EF4-FFF2-40B4-BE49-F238E27FC236}">
                <a16:creationId xmlns:a16="http://schemas.microsoft.com/office/drawing/2014/main" id="{B543873A-1D8C-DF78-5212-D08A8536F89C}"/>
              </a:ext>
            </a:extLst>
          </p:cNvPr>
          <p:cNvSpPr txBox="1"/>
          <p:nvPr userDrawn="1"/>
        </p:nvSpPr>
        <p:spPr>
          <a:xfrm>
            <a:off x="0" y="6559141"/>
            <a:ext cx="956416" cy="276999"/>
          </a:xfrm>
          <a:prstGeom prst="rect">
            <a:avLst/>
          </a:prstGeom>
          <a:noFill/>
        </p:spPr>
        <p:txBody>
          <a:bodyPr wrap="none" rtlCol="0">
            <a:spAutoFit/>
          </a:bodyPr>
          <a:lstStyle/>
          <a:p>
            <a:r>
              <a:rPr lang="pt-BR" sz="1200" dirty="0">
                <a:solidFill>
                  <a:srgbClr val="FF0000"/>
                </a:solidFill>
              </a:rPr>
              <a:t>Confidencial</a:t>
            </a:r>
          </a:p>
        </p:txBody>
      </p:sp>
    </p:spTree>
    <p:extLst>
      <p:ext uri="{BB962C8B-B14F-4D97-AF65-F5344CB8AC3E}">
        <p14:creationId xmlns:p14="http://schemas.microsoft.com/office/powerpoint/2010/main" val="7503339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3" name="Espaço Reservado para Rodapé 2">
            <a:extLst>
              <a:ext uri="{FF2B5EF4-FFF2-40B4-BE49-F238E27FC236}">
                <a16:creationId xmlns:a16="http://schemas.microsoft.com/office/drawing/2014/main" id="{101FDDCB-9A00-011B-C262-04BD8706BD95}"/>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3C955210-0099-104B-8C37-4DAD6F1ED257}"/>
              </a:ext>
            </a:extLst>
          </p:cNvPr>
          <p:cNvSpPr>
            <a:spLocks noGrp="1"/>
          </p:cNvSpPr>
          <p:nvPr>
            <p:ph type="sldNum" sz="quarter" idx="12"/>
          </p:nvPr>
        </p:nvSpPr>
        <p:spPr/>
        <p:txBody>
          <a:bodyPr/>
          <a:lstStyle/>
          <a:p>
            <a:fld id="{85517FB5-8940-48DC-8389-4196DB4E9170}" type="slidenum">
              <a:rPr lang="pt-BR" smtClean="0"/>
              <a:t>‹nº›</a:t>
            </a:fld>
            <a:endParaRPr lang="pt-BR"/>
          </a:p>
        </p:txBody>
      </p:sp>
      <p:sp>
        <p:nvSpPr>
          <p:cNvPr id="5" name="CaixaDeTexto 4">
            <a:extLst>
              <a:ext uri="{FF2B5EF4-FFF2-40B4-BE49-F238E27FC236}">
                <a16:creationId xmlns:a16="http://schemas.microsoft.com/office/drawing/2014/main" id="{BC59740F-C09F-0C9A-B886-65222E76090D}"/>
              </a:ext>
            </a:extLst>
          </p:cNvPr>
          <p:cNvSpPr txBox="1"/>
          <p:nvPr userDrawn="1"/>
        </p:nvSpPr>
        <p:spPr>
          <a:xfrm>
            <a:off x="0" y="6559141"/>
            <a:ext cx="956416" cy="276999"/>
          </a:xfrm>
          <a:prstGeom prst="rect">
            <a:avLst/>
          </a:prstGeom>
          <a:noFill/>
        </p:spPr>
        <p:txBody>
          <a:bodyPr wrap="none" rtlCol="0">
            <a:spAutoFit/>
          </a:bodyPr>
          <a:lstStyle/>
          <a:p>
            <a:r>
              <a:rPr lang="pt-BR" sz="1200" dirty="0">
                <a:solidFill>
                  <a:srgbClr val="FF0000"/>
                </a:solidFill>
              </a:rPr>
              <a:t>Confidencial</a:t>
            </a:r>
          </a:p>
        </p:txBody>
      </p:sp>
    </p:spTree>
    <p:extLst>
      <p:ext uri="{BB962C8B-B14F-4D97-AF65-F5344CB8AC3E}">
        <p14:creationId xmlns:p14="http://schemas.microsoft.com/office/powerpoint/2010/main" val="21002216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5C2D49-CAC0-1294-42A4-1106BDAB90F0}"/>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93F415E2-5711-B2DD-B207-C24AA34003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9471AF28-CB0A-587D-851D-6120733624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6" name="Espaço Reservado para Rodapé 5">
            <a:extLst>
              <a:ext uri="{FF2B5EF4-FFF2-40B4-BE49-F238E27FC236}">
                <a16:creationId xmlns:a16="http://schemas.microsoft.com/office/drawing/2014/main" id="{5F0A45D3-7AAA-D1E5-07F6-7E3A2437465A}"/>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DABFA363-6085-4A48-E498-21E125C42B53}"/>
              </a:ext>
            </a:extLst>
          </p:cNvPr>
          <p:cNvSpPr>
            <a:spLocks noGrp="1"/>
          </p:cNvSpPr>
          <p:nvPr>
            <p:ph type="sldNum" sz="quarter" idx="12"/>
          </p:nvPr>
        </p:nvSpPr>
        <p:spPr/>
        <p:txBody>
          <a:bodyPr/>
          <a:lstStyle/>
          <a:p>
            <a:fld id="{85517FB5-8940-48DC-8389-4196DB4E9170}" type="slidenum">
              <a:rPr lang="pt-BR" smtClean="0"/>
              <a:t>‹nº›</a:t>
            </a:fld>
            <a:endParaRPr lang="pt-BR"/>
          </a:p>
        </p:txBody>
      </p:sp>
      <p:sp>
        <p:nvSpPr>
          <p:cNvPr id="8" name="CaixaDeTexto 7">
            <a:extLst>
              <a:ext uri="{FF2B5EF4-FFF2-40B4-BE49-F238E27FC236}">
                <a16:creationId xmlns:a16="http://schemas.microsoft.com/office/drawing/2014/main" id="{EBF03A40-0391-E515-994C-27453FEDAE5D}"/>
              </a:ext>
            </a:extLst>
          </p:cNvPr>
          <p:cNvSpPr txBox="1"/>
          <p:nvPr userDrawn="1"/>
        </p:nvSpPr>
        <p:spPr>
          <a:xfrm>
            <a:off x="0" y="6559141"/>
            <a:ext cx="956416" cy="276999"/>
          </a:xfrm>
          <a:prstGeom prst="rect">
            <a:avLst/>
          </a:prstGeom>
          <a:noFill/>
        </p:spPr>
        <p:txBody>
          <a:bodyPr wrap="none" rtlCol="0">
            <a:spAutoFit/>
          </a:bodyPr>
          <a:lstStyle/>
          <a:p>
            <a:r>
              <a:rPr lang="pt-BR" sz="1200" dirty="0">
                <a:solidFill>
                  <a:srgbClr val="FF0000"/>
                </a:solidFill>
              </a:rPr>
              <a:t>Confidencial</a:t>
            </a:r>
          </a:p>
        </p:txBody>
      </p:sp>
    </p:spTree>
    <p:extLst>
      <p:ext uri="{BB962C8B-B14F-4D97-AF65-F5344CB8AC3E}">
        <p14:creationId xmlns:p14="http://schemas.microsoft.com/office/powerpoint/2010/main" val="1937721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888F82-ED39-0D5E-8289-684D9685D0D9}"/>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30694742-EB5A-45AE-12D2-AE8EC47424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69DEDD5B-0A15-F538-9C13-61868A5656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6" name="Espaço Reservado para Rodapé 5">
            <a:extLst>
              <a:ext uri="{FF2B5EF4-FFF2-40B4-BE49-F238E27FC236}">
                <a16:creationId xmlns:a16="http://schemas.microsoft.com/office/drawing/2014/main" id="{CCA8FB05-582A-F940-FC74-FDB2B917C8A5}"/>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A611A7BD-87F9-CB4C-C4E8-8F116FDE3F1A}"/>
              </a:ext>
            </a:extLst>
          </p:cNvPr>
          <p:cNvSpPr>
            <a:spLocks noGrp="1"/>
          </p:cNvSpPr>
          <p:nvPr>
            <p:ph type="sldNum" sz="quarter" idx="12"/>
          </p:nvPr>
        </p:nvSpPr>
        <p:spPr/>
        <p:txBody>
          <a:bodyPr/>
          <a:lstStyle/>
          <a:p>
            <a:fld id="{85517FB5-8940-48DC-8389-4196DB4E9170}" type="slidenum">
              <a:rPr lang="pt-BR" smtClean="0"/>
              <a:t>‹nº›</a:t>
            </a:fld>
            <a:endParaRPr lang="pt-BR"/>
          </a:p>
        </p:txBody>
      </p:sp>
      <p:sp>
        <p:nvSpPr>
          <p:cNvPr id="8" name="CaixaDeTexto 7">
            <a:extLst>
              <a:ext uri="{FF2B5EF4-FFF2-40B4-BE49-F238E27FC236}">
                <a16:creationId xmlns:a16="http://schemas.microsoft.com/office/drawing/2014/main" id="{69C6E5C3-24D6-8E16-FC62-66EB4EE8EC80}"/>
              </a:ext>
            </a:extLst>
          </p:cNvPr>
          <p:cNvSpPr txBox="1"/>
          <p:nvPr userDrawn="1"/>
        </p:nvSpPr>
        <p:spPr>
          <a:xfrm>
            <a:off x="0" y="6559141"/>
            <a:ext cx="956416" cy="276999"/>
          </a:xfrm>
          <a:prstGeom prst="rect">
            <a:avLst/>
          </a:prstGeom>
          <a:noFill/>
        </p:spPr>
        <p:txBody>
          <a:bodyPr wrap="none" rtlCol="0">
            <a:spAutoFit/>
          </a:bodyPr>
          <a:lstStyle/>
          <a:p>
            <a:r>
              <a:rPr lang="pt-BR" sz="1200" dirty="0">
                <a:solidFill>
                  <a:srgbClr val="FF0000"/>
                </a:solidFill>
              </a:rPr>
              <a:t>Confidencial</a:t>
            </a:r>
          </a:p>
        </p:txBody>
      </p:sp>
    </p:spTree>
    <p:extLst>
      <p:ext uri="{BB962C8B-B14F-4D97-AF65-F5344CB8AC3E}">
        <p14:creationId xmlns:p14="http://schemas.microsoft.com/office/powerpoint/2010/main" val="20694172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B37EEA-C196-9888-F822-41C3FF9DBD8D}"/>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8D6A058F-264A-6648-9087-365B062620C9}"/>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Rodapé 4">
            <a:extLst>
              <a:ext uri="{FF2B5EF4-FFF2-40B4-BE49-F238E27FC236}">
                <a16:creationId xmlns:a16="http://schemas.microsoft.com/office/drawing/2014/main" id="{61386E5C-C6FC-69E1-DF1C-E169FD017E4A}"/>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4564F559-19F6-0316-8BC4-1BA9CDA0C853}"/>
              </a:ext>
            </a:extLst>
          </p:cNvPr>
          <p:cNvSpPr>
            <a:spLocks noGrp="1"/>
          </p:cNvSpPr>
          <p:nvPr>
            <p:ph type="sldNum" sz="quarter" idx="12"/>
          </p:nvPr>
        </p:nvSpPr>
        <p:spPr/>
        <p:txBody>
          <a:bodyPr/>
          <a:lstStyle/>
          <a:p>
            <a:fld id="{85517FB5-8940-48DC-8389-4196DB4E9170}" type="slidenum">
              <a:rPr lang="pt-BR" smtClean="0"/>
              <a:t>‹nº›</a:t>
            </a:fld>
            <a:endParaRPr lang="pt-BR"/>
          </a:p>
        </p:txBody>
      </p:sp>
      <p:sp>
        <p:nvSpPr>
          <p:cNvPr id="7" name="CaixaDeTexto 6">
            <a:extLst>
              <a:ext uri="{FF2B5EF4-FFF2-40B4-BE49-F238E27FC236}">
                <a16:creationId xmlns:a16="http://schemas.microsoft.com/office/drawing/2014/main" id="{D62C4898-5D9D-0E72-309E-FF9882C3C97A}"/>
              </a:ext>
            </a:extLst>
          </p:cNvPr>
          <p:cNvSpPr txBox="1"/>
          <p:nvPr userDrawn="1"/>
        </p:nvSpPr>
        <p:spPr>
          <a:xfrm>
            <a:off x="222068" y="6487296"/>
            <a:ext cx="956416" cy="276999"/>
          </a:xfrm>
          <a:prstGeom prst="rect">
            <a:avLst/>
          </a:prstGeom>
          <a:noFill/>
        </p:spPr>
        <p:txBody>
          <a:bodyPr wrap="none" rtlCol="0">
            <a:spAutoFit/>
          </a:bodyPr>
          <a:lstStyle/>
          <a:p>
            <a:r>
              <a:rPr lang="pt-BR" sz="1200" dirty="0">
                <a:solidFill>
                  <a:srgbClr val="FF0000"/>
                </a:solidFill>
              </a:rPr>
              <a:t>Confidencial</a:t>
            </a:r>
          </a:p>
        </p:txBody>
      </p:sp>
    </p:spTree>
    <p:extLst>
      <p:ext uri="{BB962C8B-B14F-4D97-AF65-F5344CB8AC3E}">
        <p14:creationId xmlns:p14="http://schemas.microsoft.com/office/powerpoint/2010/main" val="555243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4EA64C6-A07C-D21B-1009-BE9BE01834E4}"/>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E4036DDD-0E60-67FA-644B-37508A0EE814}"/>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BBBC211D-181F-BD29-9710-21764858F6DC}"/>
              </a:ext>
            </a:extLst>
          </p:cNvPr>
          <p:cNvSpPr>
            <a:spLocks noGrp="1"/>
          </p:cNvSpPr>
          <p:nvPr>
            <p:ph type="dt" sz="half" idx="10"/>
          </p:nvPr>
        </p:nvSpPr>
        <p:spPr/>
        <p:txBody>
          <a:bodyPr/>
          <a:lstStyle/>
          <a:p>
            <a:fld id="{9A4B4AF1-A59E-4B99-A90E-3D2393F08FAC}" type="datetimeFigureOut">
              <a:rPr lang="pt-BR" smtClean="0"/>
              <a:t>27/06/2024</a:t>
            </a:fld>
            <a:endParaRPr lang="pt-BR"/>
          </a:p>
        </p:txBody>
      </p:sp>
      <p:sp>
        <p:nvSpPr>
          <p:cNvPr id="5" name="Espaço Reservado para Rodapé 4">
            <a:extLst>
              <a:ext uri="{FF2B5EF4-FFF2-40B4-BE49-F238E27FC236}">
                <a16:creationId xmlns:a16="http://schemas.microsoft.com/office/drawing/2014/main" id="{59F33FAF-5FF0-80AA-4185-653480480F43}"/>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CB990450-8ABA-29CB-FBCB-ED138488B4D6}"/>
              </a:ext>
            </a:extLst>
          </p:cNvPr>
          <p:cNvSpPr>
            <a:spLocks noGrp="1"/>
          </p:cNvSpPr>
          <p:nvPr>
            <p:ph type="sldNum" sz="quarter" idx="12"/>
          </p:nvPr>
        </p:nvSpPr>
        <p:spPr/>
        <p:txBody>
          <a:bodyPr/>
          <a:lstStyle/>
          <a:p>
            <a:fld id="{85517FB5-8940-48DC-8389-4196DB4E9170}" type="slidenum">
              <a:rPr lang="pt-BR" smtClean="0"/>
              <a:t>‹nº›</a:t>
            </a:fld>
            <a:endParaRPr lang="pt-BR"/>
          </a:p>
        </p:txBody>
      </p:sp>
    </p:spTree>
    <p:extLst>
      <p:ext uri="{BB962C8B-B14F-4D97-AF65-F5344CB8AC3E}">
        <p14:creationId xmlns:p14="http://schemas.microsoft.com/office/powerpoint/2010/main" val="1983744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BE72C5A1-4626-87A4-CE2D-0306EE5756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D2DDC0E3-0B3C-02BA-2408-0091032111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8507AF40-CD0F-272C-159B-B086C7F640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4B4AF1-A59E-4B99-A90E-3D2393F08FAC}" type="datetimeFigureOut">
              <a:rPr lang="pt-BR" smtClean="0"/>
              <a:t>27/06/2024</a:t>
            </a:fld>
            <a:endParaRPr lang="pt-BR"/>
          </a:p>
        </p:txBody>
      </p:sp>
      <p:sp>
        <p:nvSpPr>
          <p:cNvPr id="5" name="Espaço Reservado para Rodapé 4">
            <a:extLst>
              <a:ext uri="{FF2B5EF4-FFF2-40B4-BE49-F238E27FC236}">
                <a16:creationId xmlns:a16="http://schemas.microsoft.com/office/drawing/2014/main" id="{BC45B44C-4137-3968-45D4-0DCD85B78C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332780F9-6587-05DB-C20B-89B23B625D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517FB5-8940-48DC-8389-4196DB4E9170}" type="slidenum">
              <a:rPr lang="pt-BR" smtClean="0"/>
              <a:t>‹nº›</a:t>
            </a:fld>
            <a:endParaRPr lang="pt-BR"/>
          </a:p>
        </p:txBody>
      </p:sp>
    </p:spTree>
    <p:extLst>
      <p:ext uri="{BB962C8B-B14F-4D97-AF65-F5344CB8AC3E}">
        <p14:creationId xmlns:p14="http://schemas.microsoft.com/office/powerpoint/2010/main" val="4734720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sv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 Id="rId14"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5" Type="http://schemas.openxmlformats.org/officeDocument/2006/relationships/image" Target="../media/image33.png"/><Relationship Id="rId4" Type="http://schemas.openxmlformats.org/officeDocument/2006/relationships/image" Target="../media/image32.png"/></Relationships>
</file>

<file path=ppt/slides/_rels/slide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1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hyperlink" Target="http://www.asimovinstitute.org/neural-network-zoo/"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5.png"/><Relationship Id="rId7" Type="http://schemas.openxmlformats.org/officeDocument/2006/relationships/hyperlink" Target="https://youtu.be/6yYUc6nU3Cw?t=772" TargetMode="External"/><Relationship Id="rId2" Type="http://schemas.openxmlformats.org/officeDocument/2006/relationships/image" Target="../media/image44.png"/><Relationship Id="rId1" Type="http://schemas.openxmlformats.org/officeDocument/2006/relationships/slideLayout" Target="../slideLayouts/slideLayout7.xml"/><Relationship Id="rId6" Type="http://schemas.openxmlformats.org/officeDocument/2006/relationships/hyperlink" Target="https://www.youtube.com/watch?v=DGNbd2FGw2s" TargetMode="External"/><Relationship Id="rId5" Type="http://schemas.openxmlformats.org/officeDocument/2006/relationships/image" Target="../media/image47.png"/><Relationship Id="rId4" Type="http://schemas.openxmlformats.org/officeDocument/2006/relationships/image" Target="../media/image46.png"/></Relationships>
</file>

<file path=ppt/slides/_rels/slide14.xml.rels><?xml version="1.0" encoding="UTF-8" standalone="yes"?>
<Relationships xmlns="http://schemas.openxmlformats.org/package/2006/relationships"><Relationship Id="rId2" Type="http://schemas.openxmlformats.org/officeDocument/2006/relationships/hyperlink" Target="https://www.youtube.com/watch?v=TnSZe9xd7Ac"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16.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49.png"/><Relationship Id="rId4" Type="http://schemas.openxmlformats.org/officeDocument/2006/relationships/image" Target="../media/image50.png"/></Relationships>
</file>

<file path=ppt/slides/_rels/slide17.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image" Target="../media/image66.png"/><Relationship Id="rId18" Type="http://schemas.openxmlformats.org/officeDocument/2006/relationships/image" Target="../media/image71.png"/><Relationship Id="rId3" Type="http://schemas.openxmlformats.org/officeDocument/2006/relationships/image" Target="../media/image56.png"/><Relationship Id="rId21" Type="http://schemas.openxmlformats.org/officeDocument/2006/relationships/image" Target="../media/image74.png"/><Relationship Id="rId7" Type="http://schemas.openxmlformats.org/officeDocument/2006/relationships/image" Target="../media/image60.png"/><Relationship Id="rId12" Type="http://schemas.openxmlformats.org/officeDocument/2006/relationships/image" Target="../media/image65.png"/><Relationship Id="rId17" Type="http://schemas.openxmlformats.org/officeDocument/2006/relationships/image" Target="../media/image70.png"/><Relationship Id="rId2" Type="http://schemas.openxmlformats.org/officeDocument/2006/relationships/image" Target="../media/image55.png"/><Relationship Id="rId16" Type="http://schemas.openxmlformats.org/officeDocument/2006/relationships/image" Target="../media/image69.png"/><Relationship Id="rId20" Type="http://schemas.openxmlformats.org/officeDocument/2006/relationships/image" Target="../media/image73.png"/><Relationship Id="rId1" Type="http://schemas.openxmlformats.org/officeDocument/2006/relationships/slideLayout" Target="../slideLayouts/slideLayout7.xml"/><Relationship Id="rId6" Type="http://schemas.openxmlformats.org/officeDocument/2006/relationships/image" Target="../media/image59.png"/><Relationship Id="rId11" Type="http://schemas.openxmlformats.org/officeDocument/2006/relationships/image" Target="../media/image64.png"/><Relationship Id="rId5" Type="http://schemas.openxmlformats.org/officeDocument/2006/relationships/image" Target="../media/image58.png"/><Relationship Id="rId15" Type="http://schemas.openxmlformats.org/officeDocument/2006/relationships/image" Target="../media/image68.png"/><Relationship Id="rId23" Type="http://schemas.openxmlformats.org/officeDocument/2006/relationships/image" Target="../media/image76.png"/><Relationship Id="rId10" Type="http://schemas.openxmlformats.org/officeDocument/2006/relationships/image" Target="../media/image63.png"/><Relationship Id="rId19" Type="http://schemas.openxmlformats.org/officeDocument/2006/relationships/image" Target="../media/image72.png"/><Relationship Id="rId4" Type="http://schemas.openxmlformats.org/officeDocument/2006/relationships/image" Target="../media/image57.png"/><Relationship Id="rId9" Type="http://schemas.openxmlformats.org/officeDocument/2006/relationships/image" Target="../media/image62.png"/><Relationship Id="rId14" Type="http://schemas.openxmlformats.org/officeDocument/2006/relationships/image" Target="../media/image67.png"/><Relationship Id="rId22" Type="http://schemas.openxmlformats.org/officeDocument/2006/relationships/image" Target="../media/image7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descr="Desenho de rosto de pessoa visto de perto&#10;&#10;Descrição gerada automaticamente">
            <a:extLst>
              <a:ext uri="{FF2B5EF4-FFF2-40B4-BE49-F238E27FC236}">
                <a16:creationId xmlns:a16="http://schemas.microsoft.com/office/drawing/2014/main" id="{8542E480-5D0B-8B7D-EF60-7BE6715820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3886" y="1522822"/>
            <a:ext cx="1876687" cy="3229426"/>
          </a:xfrm>
          <a:prstGeom prst="rect">
            <a:avLst/>
          </a:prstGeom>
        </p:spPr>
      </p:pic>
      <p:sp>
        <p:nvSpPr>
          <p:cNvPr id="4" name="CaixaDeTexto 3">
            <a:extLst>
              <a:ext uri="{FF2B5EF4-FFF2-40B4-BE49-F238E27FC236}">
                <a16:creationId xmlns:a16="http://schemas.microsoft.com/office/drawing/2014/main" id="{34C29A15-EBC9-2829-7C66-C61B5770351D}"/>
              </a:ext>
            </a:extLst>
          </p:cNvPr>
          <p:cNvSpPr txBox="1"/>
          <p:nvPr/>
        </p:nvSpPr>
        <p:spPr>
          <a:xfrm>
            <a:off x="3746376" y="236146"/>
            <a:ext cx="8285217" cy="5632311"/>
          </a:xfrm>
          <a:prstGeom prst="rect">
            <a:avLst/>
          </a:prstGeom>
          <a:noFill/>
        </p:spPr>
        <p:txBody>
          <a:bodyPr wrap="none" rtlCol="0">
            <a:spAutoFit/>
          </a:bodyPr>
          <a:lstStyle/>
          <a:p>
            <a:r>
              <a:rPr lang="pt-BR" b="1" dirty="0"/>
              <a:t>Nome</a:t>
            </a:r>
            <a:r>
              <a:rPr lang="pt-BR" dirty="0"/>
              <a:t>: Levi Rodrigues da Silva</a:t>
            </a:r>
          </a:p>
          <a:p>
            <a:r>
              <a:rPr lang="pt-BR" b="0" i="0" dirty="0">
                <a:solidFill>
                  <a:srgbClr val="000000"/>
                </a:solidFill>
                <a:effectLst/>
                <a:highlight>
                  <a:srgbClr val="FFFFFF"/>
                </a:highlight>
                <a:latin typeface="Calibri" panose="020F0502020204030204" pitchFamily="34" charset="0"/>
              </a:rPr>
              <a:t>levi.silva@unesp.br</a:t>
            </a:r>
            <a:endParaRPr lang="pt-BR" dirty="0"/>
          </a:p>
          <a:p>
            <a:endParaRPr lang="pt-BR" dirty="0"/>
          </a:p>
          <a:p>
            <a:r>
              <a:rPr lang="pt-BR" dirty="0"/>
              <a:t> Número de inscrição é: </a:t>
            </a:r>
            <a:r>
              <a:rPr lang="pt-BR" b="1" i="0" dirty="0">
                <a:solidFill>
                  <a:srgbClr val="242424"/>
                </a:solidFill>
                <a:effectLst/>
                <a:latin typeface="Segoe UI" panose="020B0502040204020203" pitchFamily="34" charset="0"/>
              </a:rPr>
              <a:t>287336</a:t>
            </a:r>
            <a:r>
              <a:rPr lang="pt-BR" b="1" dirty="0"/>
              <a:t> </a:t>
            </a:r>
            <a:br>
              <a:rPr lang="pt-BR" b="1" dirty="0"/>
            </a:br>
            <a:br>
              <a:rPr lang="pt-BR" b="1" dirty="0"/>
            </a:br>
            <a:r>
              <a:rPr lang="pt-BR" b="1" dirty="0"/>
              <a:t>PGE240214</a:t>
            </a:r>
          </a:p>
          <a:p>
            <a:endParaRPr lang="pt-BR" b="1" dirty="0"/>
          </a:p>
          <a:p>
            <a:r>
              <a:rPr lang="pt-BR" b="1" dirty="0"/>
              <a:t>Programa:  </a:t>
            </a:r>
            <a:r>
              <a:rPr lang="pt-BR" dirty="0"/>
              <a:t>Programa: Engenharia Elétrica </a:t>
            </a:r>
            <a:r>
              <a:rPr lang="pt-BR" b="1" dirty="0"/>
              <a:t>Curso</a:t>
            </a:r>
            <a:r>
              <a:rPr lang="pt-BR" dirty="0"/>
              <a:t>: Mestrado Acadêmico</a:t>
            </a:r>
            <a:br>
              <a:rPr lang="pt-BR" dirty="0"/>
            </a:br>
            <a:br>
              <a:rPr lang="pt-BR"/>
            </a:br>
            <a:br>
              <a:rPr lang="pt-BR" b="0" i="0">
                <a:solidFill>
                  <a:srgbClr val="212121"/>
                </a:solidFill>
                <a:effectLst/>
                <a:latin typeface="Roboto" panose="02000000000000000000" pitchFamily="2" charset="0"/>
              </a:rPr>
            </a:br>
            <a:endParaRPr lang="pt-BR" b="1" dirty="0"/>
          </a:p>
          <a:p>
            <a:endParaRPr lang="pt-BR" dirty="0"/>
          </a:p>
          <a:p>
            <a:endParaRPr lang="pt-BR" dirty="0"/>
          </a:p>
          <a:p>
            <a:r>
              <a:rPr lang="pt-BR" b="1" dirty="0"/>
              <a:t>Professor: </a:t>
            </a:r>
            <a:r>
              <a:rPr lang="pt-BR" dirty="0"/>
              <a:t>Dr. Alexandre da Silva Simões</a:t>
            </a:r>
          </a:p>
          <a:p>
            <a:endParaRPr lang="pt-BR" dirty="0"/>
          </a:p>
          <a:p>
            <a:r>
              <a:rPr lang="pt-BR" dirty="0"/>
              <a:t>Aprendizado de Máquina Supervisionado (MAS) / Supervised Machine Learning  (SML)</a:t>
            </a:r>
          </a:p>
          <a:p>
            <a:br>
              <a:rPr lang="pt-BR" i="0" dirty="0">
                <a:solidFill>
                  <a:srgbClr val="333333"/>
                </a:solidFill>
                <a:effectLst/>
                <a:latin typeface="Raleway" pitchFamily="2" charset="0"/>
              </a:rPr>
            </a:br>
            <a:br>
              <a:rPr lang="pt-BR" b="0" i="0" dirty="0">
                <a:solidFill>
                  <a:srgbClr val="333333"/>
                </a:solidFill>
                <a:effectLst/>
                <a:latin typeface="Raleway" pitchFamily="2" charset="0"/>
              </a:rPr>
            </a:br>
            <a:endParaRPr lang="pt-BR" b="0" i="0" dirty="0">
              <a:solidFill>
                <a:srgbClr val="333333"/>
              </a:solidFill>
              <a:effectLst/>
              <a:latin typeface="Raleway" pitchFamily="2" charset="0"/>
            </a:endParaRPr>
          </a:p>
          <a:p>
            <a:endParaRPr lang="pt-BR" dirty="0">
              <a:solidFill>
                <a:srgbClr val="333333"/>
              </a:solidFill>
              <a:latin typeface="Raleway" pitchFamily="2" charset="0"/>
            </a:endParaRPr>
          </a:p>
        </p:txBody>
      </p:sp>
      <p:pic>
        <p:nvPicPr>
          <p:cNvPr id="6" name="Imagem 5">
            <a:extLst>
              <a:ext uri="{FF2B5EF4-FFF2-40B4-BE49-F238E27FC236}">
                <a16:creationId xmlns:a16="http://schemas.microsoft.com/office/drawing/2014/main" id="{28E11677-3319-4D04-E0E4-FAA9CF8868F2}"/>
              </a:ext>
            </a:extLst>
          </p:cNvPr>
          <p:cNvPicPr>
            <a:picLocks noChangeAspect="1"/>
          </p:cNvPicPr>
          <p:nvPr/>
        </p:nvPicPr>
        <p:blipFill rotWithShape="1">
          <a:blip r:embed="rId3"/>
          <a:srcRect l="65761" t="16409" r="16957" b="66385"/>
          <a:stretch/>
        </p:blipFill>
        <p:spPr>
          <a:xfrm>
            <a:off x="608680" y="0"/>
            <a:ext cx="2107097" cy="1179443"/>
          </a:xfrm>
          <a:prstGeom prst="rect">
            <a:avLst/>
          </a:prstGeom>
        </p:spPr>
      </p:pic>
    </p:spTree>
    <p:extLst>
      <p:ext uri="{BB962C8B-B14F-4D97-AF65-F5344CB8AC3E}">
        <p14:creationId xmlns:p14="http://schemas.microsoft.com/office/powerpoint/2010/main" val="6427025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0722022B-B3D4-13AE-15D4-AE906D86BF2B}"/>
              </a:ext>
            </a:extLst>
          </p:cNvPr>
          <p:cNvSpPr txBox="1"/>
          <p:nvPr/>
        </p:nvSpPr>
        <p:spPr>
          <a:xfrm>
            <a:off x="106532" y="115409"/>
            <a:ext cx="11320535" cy="1477328"/>
          </a:xfrm>
          <a:prstGeom prst="rect">
            <a:avLst/>
          </a:prstGeom>
          <a:noFill/>
        </p:spPr>
        <p:txBody>
          <a:bodyPr wrap="none" rtlCol="0">
            <a:spAutoFit/>
          </a:bodyPr>
          <a:lstStyle/>
          <a:p>
            <a:r>
              <a:rPr lang="pt-BR" b="1" dirty="0"/>
              <a:t>Turing</a:t>
            </a:r>
            <a:r>
              <a:rPr lang="pt-BR" dirty="0"/>
              <a:t>: Pode as máquinas pensar?</a:t>
            </a:r>
          </a:p>
          <a:p>
            <a:endParaRPr lang="pt-BR" dirty="0"/>
          </a:p>
          <a:p>
            <a:r>
              <a:rPr lang="pt-BR" b="1" dirty="0"/>
              <a:t>1956</a:t>
            </a:r>
            <a:r>
              <a:rPr lang="pt-BR" dirty="0"/>
              <a:t>: Inteligência Artificial (IA) - </a:t>
            </a:r>
            <a:r>
              <a:rPr lang="pt-BR" b="0" i="0" dirty="0">
                <a:solidFill>
                  <a:srgbClr val="001D35"/>
                </a:solidFill>
                <a:effectLst/>
                <a:highlight>
                  <a:srgbClr val="FFFFFF"/>
                </a:highlight>
                <a:latin typeface="Google Sans"/>
              </a:rPr>
              <a:t>Dartmouth workshop de Verão</a:t>
            </a:r>
          </a:p>
          <a:p>
            <a:endParaRPr lang="pt-BR" dirty="0">
              <a:solidFill>
                <a:srgbClr val="001D35"/>
              </a:solidFill>
              <a:highlight>
                <a:srgbClr val="FFFFFF"/>
              </a:highlight>
              <a:latin typeface="Google Sans"/>
            </a:endParaRPr>
          </a:p>
          <a:p>
            <a:r>
              <a:rPr lang="pt-BR" b="1" dirty="0">
                <a:solidFill>
                  <a:srgbClr val="001D35"/>
                </a:solidFill>
                <a:highlight>
                  <a:srgbClr val="FFFFFF"/>
                </a:highlight>
                <a:latin typeface="Google Sans"/>
              </a:rPr>
              <a:t>1959/1983/2012/2014/2015/2017</a:t>
            </a:r>
            <a:r>
              <a:rPr lang="pt-BR" dirty="0">
                <a:solidFill>
                  <a:srgbClr val="001D35"/>
                </a:solidFill>
                <a:highlight>
                  <a:srgbClr val="FFFFFF"/>
                </a:highlight>
                <a:latin typeface="Google Sans"/>
              </a:rPr>
              <a:t>: Machine Learn (ML) – Arthur Samuel, Simon, Murphy, Alpaydin, Marsland e Géron.</a:t>
            </a:r>
            <a:endParaRPr lang="pt-BR" dirty="0"/>
          </a:p>
        </p:txBody>
      </p:sp>
      <p:grpSp>
        <p:nvGrpSpPr>
          <p:cNvPr id="43" name="Agrupar 42">
            <a:extLst>
              <a:ext uri="{FF2B5EF4-FFF2-40B4-BE49-F238E27FC236}">
                <a16:creationId xmlns:a16="http://schemas.microsoft.com/office/drawing/2014/main" id="{AC043542-4184-EDFE-EFF2-0C55E01826A7}"/>
              </a:ext>
            </a:extLst>
          </p:cNvPr>
          <p:cNvGrpSpPr/>
          <p:nvPr/>
        </p:nvGrpSpPr>
        <p:grpSpPr>
          <a:xfrm>
            <a:off x="1091952" y="1592738"/>
            <a:ext cx="5743854" cy="5149854"/>
            <a:chOff x="106532" y="1642369"/>
            <a:chExt cx="4403324" cy="3888418"/>
          </a:xfrm>
        </p:grpSpPr>
        <p:sp>
          <p:nvSpPr>
            <p:cNvPr id="7" name="Elipse 6">
              <a:extLst>
                <a:ext uri="{FF2B5EF4-FFF2-40B4-BE49-F238E27FC236}">
                  <a16:creationId xmlns:a16="http://schemas.microsoft.com/office/drawing/2014/main" id="{AF8AE158-114E-3C3C-ED5D-053D9B663BF8}"/>
                </a:ext>
              </a:extLst>
            </p:cNvPr>
            <p:cNvSpPr/>
            <p:nvPr/>
          </p:nvSpPr>
          <p:spPr>
            <a:xfrm>
              <a:off x="106532" y="1642369"/>
              <a:ext cx="4403324" cy="38884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 name="CaixaDeTexto 8">
              <a:extLst>
                <a:ext uri="{FF2B5EF4-FFF2-40B4-BE49-F238E27FC236}">
                  <a16:creationId xmlns:a16="http://schemas.microsoft.com/office/drawing/2014/main" id="{9CE5D226-7B8F-8CE8-9E82-FD4F5D7497AE}"/>
                </a:ext>
              </a:extLst>
            </p:cNvPr>
            <p:cNvSpPr txBox="1"/>
            <p:nvPr/>
          </p:nvSpPr>
          <p:spPr>
            <a:xfrm>
              <a:off x="2032981" y="1651244"/>
              <a:ext cx="385042" cy="369332"/>
            </a:xfrm>
            <a:prstGeom prst="rect">
              <a:avLst/>
            </a:prstGeom>
            <a:noFill/>
          </p:spPr>
          <p:txBody>
            <a:bodyPr wrap="none" rtlCol="0">
              <a:spAutoFit/>
            </a:bodyPr>
            <a:lstStyle/>
            <a:p>
              <a:r>
                <a:rPr lang="pt-BR" b="1" dirty="0">
                  <a:solidFill>
                    <a:schemeClr val="bg1"/>
                  </a:solidFill>
                </a:rPr>
                <a:t>IA</a:t>
              </a:r>
            </a:p>
          </p:txBody>
        </p:sp>
        <p:sp>
          <p:nvSpPr>
            <p:cNvPr id="12" name="CaixaDeTexto 11">
              <a:extLst>
                <a:ext uri="{FF2B5EF4-FFF2-40B4-BE49-F238E27FC236}">
                  <a16:creationId xmlns:a16="http://schemas.microsoft.com/office/drawing/2014/main" id="{8AF5A9BE-9826-19BC-3ECB-B5A909F1031D}"/>
                </a:ext>
              </a:extLst>
            </p:cNvPr>
            <p:cNvSpPr txBox="1"/>
            <p:nvPr/>
          </p:nvSpPr>
          <p:spPr>
            <a:xfrm>
              <a:off x="399496" y="2801748"/>
              <a:ext cx="2257221" cy="1569660"/>
            </a:xfrm>
            <a:prstGeom prst="rect">
              <a:avLst/>
            </a:prstGeom>
            <a:noFill/>
          </p:spPr>
          <p:txBody>
            <a:bodyPr wrap="none" rtlCol="0">
              <a:spAutoFit/>
            </a:bodyPr>
            <a:lstStyle/>
            <a:p>
              <a:pPr marL="285750" indent="-285750">
                <a:buFont typeface="Arial" panose="020B0604020202020204" pitchFamily="34" charset="0"/>
                <a:buChar char="•"/>
              </a:pPr>
              <a:r>
                <a:rPr lang="pt-BR" sz="1200" dirty="0">
                  <a:solidFill>
                    <a:schemeClr val="bg1"/>
                  </a:solidFill>
                </a:rPr>
                <a:t>Reconhecimento de fala</a:t>
              </a:r>
            </a:p>
            <a:p>
              <a:pPr marL="285750" indent="-285750">
                <a:buFont typeface="Arial" panose="020B0604020202020204" pitchFamily="34" charset="0"/>
                <a:buChar char="•"/>
              </a:pPr>
              <a:r>
                <a:rPr lang="pt-BR" sz="1200" dirty="0">
                  <a:solidFill>
                    <a:schemeClr val="bg1"/>
                  </a:solidFill>
                </a:rPr>
                <a:t>Reconhecimento de imagem</a:t>
              </a:r>
            </a:p>
            <a:p>
              <a:pPr marL="285750" indent="-285750">
                <a:buFont typeface="Arial" panose="020B0604020202020204" pitchFamily="34" charset="0"/>
                <a:buChar char="•"/>
              </a:pPr>
              <a:r>
                <a:rPr lang="pt-BR" sz="1200" dirty="0">
                  <a:solidFill>
                    <a:schemeClr val="bg1"/>
                  </a:solidFill>
                </a:rPr>
                <a:t>Sistemas especializados</a:t>
              </a:r>
            </a:p>
            <a:p>
              <a:pPr marL="285750" indent="-285750">
                <a:buFont typeface="Arial" panose="020B0604020202020204" pitchFamily="34" charset="0"/>
                <a:buChar char="•"/>
              </a:pPr>
              <a:r>
                <a:rPr lang="pt-BR" sz="1200" dirty="0">
                  <a:solidFill>
                    <a:schemeClr val="bg1"/>
                  </a:solidFill>
                </a:rPr>
                <a:t>Tomando uma decisão</a:t>
              </a:r>
            </a:p>
            <a:p>
              <a:pPr marL="285750" indent="-285750">
                <a:buFont typeface="Arial" panose="020B0604020202020204" pitchFamily="34" charset="0"/>
                <a:buChar char="•"/>
              </a:pPr>
              <a:r>
                <a:rPr lang="pt-BR" sz="1200" dirty="0">
                  <a:solidFill>
                    <a:schemeClr val="bg1"/>
                  </a:solidFill>
                </a:rPr>
                <a:t>Sistemas de planejamento</a:t>
              </a:r>
            </a:p>
            <a:p>
              <a:pPr marL="285750" indent="-285750">
                <a:buFont typeface="Arial" panose="020B0604020202020204" pitchFamily="34" charset="0"/>
                <a:buChar char="•"/>
              </a:pPr>
              <a:r>
                <a:rPr lang="pt-BR" sz="1200" dirty="0">
                  <a:solidFill>
                    <a:schemeClr val="bg1"/>
                  </a:solidFill>
                </a:rPr>
                <a:t>Controle de robô </a:t>
              </a:r>
            </a:p>
            <a:p>
              <a:pPr marL="285750" indent="-285750">
                <a:buFont typeface="Arial" panose="020B0604020202020204" pitchFamily="34" charset="0"/>
                <a:buChar char="•"/>
              </a:pPr>
              <a:r>
                <a:rPr lang="pt-BR" sz="1200" dirty="0">
                  <a:solidFill>
                    <a:schemeClr val="bg1"/>
                  </a:solidFill>
                </a:rPr>
                <a:t>Sistema de classificação</a:t>
              </a:r>
            </a:p>
            <a:p>
              <a:pPr marL="285750" indent="-285750">
                <a:buFont typeface="Arial" panose="020B0604020202020204" pitchFamily="34" charset="0"/>
                <a:buChar char="•"/>
              </a:pPr>
              <a:r>
                <a:rPr lang="pt-BR" sz="1200" dirty="0">
                  <a:solidFill>
                    <a:schemeClr val="bg1"/>
                  </a:solidFill>
                </a:rPr>
                <a:t>etc</a:t>
              </a:r>
            </a:p>
          </p:txBody>
        </p:sp>
        <p:sp>
          <p:nvSpPr>
            <p:cNvPr id="33" name="Elipse 32">
              <a:extLst>
                <a:ext uri="{FF2B5EF4-FFF2-40B4-BE49-F238E27FC236}">
                  <a16:creationId xmlns:a16="http://schemas.microsoft.com/office/drawing/2014/main" id="{F215DA00-DBA1-4775-3500-117CDD482412}"/>
                </a:ext>
              </a:extLst>
            </p:cNvPr>
            <p:cNvSpPr/>
            <p:nvPr/>
          </p:nvSpPr>
          <p:spPr>
            <a:xfrm>
              <a:off x="1964504" y="2584765"/>
              <a:ext cx="2545352" cy="221802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9" name="Imagem 28">
              <a:extLst>
                <a:ext uri="{FF2B5EF4-FFF2-40B4-BE49-F238E27FC236}">
                  <a16:creationId xmlns:a16="http://schemas.microsoft.com/office/drawing/2014/main" id="{8C5D7FFA-FF9B-7841-EAB4-629219EDF04C}"/>
                </a:ext>
              </a:extLst>
            </p:cNvPr>
            <p:cNvPicPr>
              <a:picLocks noChangeAspect="1"/>
            </p:cNvPicPr>
            <p:nvPr/>
          </p:nvPicPr>
          <p:blipFill>
            <a:blip r:embed="rId2"/>
            <a:stretch>
              <a:fillRect/>
            </a:stretch>
          </p:blipFill>
          <p:spPr>
            <a:xfrm>
              <a:off x="2059147" y="3350833"/>
              <a:ext cx="1400175" cy="590550"/>
            </a:xfrm>
            <a:prstGeom prst="rect">
              <a:avLst/>
            </a:prstGeom>
          </p:spPr>
        </p:pic>
        <p:sp>
          <p:nvSpPr>
            <p:cNvPr id="40" name="CaixaDeTexto 39">
              <a:extLst>
                <a:ext uri="{FF2B5EF4-FFF2-40B4-BE49-F238E27FC236}">
                  <a16:creationId xmlns:a16="http://schemas.microsoft.com/office/drawing/2014/main" id="{4204B12E-B935-ACE8-BB16-367588536B67}"/>
                </a:ext>
              </a:extLst>
            </p:cNvPr>
            <p:cNvSpPr txBox="1"/>
            <p:nvPr/>
          </p:nvSpPr>
          <p:spPr>
            <a:xfrm>
              <a:off x="2666831" y="2801748"/>
              <a:ext cx="1275879" cy="348582"/>
            </a:xfrm>
            <a:prstGeom prst="rect">
              <a:avLst/>
            </a:prstGeom>
            <a:noFill/>
          </p:spPr>
          <p:txBody>
            <a:bodyPr wrap="none" rtlCol="0">
              <a:spAutoFit/>
            </a:bodyPr>
            <a:lstStyle/>
            <a:p>
              <a:r>
                <a:rPr lang="pt-BR" sz="1200" dirty="0"/>
                <a:t>Sistema que	 melhora</a:t>
              </a:r>
            </a:p>
            <a:p>
              <a:r>
                <a:rPr lang="pt-BR" sz="1200" dirty="0"/>
                <a:t>Com a experiência</a:t>
              </a:r>
            </a:p>
          </p:txBody>
        </p:sp>
        <p:sp>
          <p:nvSpPr>
            <p:cNvPr id="42" name="CaixaDeTexto 41">
              <a:extLst>
                <a:ext uri="{FF2B5EF4-FFF2-40B4-BE49-F238E27FC236}">
                  <a16:creationId xmlns:a16="http://schemas.microsoft.com/office/drawing/2014/main" id="{1C291EFD-8B53-29DA-1D5B-02454A05B198}"/>
                </a:ext>
              </a:extLst>
            </p:cNvPr>
            <p:cNvSpPr txBox="1"/>
            <p:nvPr/>
          </p:nvSpPr>
          <p:spPr>
            <a:xfrm>
              <a:off x="3085005" y="2571516"/>
              <a:ext cx="484428" cy="369332"/>
            </a:xfrm>
            <a:prstGeom prst="rect">
              <a:avLst/>
            </a:prstGeom>
            <a:noFill/>
          </p:spPr>
          <p:txBody>
            <a:bodyPr wrap="none" rtlCol="0">
              <a:spAutoFit/>
            </a:bodyPr>
            <a:lstStyle/>
            <a:p>
              <a:r>
                <a:rPr lang="pt-BR" b="1" dirty="0"/>
                <a:t>ML</a:t>
              </a:r>
            </a:p>
          </p:txBody>
        </p:sp>
      </p:grpSp>
      <p:sp>
        <p:nvSpPr>
          <p:cNvPr id="47" name="Elipse 46">
            <a:extLst>
              <a:ext uri="{FF2B5EF4-FFF2-40B4-BE49-F238E27FC236}">
                <a16:creationId xmlns:a16="http://schemas.microsoft.com/office/drawing/2014/main" id="{FA79A708-E6F0-2629-B6FA-903EC232D964}"/>
              </a:ext>
            </a:extLst>
          </p:cNvPr>
          <p:cNvSpPr/>
          <p:nvPr/>
        </p:nvSpPr>
        <p:spPr>
          <a:xfrm>
            <a:off x="5510753" y="3723456"/>
            <a:ext cx="1331650" cy="1227309"/>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b="1" dirty="0">
                <a:solidFill>
                  <a:schemeClr val="tx1"/>
                </a:solidFill>
              </a:rPr>
              <a:t>Deep</a:t>
            </a:r>
            <a:r>
              <a:rPr lang="pt-BR" sz="1200" b="1" dirty="0"/>
              <a:t> </a:t>
            </a:r>
            <a:r>
              <a:rPr lang="pt-BR" sz="1200" b="1" dirty="0">
                <a:solidFill>
                  <a:schemeClr val="tx1"/>
                </a:solidFill>
              </a:rPr>
              <a:t>Learning</a:t>
            </a:r>
          </a:p>
        </p:txBody>
      </p:sp>
      <p:sp>
        <p:nvSpPr>
          <p:cNvPr id="2" name="Retângulo 1">
            <a:extLst>
              <a:ext uri="{FF2B5EF4-FFF2-40B4-BE49-F238E27FC236}">
                <a16:creationId xmlns:a16="http://schemas.microsoft.com/office/drawing/2014/main" id="{FC149170-B514-D151-8B03-F25C410C575D}"/>
              </a:ext>
            </a:extLst>
          </p:cNvPr>
          <p:cNvSpPr/>
          <p:nvPr/>
        </p:nvSpPr>
        <p:spPr>
          <a:xfrm>
            <a:off x="6693763" y="194612"/>
            <a:ext cx="1136342" cy="622543"/>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Retângulo 2">
            <a:extLst>
              <a:ext uri="{FF2B5EF4-FFF2-40B4-BE49-F238E27FC236}">
                <a16:creationId xmlns:a16="http://schemas.microsoft.com/office/drawing/2014/main" id="{2475DC60-34F8-04A1-BEAC-270565B2A597}"/>
              </a:ext>
            </a:extLst>
          </p:cNvPr>
          <p:cNvSpPr/>
          <p:nvPr/>
        </p:nvSpPr>
        <p:spPr>
          <a:xfrm>
            <a:off x="7856738" y="194611"/>
            <a:ext cx="1136342" cy="622543"/>
          </a:xfrm>
          <a:prstGeom prst="rect">
            <a:avLst/>
          </a:prstGeom>
          <a:solidFill>
            <a:schemeClr val="accent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25C1EBF4-73F2-617D-3737-B997F3D6A42B}"/>
              </a:ext>
            </a:extLst>
          </p:cNvPr>
          <p:cNvSpPr/>
          <p:nvPr/>
        </p:nvSpPr>
        <p:spPr>
          <a:xfrm>
            <a:off x="9019713" y="194610"/>
            <a:ext cx="1136342" cy="622543"/>
          </a:xfrm>
          <a:prstGeom prst="rect">
            <a:avLst/>
          </a:prstGeom>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Retângulo 5">
            <a:extLst>
              <a:ext uri="{FF2B5EF4-FFF2-40B4-BE49-F238E27FC236}">
                <a16:creationId xmlns:a16="http://schemas.microsoft.com/office/drawing/2014/main" id="{EF57E104-307E-63D9-DA2E-393D0A392DF7}"/>
              </a:ext>
            </a:extLst>
          </p:cNvPr>
          <p:cNvSpPr/>
          <p:nvPr/>
        </p:nvSpPr>
        <p:spPr>
          <a:xfrm>
            <a:off x="10182688" y="194609"/>
            <a:ext cx="1136342" cy="622543"/>
          </a:xfrm>
          <a:prstGeom prst="rect">
            <a:avLst/>
          </a:prstGeom>
          <a:solidFill>
            <a:schemeClr val="accent2">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CaixaDeTexto 7">
            <a:extLst>
              <a:ext uri="{FF2B5EF4-FFF2-40B4-BE49-F238E27FC236}">
                <a16:creationId xmlns:a16="http://schemas.microsoft.com/office/drawing/2014/main" id="{FC390A87-6630-1387-A402-293F032BA286}"/>
              </a:ext>
            </a:extLst>
          </p:cNvPr>
          <p:cNvSpPr txBox="1"/>
          <p:nvPr/>
        </p:nvSpPr>
        <p:spPr>
          <a:xfrm>
            <a:off x="6788747" y="351571"/>
            <a:ext cx="989502" cy="276999"/>
          </a:xfrm>
          <a:prstGeom prst="rect">
            <a:avLst/>
          </a:prstGeom>
          <a:noFill/>
        </p:spPr>
        <p:txBody>
          <a:bodyPr wrap="none" rtlCol="0">
            <a:spAutoFit/>
          </a:bodyPr>
          <a:lstStyle/>
          <a:p>
            <a:r>
              <a:rPr lang="pt-BR" sz="1200" b="1" dirty="0">
                <a:solidFill>
                  <a:schemeClr val="bg1"/>
                </a:solidFill>
              </a:rPr>
              <a:t>Computador</a:t>
            </a:r>
          </a:p>
        </p:txBody>
      </p:sp>
      <p:sp>
        <p:nvSpPr>
          <p:cNvPr id="10" name="CaixaDeTexto 9">
            <a:extLst>
              <a:ext uri="{FF2B5EF4-FFF2-40B4-BE49-F238E27FC236}">
                <a16:creationId xmlns:a16="http://schemas.microsoft.com/office/drawing/2014/main" id="{9FFEA766-08C8-9584-D61F-48C37F3BE878}"/>
              </a:ext>
            </a:extLst>
          </p:cNvPr>
          <p:cNvSpPr txBox="1"/>
          <p:nvPr/>
        </p:nvSpPr>
        <p:spPr>
          <a:xfrm>
            <a:off x="7991763" y="259237"/>
            <a:ext cx="947695" cy="461665"/>
          </a:xfrm>
          <a:prstGeom prst="rect">
            <a:avLst/>
          </a:prstGeom>
          <a:noFill/>
        </p:spPr>
        <p:txBody>
          <a:bodyPr wrap="none" rtlCol="0">
            <a:spAutoFit/>
          </a:bodyPr>
          <a:lstStyle/>
          <a:p>
            <a:r>
              <a:rPr lang="pt-BR" sz="1200" b="1" dirty="0"/>
              <a:t>Inteligência</a:t>
            </a:r>
          </a:p>
          <a:p>
            <a:r>
              <a:rPr lang="pt-BR" sz="1200" b="1" dirty="0"/>
              <a:t>Artificial</a:t>
            </a:r>
          </a:p>
        </p:txBody>
      </p:sp>
      <p:sp>
        <p:nvSpPr>
          <p:cNvPr id="11" name="CaixaDeTexto 10">
            <a:extLst>
              <a:ext uri="{FF2B5EF4-FFF2-40B4-BE49-F238E27FC236}">
                <a16:creationId xmlns:a16="http://schemas.microsoft.com/office/drawing/2014/main" id="{A9CDDD55-91FC-C3A3-0F0B-ACED6C3835C3}"/>
              </a:ext>
            </a:extLst>
          </p:cNvPr>
          <p:cNvSpPr txBox="1"/>
          <p:nvPr/>
        </p:nvSpPr>
        <p:spPr>
          <a:xfrm>
            <a:off x="9204510" y="275047"/>
            <a:ext cx="740908" cy="461665"/>
          </a:xfrm>
          <a:prstGeom prst="rect">
            <a:avLst/>
          </a:prstGeom>
          <a:noFill/>
        </p:spPr>
        <p:txBody>
          <a:bodyPr wrap="none" rtlCol="0">
            <a:spAutoFit/>
          </a:bodyPr>
          <a:lstStyle/>
          <a:p>
            <a:r>
              <a:rPr lang="pt-BR" sz="1200" b="1" dirty="0"/>
              <a:t>Machine</a:t>
            </a:r>
          </a:p>
          <a:p>
            <a:r>
              <a:rPr lang="pt-BR" sz="1200" b="1" dirty="0"/>
              <a:t>Learn</a:t>
            </a:r>
          </a:p>
        </p:txBody>
      </p:sp>
      <p:sp>
        <p:nvSpPr>
          <p:cNvPr id="13" name="CaixaDeTexto 12">
            <a:extLst>
              <a:ext uri="{FF2B5EF4-FFF2-40B4-BE49-F238E27FC236}">
                <a16:creationId xmlns:a16="http://schemas.microsoft.com/office/drawing/2014/main" id="{9A64B914-5420-8BB5-C2C1-D5EBD79A1D87}"/>
              </a:ext>
            </a:extLst>
          </p:cNvPr>
          <p:cNvSpPr txBox="1"/>
          <p:nvPr/>
        </p:nvSpPr>
        <p:spPr>
          <a:xfrm>
            <a:off x="10480592" y="259236"/>
            <a:ext cx="540533" cy="461665"/>
          </a:xfrm>
          <a:prstGeom prst="rect">
            <a:avLst/>
          </a:prstGeom>
          <a:noFill/>
        </p:spPr>
        <p:txBody>
          <a:bodyPr wrap="none" rtlCol="0">
            <a:spAutoFit/>
          </a:bodyPr>
          <a:lstStyle/>
          <a:p>
            <a:r>
              <a:rPr lang="pt-BR" sz="1200" b="1" dirty="0">
                <a:solidFill>
                  <a:schemeClr val="bg1"/>
                </a:solidFill>
              </a:rPr>
              <a:t>Deep</a:t>
            </a:r>
          </a:p>
          <a:p>
            <a:r>
              <a:rPr lang="pt-BR" sz="1200" b="1" dirty="0">
                <a:solidFill>
                  <a:schemeClr val="bg1"/>
                </a:solidFill>
              </a:rPr>
              <a:t>Learn</a:t>
            </a:r>
          </a:p>
        </p:txBody>
      </p:sp>
      <p:sp>
        <p:nvSpPr>
          <p:cNvPr id="14" name="CaixaDeTexto 13">
            <a:extLst>
              <a:ext uri="{FF2B5EF4-FFF2-40B4-BE49-F238E27FC236}">
                <a16:creationId xmlns:a16="http://schemas.microsoft.com/office/drawing/2014/main" id="{358A02E4-6DC7-E1BA-4986-D5F004534C5F}"/>
              </a:ext>
            </a:extLst>
          </p:cNvPr>
          <p:cNvSpPr txBox="1"/>
          <p:nvPr/>
        </p:nvSpPr>
        <p:spPr>
          <a:xfrm>
            <a:off x="6885081" y="641961"/>
            <a:ext cx="748923" cy="246221"/>
          </a:xfrm>
          <a:prstGeom prst="rect">
            <a:avLst/>
          </a:prstGeom>
          <a:noFill/>
        </p:spPr>
        <p:txBody>
          <a:bodyPr wrap="none" rtlCol="0">
            <a:spAutoFit/>
          </a:bodyPr>
          <a:lstStyle/>
          <a:p>
            <a:r>
              <a:rPr lang="pt-BR" sz="1000" b="1" dirty="0">
                <a:solidFill>
                  <a:schemeClr val="bg1"/>
                </a:solidFill>
              </a:rPr>
              <a:t>1940-1950</a:t>
            </a:r>
          </a:p>
        </p:txBody>
      </p:sp>
      <p:sp>
        <p:nvSpPr>
          <p:cNvPr id="15" name="CaixaDeTexto 14">
            <a:extLst>
              <a:ext uri="{FF2B5EF4-FFF2-40B4-BE49-F238E27FC236}">
                <a16:creationId xmlns:a16="http://schemas.microsoft.com/office/drawing/2014/main" id="{4361C476-BF11-DE3B-9D37-6F37235B4197}"/>
              </a:ext>
            </a:extLst>
          </p:cNvPr>
          <p:cNvSpPr txBox="1"/>
          <p:nvPr/>
        </p:nvSpPr>
        <p:spPr>
          <a:xfrm>
            <a:off x="8026442" y="628984"/>
            <a:ext cx="748923" cy="246221"/>
          </a:xfrm>
          <a:prstGeom prst="rect">
            <a:avLst/>
          </a:prstGeom>
          <a:noFill/>
        </p:spPr>
        <p:txBody>
          <a:bodyPr wrap="none" rtlCol="0">
            <a:spAutoFit/>
          </a:bodyPr>
          <a:lstStyle/>
          <a:p>
            <a:r>
              <a:rPr lang="pt-BR" sz="1000" b="1" dirty="0"/>
              <a:t>1960-1970</a:t>
            </a:r>
          </a:p>
        </p:txBody>
      </p:sp>
      <p:sp>
        <p:nvSpPr>
          <p:cNvPr id="16" name="CaixaDeTexto 15">
            <a:extLst>
              <a:ext uri="{FF2B5EF4-FFF2-40B4-BE49-F238E27FC236}">
                <a16:creationId xmlns:a16="http://schemas.microsoft.com/office/drawing/2014/main" id="{8795DA2A-9DBF-B82B-0936-D792D60E620D}"/>
              </a:ext>
            </a:extLst>
          </p:cNvPr>
          <p:cNvSpPr txBox="1"/>
          <p:nvPr/>
        </p:nvSpPr>
        <p:spPr>
          <a:xfrm>
            <a:off x="9199776" y="657094"/>
            <a:ext cx="748923" cy="246221"/>
          </a:xfrm>
          <a:prstGeom prst="rect">
            <a:avLst/>
          </a:prstGeom>
          <a:noFill/>
        </p:spPr>
        <p:txBody>
          <a:bodyPr wrap="none" rtlCol="0">
            <a:spAutoFit/>
          </a:bodyPr>
          <a:lstStyle/>
          <a:p>
            <a:r>
              <a:rPr lang="pt-BR" sz="1000" b="1" dirty="0"/>
              <a:t>1990-2000</a:t>
            </a:r>
          </a:p>
        </p:txBody>
      </p:sp>
      <p:sp>
        <p:nvSpPr>
          <p:cNvPr id="17" name="CaixaDeTexto 16">
            <a:extLst>
              <a:ext uri="{FF2B5EF4-FFF2-40B4-BE49-F238E27FC236}">
                <a16:creationId xmlns:a16="http://schemas.microsoft.com/office/drawing/2014/main" id="{AB7C6C85-2E90-D851-AC3E-70E40572606C}"/>
              </a:ext>
            </a:extLst>
          </p:cNvPr>
          <p:cNvSpPr txBox="1"/>
          <p:nvPr/>
        </p:nvSpPr>
        <p:spPr>
          <a:xfrm>
            <a:off x="10399743" y="649695"/>
            <a:ext cx="748923" cy="246221"/>
          </a:xfrm>
          <a:prstGeom prst="rect">
            <a:avLst/>
          </a:prstGeom>
          <a:noFill/>
        </p:spPr>
        <p:txBody>
          <a:bodyPr wrap="none" rtlCol="0">
            <a:spAutoFit/>
          </a:bodyPr>
          <a:lstStyle/>
          <a:p>
            <a:r>
              <a:rPr lang="pt-BR" sz="1000" b="1" dirty="0">
                <a:solidFill>
                  <a:schemeClr val="bg1"/>
                </a:solidFill>
              </a:rPr>
              <a:t>2010-2020</a:t>
            </a:r>
          </a:p>
        </p:txBody>
      </p:sp>
      <p:grpSp>
        <p:nvGrpSpPr>
          <p:cNvPr id="35" name="Agrupar 34">
            <a:extLst>
              <a:ext uri="{FF2B5EF4-FFF2-40B4-BE49-F238E27FC236}">
                <a16:creationId xmlns:a16="http://schemas.microsoft.com/office/drawing/2014/main" id="{CDC25B61-5CFE-574E-143D-B0FC580B320F}"/>
              </a:ext>
            </a:extLst>
          </p:cNvPr>
          <p:cNvGrpSpPr/>
          <p:nvPr/>
        </p:nvGrpSpPr>
        <p:grpSpPr>
          <a:xfrm>
            <a:off x="7537141" y="1769946"/>
            <a:ext cx="4165133" cy="1358283"/>
            <a:chOff x="7261934" y="1677880"/>
            <a:chExt cx="4165133" cy="1358283"/>
          </a:xfrm>
        </p:grpSpPr>
        <p:sp>
          <p:nvSpPr>
            <p:cNvPr id="18" name="Retângulo: Cantos Arredondados 17">
              <a:extLst>
                <a:ext uri="{FF2B5EF4-FFF2-40B4-BE49-F238E27FC236}">
                  <a16:creationId xmlns:a16="http://schemas.microsoft.com/office/drawing/2014/main" id="{ED8944D4-6FF4-73B4-6A9F-47E7818539AF}"/>
                </a:ext>
              </a:extLst>
            </p:cNvPr>
            <p:cNvSpPr/>
            <p:nvPr/>
          </p:nvSpPr>
          <p:spPr>
            <a:xfrm>
              <a:off x="8431342" y="2375673"/>
              <a:ext cx="1243230" cy="497149"/>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1" name="Gráfico 20" descr="Computador com preenchimento sólido">
              <a:extLst>
                <a:ext uri="{FF2B5EF4-FFF2-40B4-BE49-F238E27FC236}">
                  <a16:creationId xmlns:a16="http://schemas.microsoft.com/office/drawing/2014/main" id="{D84F724D-40CD-6D07-0508-86E5B7B2822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766084" y="2337374"/>
              <a:ext cx="573746" cy="573746"/>
            </a:xfrm>
            <a:prstGeom prst="rect">
              <a:avLst/>
            </a:prstGeom>
          </p:spPr>
        </p:pic>
        <p:sp>
          <p:nvSpPr>
            <p:cNvPr id="22" name="CaixaDeTexto 21">
              <a:extLst>
                <a:ext uri="{FF2B5EF4-FFF2-40B4-BE49-F238E27FC236}">
                  <a16:creationId xmlns:a16="http://schemas.microsoft.com/office/drawing/2014/main" id="{3ECB1741-A2AB-0617-CD7B-67FCBB4D930D}"/>
                </a:ext>
              </a:extLst>
            </p:cNvPr>
            <p:cNvSpPr txBox="1"/>
            <p:nvPr/>
          </p:nvSpPr>
          <p:spPr>
            <a:xfrm>
              <a:off x="8691660" y="1927014"/>
              <a:ext cx="802977" cy="276999"/>
            </a:xfrm>
            <a:prstGeom prst="rect">
              <a:avLst/>
            </a:prstGeom>
            <a:noFill/>
            <a:ln w="28575">
              <a:solidFill>
                <a:schemeClr val="tx1"/>
              </a:solidFill>
            </a:ln>
          </p:spPr>
          <p:txBody>
            <a:bodyPr wrap="none" rtlCol="0">
              <a:spAutoFit/>
            </a:bodyPr>
            <a:lstStyle/>
            <a:p>
              <a:r>
                <a:rPr lang="pt-BR" sz="1200" b="1" dirty="0"/>
                <a:t>Programa</a:t>
              </a:r>
            </a:p>
          </p:txBody>
        </p:sp>
        <p:sp>
          <p:nvSpPr>
            <p:cNvPr id="23" name="CaixaDeTexto 22">
              <a:extLst>
                <a:ext uri="{FF2B5EF4-FFF2-40B4-BE49-F238E27FC236}">
                  <a16:creationId xmlns:a16="http://schemas.microsoft.com/office/drawing/2014/main" id="{ADDD4CDE-A9EF-30A3-46F5-72E6CA634D95}"/>
                </a:ext>
              </a:extLst>
            </p:cNvPr>
            <p:cNvSpPr txBox="1"/>
            <p:nvPr/>
          </p:nvSpPr>
          <p:spPr>
            <a:xfrm>
              <a:off x="7416606" y="2351827"/>
              <a:ext cx="679994" cy="461665"/>
            </a:xfrm>
            <a:prstGeom prst="rect">
              <a:avLst/>
            </a:prstGeom>
            <a:noFill/>
            <a:ln w="28575">
              <a:solidFill>
                <a:schemeClr val="tx1"/>
              </a:solidFill>
            </a:ln>
          </p:spPr>
          <p:txBody>
            <a:bodyPr wrap="none" rtlCol="0">
              <a:spAutoFit/>
            </a:bodyPr>
            <a:lstStyle/>
            <a:p>
              <a:r>
                <a:rPr lang="pt-BR" sz="1200" b="1" dirty="0"/>
                <a:t>Dados</a:t>
              </a:r>
            </a:p>
            <a:p>
              <a:r>
                <a:rPr lang="pt-BR" sz="1200" b="1" dirty="0"/>
                <a:t>Entrada</a:t>
              </a:r>
            </a:p>
          </p:txBody>
        </p:sp>
        <p:sp>
          <p:nvSpPr>
            <p:cNvPr id="24" name="CaixaDeTexto 23">
              <a:extLst>
                <a:ext uri="{FF2B5EF4-FFF2-40B4-BE49-F238E27FC236}">
                  <a16:creationId xmlns:a16="http://schemas.microsoft.com/office/drawing/2014/main" id="{E977FB25-336D-F4D7-1A01-BFEAB858C628}"/>
                </a:ext>
              </a:extLst>
            </p:cNvPr>
            <p:cNvSpPr txBox="1"/>
            <p:nvPr/>
          </p:nvSpPr>
          <p:spPr>
            <a:xfrm>
              <a:off x="9960556" y="2334931"/>
              <a:ext cx="604653" cy="461665"/>
            </a:xfrm>
            <a:prstGeom prst="rect">
              <a:avLst/>
            </a:prstGeom>
            <a:noFill/>
            <a:ln w="28575">
              <a:solidFill>
                <a:schemeClr val="tx1"/>
              </a:solidFill>
            </a:ln>
          </p:spPr>
          <p:txBody>
            <a:bodyPr wrap="none" rtlCol="0">
              <a:spAutoFit/>
            </a:bodyPr>
            <a:lstStyle/>
            <a:p>
              <a:r>
                <a:rPr lang="pt-BR" sz="1200" b="1" dirty="0"/>
                <a:t>Dados</a:t>
              </a:r>
            </a:p>
            <a:p>
              <a:r>
                <a:rPr lang="pt-BR" sz="1200" b="1" dirty="0"/>
                <a:t>Saída</a:t>
              </a:r>
            </a:p>
          </p:txBody>
        </p:sp>
        <p:sp>
          <p:nvSpPr>
            <p:cNvPr id="25" name="Seta: para a Direita 24">
              <a:extLst>
                <a:ext uri="{FF2B5EF4-FFF2-40B4-BE49-F238E27FC236}">
                  <a16:creationId xmlns:a16="http://schemas.microsoft.com/office/drawing/2014/main" id="{9AE8EADC-CABB-A2B2-BDEA-092D77AB8969}"/>
                </a:ext>
              </a:extLst>
            </p:cNvPr>
            <p:cNvSpPr/>
            <p:nvPr/>
          </p:nvSpPr>
          <p:spPr>
            <a:xfrm>
              <a:off x="8096600" y="2512495"/>
              <a:ext cx="334742" cy="230833"/>
            </a:xfrm>
            <a:prstGeom prst="rightArrow">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6" name="Seta: para a Direita 25">
              <a:extLst>
                <a:ext uri="{FF2B5EF4-FFF2-40B4-BE49-F238E27FC236}">
                  <a16:creationId xmlns:a16="http://schemas.microsoft.com/office/drawing/2014/main" id="{446FB56D-8296-B970-CDE3-B5E342F54F0D}"/>
                </a:ext>
              </a:extLst>
            </p:cNvPr>
            <p:cNvSpPr/>
            <p:nvPr/>
          </p:nvSpPr>
          <p:spPr>
            <a:xfrm>
              <a:off x="9687183" y="2513974"/>
              <a:ext cx="334742" cy="230833"/>
            </a:xfrm>
            <a:prstGeom prst="rightArrow">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7" name="Seta: Curva para Cima 26">
              <a:extLst>
                <a:ext uri="{FF2B5EF4-FFF2-40B4-BE49-F238E27FC236}">
                  <a16:creationId xmlns:a16="http://schemas.microsoft.com/office/drawing/2014/main" id="{061AFAA2-B829-8283-833F-3F5C02DB3293}"/>
                </a:ext>
              </a:extLst>
            </p:cNvPr>
            <p:cNvSpPr/>
            <p:nvPr/>
          </p:nvSpPr>
          <p:spPr>
            <a:xfrm rot="11914917">
              <a:off x="9560848" y="1943900"/>
              <a:ext cx="691683" cy="276999"/>
            </a:xfrm>
            <a:prstGeom prst="curvedUpArrow">
              <a:avLst/>
            </a:prstGeom>
            <a:solidFill>
              <a:srgbClr val="FF000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28" name="CaixaDeTexto 27">
              <a:extLst>
                <a:ext uri="{FF2B5EF4-FFF2-40B4-BE49-F238E27FC236}">
                  <a16:creationId xmlns:a16="http://schemas.microsoft.com/office/drawing/2014/main" id="{412B30A1-6ED6-2C38-3E78-8E3E76822F9B}"/>
                </a:ext>
              </a:extLst>
            </p:cNvPr>
            <p:cNvSpPr txBox="1"/>
            <p:nvPr/>
          </p:nvSpPr>
          <p:spPr>
            <a:xfrm>
              <a:off x="10111520" y="1849065"/>
              <a:ext cx="1207510" cy="276999"/>
            </a:xfrm>
            <a:prstGeom prst="rect">
              <a:avLst/>
            </a:prstGeom>
            <a:noFill/>
            <a:ln w="28575">
              <a:solidFill>
                <a:schemeClr val="tx1"/>
              </a:solidFill>
            </a:ln>
          </p:spPr>
          <p:txBody>
            <a:bodyPr wrap="none" rtlCol="0">
              <a:spAutoFit/>
            </a:bodyPr>
            <a:lstStyle/>
            <a:p>
              <a:r>
                <a:rPr lang="pt-BR" sz="1200" b="1" dirty="0">
                  <a:solidFill>
                    <a:srgbClr val="FF0000"/>
                  </a:solidFill>
                </a:rPr>
                <a:t>Melhoramentos</a:t>
              </a:r>
            </a:p>
          </p:txBody>
        </p:sp>
        <p:sp>
          <p:nvSpPr>
            <p:cNvPr id="31" name="Retângulo 30">
              <a:extLst>
                <a:ext uri="{FF2B5EF4-FFF2-40B4-BE49-F238E27FC236}">
                  <a16:creationId xmlns:a16="http://schemas.microsoft.com/office/drawing/2014/main" id="{B08AB9F2-726F-A4A2-7908-D5135C86291D}"/>
                </a:ext>
              </a:extLst>
            </p:cNvPr>
            <p:cNvSpPr/>
            <p:nvPr/>
          </p:nvSpPr>
          <p:spPr>
            <a:xfrm>
              <a:off x="7261934" y="1677880"/>
              <a:ext cx="4165133" cy="1358283"/>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4" name="Seta: para Baixo 33">
              <a:extLst>
                <a:ext uri="{FF2B5EF4-FFF2-40B4-BE49-F238E27FC236}">
                  <a16:creationId xmlns:a16="http://schemas.microsoft.com/office/drawing/2014/main" id="{742007D8-2CD5-CF89-ADF8-BDEA0D5E53FE}"/>
                </a:ext>
              </a:extLst>
            </p:cNvPr>
            <p:cNvSpPr/>
            <p:nvPr/>
          </p:nvSpPr>
          <p:spPr>
            <a:xfrm>
              <a:off x="9019713" y="2204013"/>
              <a:ext cx="229045" cy="171660"/>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90" name="Agrupar 89">
            <a:extLst>
              <a:ext uri="{FF2B5EF4-FFF2-40B4-BE49-F238E27FC236}">
                <a16:creationId xmlns:a16="http://schemas.microsoft.com/office/drawing/2014/main" id="{58075F85-3689-AD23-CE53-85685602E7C2}"/>
              </a:ext>
            </a:extLst>
          </p:cNvPr>
          <p:cNvGrpSpPr/>
          <p:nvPr/>
        </p:nvGrpSpPr>
        <p:grpSpPr>
          <a:xfrm>
            <a:off x="6870482" y="3482577"/>
            <a:ext cx="5311859" cy="3189689"/>
            <a:chOff x="6870482" y="3473699"/>
            <a:chExt cx="5311859" cy="3189689"/>
          </a:xfrm>
        </p:grpSpPr>
        <p:sp>
          <p:nvSpPr>
            <p:cNvPr id="36" name="CaixaDeTexto 35">
              <a:extLst>
                <a:ext uri="{FF2B5EF4-FFF2-40B4-BE49-F238E27FC236}">
                  <a16:creationId xmlns:a16="http://schemas.microsoft.com/office/drawing/2014/main" id="{446198F9-0C6A-DE43-7721-33261955CAB6}"/>
                </a:ext>
              </a:extLst>
            </p:cNvPr>
            <p:cNvSpPr txBox="1"/>
            <p:nvPr/>
          </p:nvSpPr>
          <p:spPr>
            <a:xfrm>
              <a:off x="6961949" y="4379668"/>
              <a:ext cx="744435" cy="276999"/>
            </a:xfrm>
            <a:prstGeom prst="rect">
              <a:avLst/>
            </a:prstGeom>
            <a:noFill/>
          </p:spPr>
          <p:txBody>
            <a:bodyPr wrap="none" rtlCol="0">
              <a:spAutoFit/>
            </a:bodyPr>
            <a:lstStyle/>
            <a:p>
              <a:r>
                <a:rPr lang="pt-BR" sz="1200" b="1" dirty="0"/>
                <a:t>BIG Data</a:t>
              </a:r>
            </a:p>
          </p:txBody>
        </p:sp>
        <p:sp>
          <p:nvSpPr>
            <p:cNvPr id="37" name="CaixaDeTexto 36">
              <a:extLst>
                <a:ext uri="{FF2B5EF4-FFF2-40B4-BE49-F238E27FC236}">
                  <a16:creationId xmlns:a16="http://schemas.microsoft.com/office/drawing/2014/main" id="{D76D565A-EC58-B115-1B9E-43D1720DFD3D}"/>
                </a:ext>
              </a:extLst>
            </p:cNvPr>
            <p:cNvSpPr txBox="1"/>
            <p:nvPr/>
          </p:nvSpPr>
          <p:spPr>
            <a:xfrm>
              <a:off x="7859283" y="3797590"/>
              <a:ext cx="780983" cy="461665"/>
            </a:xfrm>
            <a:prstGeom prst="rect">
              <a:avLst/>
            </a:prstGeom>
            <a:noFill/>
            <a:ln w="28575">
              <a:solidFill>
                <a:schemeClr val="tx1"/>
              </a:solidFill>
            </a:ln>
          </p:spPr>
          <p:txBody>
            <a:bodyPr wrap="none" rtlCol="0">
              <a:spAutoFit/>
            </a:bodyPr>
            <a:lstStyle/>
            <a:p>
              <a:r>
                <a:rPr lang="pt-BR" sz="1200" b="1" dirty="0"/>
                <a:t>Extração </a:t>
              </a:r>
            </a:p>
            <a:p>
              <a:r>
                <a:rPr lang="pt-BR" sz="1200" b="1" dirty="0"/>
                <a:t>de Dados</a:t>
              </a:r>
            </a:p>
          </p:txBody>
        </p:sp>
        <p:pic>
          <p:nvPicPr>
            <p:cNvPr id="39" name="Gráfico 38" descr="Banco de dados estrutura de tópicos">
              <a:extLst>
                <a:ext uri="{FF2B5EF4-FFF2-40B4-BE49-F238E27FC236}">
                  <a16:creationId xmlns:a16="http://schemas.microsoft.com/office/drawing/2014/main" id="{B5853133-E66A-D15C-959E-DB155B877B6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70482" y="3555872"/>
              <a:ext cx="914400" cy="914400"/>
            </a:xfrm>
            <a:prstGeom prst="rect">
              <a:avLst/>
            </a:prstGeom>
          </p:spPr>
        </p:pic>
        <p:sp>
          <p:nvSpPr>
            <p:cNvPr id="41" name="Seta: para a Direita 40">
              <a:extLst>
                <a:ext uri="{FF2B5EF4-FFF2-40B4-BE49-F238E27FC236}">
                  <a16:creationId xmlns:a16="http://schemas.microsoft.com/office/drawing/2014/main" id="{7ACDA750-9952-9518-85CD-1F6FF2FD5696}"/>
                </a:ext>
              </a:extLst>
            </p:cNvPr>
            <p:cNvSpPr/>
            <p:nvPr/>
          </p:nvSpPr>
          <p:spPr>
            <a:xfrm>
              <a:off x="7611911" y="3927896"/>
              <a:ext cx="236241" cy="27699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4" name="CaixaDeTexto 43">
              <a:extLst>
                <a:ext uri="{FF2B5EF4-FFF2-40B4-BE49-F238E27FC236}">
                  <a16:creationId xmlns:a16="http://schemas.microsoft.com/office/drawing/2014/main" id="{618558A5-2EA4-97FD-FE5F-81B17F3FF0BA}"/>
                </a:ext>
              </a:extLst>
            </p:cNvPr>
            <p:cNvSpPr txBox="1"/>
            <p:nvPr/>
          </p:nvSpPr>
          <p:spPr>
            <a:xfrm>
              <a:off x="8916929" y="3797590"/>
              <a:ext cx="938462" cy="461665"/>
            </a:xfrm>
            <a:prstGeom prst="rect">
              <a:avLst/>
            </a:prstGeom>
            <a:noFill/>
            <a:ln w="28575">
              <a:solidFill>
                <a:schemeClr val="tx1"/>
              </a:solidFill>
            </a:ln>
          </p:spPr>
          <p:txBody>
            <a:bodyPr wrap="none" rtlCol="0">
              <a:spAutoFit/>
            </a:bodyPr>
            <a:lstStyle/>
            <a:p>
              <a:r>
                <a:rPr lang="pt-BR" sz="1200" b="1" dirty="0"/>
                <a:t>Preparação </a:t>
              </a:r>
            </a:p>
            <a:p>
              <a:r>
                <a:rPr lang="pt-BR" sz="1200" b="1" dirty="0"/>
                <a:t>de Dados</a:t>
              </a:r>
            </a:p>
          </p:txBody>
        </p:sp>
        <p:sp>
          <p:nvSpPr>
            <p:cNvPr id="45" name="CaixaDeTexto 44">
              <a:extLst>
                <a:ext uri="{FF2B5EF4-FFF2-40B4-BE49-F238E27FC236}">
                  <a16:creationId xmlns:a16="http://schemas.microsoft.com/office/drawing/2014/main" id="{FF0D3F89-4324-4A15-09D6-F68B35C7CB16}"/>
                </a:ext>
              </a:extLst>
            </p:cNvPr>
            <p:cNvSpPr txBox="1"/>
            <p:nvPr/>
          </p:nvSpPr>
          <p:spPr>
            <a:xfrm>
              <a:off x="10130302" y="3797590"/>
              <a:ext cx="1298882" cy="461665"/>
            </a:xfrm>
            <a:prstGeom prst="rect">
              <a:avLst/>
            </a:prstGeom>
            <a:noFill/>
            <a:ln w="28575">
              <a:solidFill>
                <a:schemeClr val="tx1"/>
              </a:solidFill>
            </a:ln>
          </p:spPr>
          <p:txBody>
            <a:bodyPr wrap="none" rtlCol="0">
              <a:spAutoFit/>
            </a:bodyPr>
            <a:lstStyle/>
            <a:p>
              <a:r>
                <a:rPr lang="pt-BR" sz="1200" b="1" dirty="0"/>
                <a:t>Separação </a:t>
              </a:r>
            </a:p>
            <a:p>
              <a:r>
                <a:rPr lang="pt-BR" sz="1200" b="1" dirty="0"/>
                <a:t>de Características</a:t>
              </a:r>
            </a:p>
          </p:txBody>
        </p:sp>
        <p:sp>
          <p:nvSpPr>
            <p:cNvPr id="46" name="CaixaDeTexto 45">
              <a:extLst>
                <a:ext uri="{FF2B5EF4-FFF2-40B4-BE49-F238E27FC236}">
                  <a16:creationId xmlns:a16="http://schemas.microsoft.com/office/drawing/2014/main" id="{C3C89336-2368-3746-3110-80644B7D875A}"/>
                </a:ext>
              </a:extLst>
            </p:cNvPr>
            <p:cNvSpPr txBox="1"/>
            <p:nvPr/>
          </p:nvSpPr>
          <p:spPr>
            <a:xfrm>
              <a:off x="8983761" y="4656667"/>
              <a:ext cx="1416929" cy="1015663"/>
            </a:xfrm>
            <a:prstGeom prst="rect">
              <a:avLst/>
            </a:prstGeom>
            <a:noFill/>
            <a:ln w="28575">
              <a:solidFill>
                <a:schemeClr val="tx1"/>
              </a:solidFill>
            </a:ln>
          </p:spPr>
          <p:txBody>
            <a:bodyPr wrap="square" rtlCol="0">
              <a:spAutoFit/>
            </a:bodyPr>
            <a:lstStyle/>
            <a:p>
              <a:r>
                <a:rPr lang="pt-BR" sz="1200" b="1" dirty="0"/>
                <a:t>Treinamento de dados</a:t>
              </a:r>
            </a:p>
            <a:p>
              <a:endParaRPr lang="pt-BR" sz="1200" b="1" dirty="0"/>
            </a:p>
            <a:p>
              <a:endParaRPr lang="pt-BR" sz="1200" b="1" dirty="0"/>
            </a:p>
            <a:p>
              <a:endParaRPr lang="pt-BR" sz="1200" b="1" dirty="0"/>
            </a:p>
          </p:txBody>
        </p:sp>
        <p:cxnSp>
          <p:nvCxnSpPr>
            <p:cNvPr id="49" name="Conector de Seta Reta 48">
              <a:extLst>
                <a:ext uri="{FF2B5EF4-FFF2-40B4-BE49-F238E27FC236}">
                  <a16:creationId xmlns:a16="http://schemas.microsoft.com/office/drawing/2014/main" id="{780F67B7-08C3-4A53-1F6A-B8F885A53B14}"/>
                </a:ext>
              </a:extLst>
            </p:cNvPr>
            <p:cNvCxnSpPr>
              <a:stCxn id="37" idx="3"/>
              <a:endCxn id="44" idx="1"/>
            </p:cNvCxnSpPr>
            <p:nvPr/>
          </p:nvCxnSpPr>
          <p:spPr>
            <a:xfrm>
              <a:off x="8640266" y="4028423"/>
              <a:ext cx="27666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Conector de Seta Reta 51">
              <a:extLst>
                <a:ext uri="{FF2B5EF4-FFF2-40B4-BE49-F238E27FC236}">
                  <a16:creationId xmlns:a16="http://schemas.microsoft.com/office/drawing/2014/main" id="{7CE22E02-67F1-7CDA-74E6-4AED968B6C2F}"/>
                </a:ext>
              </a:extLst>
            </p:cNvPr>
            <p:cNvCxnSpPr>
              <a:stCxn id="44" idx="3"/>
              <a:endCxn id="45" idx="1"/>
            </p:cNvCxnSpPr>
            <p:nvPr/>
          </p:nvCxnSpPr>
          <p:spPr>
            <a:xfrm>
              <a:off x="9855391" y="4028423"/>
              <a:ext cx="274911"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54" name="Gráfico 53" descr="Gráfico de barras com tendência descendente com preenchimento sólido">
              <a:extLst>
                <a:ext uri="{FF2B5EF4-FFF2-40B4-BE49-F238E27FC236}">
                  <a16:creationId xmlns:a16="http://schemas.microsoft.com/office/drawing/2014/main" id="{E6A6D225-41B3-1CB2-721F-93C6F9A689C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508125" y="4832936"/>
              <a:ext cx="654728" cy="654728"/>
            </a:xfrm>
            <a:prstGeom prst="rect">
              <a:avLst/>
            </a:prstGeom>
          </p:spPr>
        </p:pic>
        <p:cxnSp>
          <p:nvCxnSpPr>
            <p:cNvPr id="56" name="Conector: Angulado 55">
              <a:extLst>
                <a:ext uri="{FF2B5EF4-FFF2-40B4-BE49-F238E27FC236}">
                  <a16:creationId xmlns:a16="http://schemas.microsoft.com/office/drawing/2014/main" id="{35FB6BD4-8E55-5004-AA73-80F5E958991B}"/>
                </a:ext>
              </a:extLst>
            </p:cNvPr>
            <p:cNvCxnSpPr>
              <a:cxnSpLocks/>
              <a:stCxn id="45" idx="2"/>
              <a:endCxn id="46" idx="1"/>
            </p:cNvCxnSpPr>
            <p:nvPr/>
          </p:nvCxnSpPr>
          <p:spPr>
            <a:xfrm rot="5400000">
              <a:off x="9429130" y="3813886"/>
              <a:ext cx="905244" cy="1795982"/>
            </a:xfrm>
            <a:prstGeom prst="bentConnector4">
              <a:avLst>
                <a:gd name="adj1" fmla="val 21951"/>
                <a:gd name="adj2" fmla="val 112728"/>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CaixaDeTexto 56">
              <a:extLst>
                <a:ext uri="{FF2B5EF4-FFF2-40B4-BE49-F238E27FC236}">
                  <a16:creationId xmlns:a16="http://schemas.microsoft.com/office/drawing/2014/main" id="{1C664F3D-8C56-620D-E16F-434340B794F9}"/>
                </a:ext>
              </a:extLst>
            </p:cNvPr>
            <p:cNvSpPr txBox="1"/>
            <p:nvPr/>
          </p:nvSpPr>
          <p:spPr>
            <a:xfrm>
              <a:off x="9121474" y="6004648"/>
              <a:ext cx="1132041" cy="276999"/>
            </a:xfrm>
            <a:prstGeom prst="rect">
              <a:avLst/>
            </a:prstGeom>
            <a:solidFill>
              <a:srgbClr val="92D050"/>
            </a:solidFill>
            <a:ln w="28575">
              <a:solidFill>
                <a:schemeClr val="tx1"/>
              </a:solidFill>
            </a:ln>
          </p:spPr>
          <p:txBody>
            <a:bodyPr wrap="none" rtlCol="0">
              <a:spAutoFit/>
            </a:bodyPr>
            <a:lstStyle/>
            <a:p>
              <a:r>
                <a:rPr lang="pt-BR" sz="1200" b="1" dirty="0"/>
                <a:t>Machine Learn</a:t>
              </a:r>
            </a:p>
          </p:txBody>
        </p:sp>
        <p:cxnSp>
          <p:nvCxnSpPr>
            <p:cNvPr id="60" name="Conector de Seta Reta 59">
              <a:extLst>
                <a:ext uri="{FF2B5EF4-FFF2-40B4-BE49-F238E27FC236}">
                  <a16:creationId xmlns:a16="http://schemas.microsoft.com/office/drawing/2014/main" id="{AF554C99-F51C-2791-8AAD-1419A2CD0BD5}"/>
                </a:ext>
              </a:extLst>
            </p:cNvPr>
            <p:cNvCxnSpPr>
              <a:cxnSpLocks/>
              <a:stCxn id="46" idx="2"/>
              <a:endCxn id="57" idx="0"/>
            </p:cNvCxnSpPr>
            <p:nvPr/>
          </p:nvCxnSpPr>
          <p:spPr>
            <a:xfrm flipH="1">
              <a:off x="9687495" y="5672330"/>
              <a:ext cx="4731" cy="33231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63" name="Gráfico 62" descr="Matemática com preenchimento sólido">
              <a:extLst>
                <a:ext uri="{FF2B5EF4-FFF2-40B4-BE49-F238E27FC236}">
                  <a16:creationId xmlns:a16="http://schemas.microsoft.com/office/drawing/2014/main" id="{6DBCB98B-C2ED-7CB2-7A28-0CE5278DDBB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742010" y="4729250"/>
              <a:ext cx="573746" cy="573746"/>
            </a:xfrm>
            <a:prstGeom prst="rect">
              <a:avLst/>
            </a:prstGeom>
          </p:spPr>
        </p:pic>
        <p:cxnSp>
          <p:nvCxnSpPr>
            <p:cNvPr id="65" name="Conector: Angulado 64">
              <a:extLst>
                <a:ext uri="{FF2B5EF4-FFF2-40B4-BE49-F238E27FC236}">
                  <a16:creationId xmlns:a16="http://schemas.microsoft.com/office/drawing/2014/main" id="{C9226518-6893-4EF8-FAC6-A84544AA5537}"/>
                </a:ext>
              </a:extLst>
            </p:cNvPr>
            <p:cNvCxnSpPr>
              <a:stCxn id="63" idx="2"/>
              <a:endCxn id="57" idx="0"/>
            </p:cNvCxnSpPr>
            <p:nvPr/>
          </p:nvCxnSpPr>
          <p:spPr>
            <a:xfrm rot="5400000">
              <a:off x="10007363" y="4983128"/>
              <a:ext cx="701652" cy="1341388"/>
            </a:xfrm>
            <a:prstGeom prst="bentConnector3">
              <a:avLst>
                <a:gd name="adj1" fmla="val 6518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CaixaDeTexto 65">
              <a:extLst>
                <a:ext uri="{FF2B5EF4-FFF2-40B4-BE49-F238E27FC236}">
                  <a16:creationId xmlns:a16="http://schemas.microsoft.com/office/drawing/2014/main" id="{0D77FA91-8B43-4B43-A957-C28945B54075}"/>
                </a:ext>
              </a:extLst>
            </p:cNvPr>
            <p:cNvSpPr txBox="1"/>
            <p:nvPr/>
          </p:nvSpPr>
          <p:spPr>
            <a:xfrm>
              <a:off x="11007468" y="5256831"/>
              <a:ext cx="1174873" cy="461665"/>
            </a:xfrm>
            <a:prstGeom prst="rect">
              <a:avLst/>
            </a:prstGeom>
            <a:noFill/>
          </p:spPr>
          <p:txBody>
            <a:bodyPr wrap="none" rtlCol="0">
              <a:spAutoFit/>
            </a:bodyPr>
            <a:lstStyle/>
            <a:p>
              <a:pPr algn="ctr"/>
              <a:r>
                <a:rPr lang="pt-BR" sz="1200" b="1" dirty="0"/>
                <a:t>Algoritmo  </a:t>
              </a:r>
            </a:p>
            <a:p>
              <a:r>
                <a:rPr lang="pt-BR" sz="1200" b="1" dirty="0"/>
                <a:t>de aprendizado</a:t>
              </a:r>
            </a:p>
          </p:txBody>
        </p:sp>
        <p:sp>
          <p:nvSpPr>
            <p:cNvPr id="67" name="CaixaDeTexto 66">
              <a:extLst>
                <a:ext uri="{FF2B5EF4-FFF2-40B4-BE49-F238E27FC236}">
                  <a16:creationId xmlns:a16="http://schemas.microsoft.com/office/drawing/2014/main" id="{36477530-58A6-6D72-F01F-0F3C0179ACB7}"/>
                </a:ext>
              </a:extLst>
            </p:cNvPr>
            <p:cNvSpPr txBox="1"/>
            <p:nvPr/>
          </p:nvSpPr>
          <p:spPr>
            <a:xfrm>
              <a:off x="11186504" y="4867061"/>
              <a:ext cx="782587" cy="276999"/>
            </a:xfrm>
            <a:prstGeom prst="rect">
              <a:avLst/>
            </a:prstGeom>
            <a:noFill/>
          </p:spPr>
          <p:txBody>
            <a:bodyPr wrap="none" rtlCol="0">
              <a:spAutoFit/>
            </a:bodyPr>
            <a:lstStyle/>
            <a:p>
              <a:r>
                <a:rPr lang="pt-BR" sz="1200" b="1" dirty="0"/>
                <a:t>aX</a:t>
              </a:r>
              <a:r>
                <a:rPr lang="pt-BR" sz="1200" b="1" baseline="30000" dirty="0"/>
                <a:t>2</a:t>
              </a:r>
              <a:r>
                <a:rPr lang="pt-BR" sz="1200" b="1" dirty="0"/>
                <a:t>+bX+c</a:t>
              </a:r>
            </a:p>
          </p:txBody>
        </p:sp>
        <p:sp>
          <p:nvSpPr>
            <p:cNvPr id="68" name="Retângulo 67">
              <a:extLst>
                <a:ext uri="{FF2B5EF4-FFF2-40B4-BE49-F238E27FC236}">
                  <a16:creationId xmlns:a16="http://schemas.microsoft.com/office/drawing/2014/main" id="{FC42854A-0186-B751-1990-F353DCF78B25}"/>
                </a:ext>
              </a:extLst>
            </p:cNvPr>
            <p:cNvSpPr/>
            <p:nvPr/>
          </p:nvSpPr>
          <p:spPr>
            <a:xfrm>
              <a:off x="10742010" y="4729250"/>
              <a:ext cx="1174873" cy="573746"/>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72" name="Gráfico 71" descr="Adicionar com preenchimento sólido">
              <a:extLst>
                <a:ext uri="{FF2B5EF4-FFF2-40B4-BE49-F238E27FC236}">
                  <a16:creationId xmlns:a16="http://schemas.microsoft.com/office/drawing/2014/main" id="{F1623667-E617-AAA1-C468-FB6035043973}"/>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466621" y="4939869"/>
              <a:ext cx="217973" cy="217973"/>
            </a:xfrm>
            <a:prstGeom prst="rect">
              <a:avLst/>
            </a:prstGeom>
          </p:spPr>
        </p:pic>
        <p:cxnSp>
          <p:nvCxnSpPr>
            <p:cNvPr id="77" name="Conector: Angulado 76">
              <a:extLst>
                <a:ext uri="{FF2B5EF4-FFF2-40B4-BE49-F238E27FC236}">
                  <a16:creationId xmlns:a16="http://schemas.microsoft.com/office/drawing/2014/main" id="{8CDFA98B-5F68-9F6C-EDE5-4A3F90BFD4C5}"/>
                </a:ext>
              </a:extLst>
            </p:cNvPr>
            <p:cNvCxnSpPr>
              <a:stCxn id="41" idx="1"/>
              <a:endCxn id="57" idx="1"/>
            </p:cNvCxnSpPr>
            <p:nvPr/>
          </p:nvCxnSpPr>
          <p:spPr>
            <a:xfrm rot="10800000" flipH="1" flipV="1">
              <a:off x="7611910" y="4066396"/>
              <a:ext cx="1509563" cy="2076752"/>
            </a:xfrm>
            <a:prstGeom prst="bentConnector3">
              <a:avLst>
                <a:gd name="adj1" fmla="val 3676"/>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9" name="Seta: para a Direita 78">
              <a:extLst>
                <a:ext uri="{FF2B5EF4-FFF2-40B4-BE49-F238E27FC236}">
                  <a16:creationId xmlns:a16="http://schemas.microsoft.com/office/drawing/2014/main" id="{58F247D2-2BA2-9656-AD16-F34242E30BDA}"/>
                </a:ext>
              </a:extLst>
            </p:cNvPr>
            <p:cNvSpPr/>
            <p:nvPr/>
          </p:nvSpPr>
          <p:spPr>
            <a:xfrm>
              <a:off x="10253515" y="6004648"/>
              <a:ext cx="349982" cy="276999"/>
            </a:xfrm>
            <a:prstGeom prst="rightArrow">
              <a:avLst/>
            </a:prstGeom>
            <a:solidFill>
              <a:schemeClr val="accent6">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0" name="CaixaDeTexto 79">
              <a:extLst>
                <a:ext uri="{FF2B5EF4-FFF2-40B4-BE49-F238E27FC236}">
                  <a16:creationId xmlns:a16="http://schemas.microsoft.com/office/drawing/2014/main" id="{E20F2759-F5C3-013F-BAF8-1EE123DF174E}"/>
                </a:ext>
              </a:extLst>
            </p:cNvPr>
            <p:cNvSpPr txBox="1"/>
            <p:nvPr/>
          </p:nvSpPr>
          <p:spPr>
            <a:xfrm>
              <a:off x="11329446" y="5871630"/>
              <a:ext cx="739883" cy="461665"/>
            </a:xfrm>
            <a:prstGeom prst="rect">
              <a:avLst/>
            </a:prstGeom>
            <a:solidFill>
              <a:srgbClr val="00B0F0"/>
            </a:solidFill>
            <a:ln>
              <a:solidFill>
                <a:schemeClr val="tx1"/>
              </a:solidFill>
            </a:ln>
          </p:spPr>
          <p:txBody>
            <a:bodyPr wrap="none" rtlCol="0">
              <a:spAutoFit/>
            </a:bodyPr>
            <a:lstStyle/>
            <a:p>
              <a:r>
                <a:rPr lang="pt-BR" sz="1200" b="1" dirty="0"/>
                <a:t>Predição</a:t>
              </a:r>
            </a:p>
            <a:p>
              <a:r>
                <a:rPr lang="pt-BR" sz="1200" b="1" dirty="0"/>
                <a:t>Previsão</a:t>
              </a:r>
            </a:p>
          </p:txBody>
        </p:sp>
        <p:pic>
          <p:nvPicPr>
            <p:cNvPr id="82" name="Imagem 81">
              <a:extLst>
                <a:ext uri="{FF2B5EF4-FFF2-40B4-BE49-F238E27FC236}">
                  <a16:creationId xmlns:a16="http://schemas.microsoft.com/office/drawing/2014/main" id="{1340CA30-DEB1-47C0-4CA3-4B5DF5B5F98B}"/>
                </a:ext>
              </a:extLst>
            </p:cNvPr>
            <p:cNvPicPr>
              <a:picLocks noChangeAspect="1"/>
            </p:cNvPicPr>
            <p:nvPr/>
          </p:nvPicPr>
          <p:blipFill>
            <a:blip r:embed="rId13"/>
            <a:stretch>
              <a:fillRect/>
            </a:stretch>
          </p:blipFill>
          <p:spPr>
            <a:xfrm>
              <a:off x="10847720" y="5871630"/>
              <a:ext cx="208674" cy="266035"/>
            </a:xfrm>
            <a:prstGeom prst="rect">
              <a:avLst/>
            </a:prstGeom>
          </p:spPr>
        </p:pic>
        <p:sp>
          <p:nvSpPr>
            <p:cNvPr id="83" name="CaixaDeTexto 82">
              <a:extLst>
                <a:ext uri="{FF2B5EF4-FFF2-40B4-BE49-F238E27FC236}">
                  <a16:creationId xmlns:a16="http://schemas.microsoft.com/office/drawing/2014/main" id="{1B487A5E-00FA-43AE-4902-347BD32AFF65}"/>
                </a:ext>
              </a:extLst>
            </p:cNvPr>
            <p:cNvSpPr txBox="1"/>
            <p:nvPr/>
          </p:nvSpPr>
          <p:spPr>
            <a:xfrm>
              <a:off x="10428506" y="6157782"/>
              <a:ext cx="978153" cy="338554"/>
            </a:xfrm>
            <a:prstGeom prst="rect">
              <a:avLst/>
            </a:prstGeom>
            <a:noFill/>
          </p:spPr>
          <p:txBody>
            <a:bodyPr wrap="none" rtlCol="0">
              <a:spAutoFit/>
            </a:bodyPr>
            <a:lstStyle/>
            <a:p>
              <a:r>
                <a:rPr lang="pt-BR" sz="800" b="1" dirty="0"/>
                <a:t>Probabilidades</a:t>
              </a:r>
            </a:p>
            <a:p>
              <a:r>
                <a:rPr lang="pt-BR" sz="800" b="1" dirty="0"/>
                <a:t>(Estatísticas &gt;70%)</a:t>
              </a:r>
            </a:p>
          </p:txBody>
        </p:sp>
        <p:sp>
          <p:nvSpPr>
            <p:cNvPr id="84" name="Retângulo 83">
              <a:extLst>
                <a:ext uri="{FF2B5EF4-FFF2-40B4-BE49-F238E27FC236}">
                  <a16:creationId xmlns:a16="http://schemas.microsoft.com/office/drawing/2014/main" id="{82F2CBF3-1F2C-B2F9-37F9-8BC2ACB22B00}"/>
                </a:ext>
              </a:extLst>
            </p:cNvPr>
            <p:cNvSpPr/>
            <p:nvPr/>
          </p:nvSpPr>
          <p:spPr>
            <a:xfrm>
              <a:off x="6870482" y="3473699"/>
              <a:ext cx="5241616" cy="3189689"/>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87" name="Gráfico 86" descr="Bolha de pensamento estrutura de tópicos">
              <a:extLst>
                <a:ext uri="{FF2B5EF4-FFF2-40B4-BE49-F238E27FC236}">
                  <a16:creationId xmlns:a16="http://schemas.microsoft.com/office/drawing/2014/main" id="{30B7B327-AFD5-4EBE-BC2F-8D3E6977B4E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10525346">
              <a:off x="7001034" y="4533186"/>
              <a:ext cx="588336" cy="588336"/>
            </a:xfrm>
            <a:prstGeom prst="rect">
              <a:avLst/>
            </a:prstGeom>
          </p:spPr>
        </p:pic>
        <p:cxnSp>
          <p:nvCxnSpPr>
            <p:cNvPr id="89" name="Conector: Angulado 88">
              <a:extLst>
                <a:ext uri="{FF2B5EF4-FFF2-40B4-BE49-F238E27FC236}">
                  <a16:creationId xmlns:a16="http://schemas.microsoft.com/office/drawing/2014/main" id="{08A166B5-A7EA-9100-4F55-70407C752715}"/>
                </a:ext>
              </a:extLst>
            </p:cNvPr>
            <p:cNvCxnSpPr>
              <a:stCxn id="80" idx="2"/>
              <a:endCxn id="57" idx="2"/>
            </p:cNvCxnSpPr>
            <p:nvPr/>
          </p:nvCxnSpPr>
          <p:spPr>
            <a:xfrm rot="5400000" flipH="1">
              <a:off x="10667618" y="5301525"/>
              <a:ext cx="51648" cy="2011893"/>
            </a:xfrm>
            <a:prstGeom prst="bentConnector3">
              <a:avLst>
                <a:gd name="adj1" fmla="val -44261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91" name="Elipse 90">
            <a:extLst>
              <a:ext uri="{FF2B5EF4-FFF2-40B4-BE49-F238E27FC236}">
                <a16:creationId xmlns:a16="http://schemas.microsoft.com/office/drawing/2014/main" id="{67115EF4-C787-C66A-E5F3-8AC47516DC50}"/>
              </a:ext>
            </a:extLst>
          </p:cNvPr>
          <p:cNvSpPr/>
          <p:nvPr/>
        </p:nvSpPr>
        <p:spPr>
          <a:xfrm>
            <a:off x="6889514" y="6178320"/>
            <a:ext cx="490131" cy="491762"/>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b="1" dirty="0">
                <a:latin typeface="Century Gothic" panose="020B0502020202020204" pitchFamily="34" charset="0"/>
              </a:rPr>
              <a:t>IA</a:t>
            </a:r>
          </a:p>
        </p:txBody>
      </p:sp>
      <p:sp>
        <p:nvSpPr>
          <p:cNvPr id="92" name="Elipse 91">
            <a:extLst>
              <a:ext uri="{FF2B5EF4-FFF2-40B4-BE49-F238E27FC236}">
                <a16:creationId xmlns:a16="http://schemas.microsoft.com/office/drawing/2014/main" id="{7A2B566D-93B3-6D86-61DE-F1104A50DFDF}"/>
              </a:ext>
            </a:extLst>
          </p:cNvPr>
          <p:cNvSpPr/>
          <p:nvPr/>
        </p:nvSpPr>
        <p:spPr>
          <a:xfrm>
            <a:off x="7540322" y="1774922"/>
            <a:ext cx="1394363" cy="491762"/>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900" b="1" dirty="0">
                <a:latin typeface="Century Gothic" panose="020B0502020202020204" pitchFamily="34" charset="0"/>
              </a:rPr>
              <a:t>ProgramaçãoConvencional</a:t>
            </a:r>
          </a:p>
        </p:txBody>
      </p:sp>
    </p:spTree>
    <p:extLst>
      <p:ext uri="{BB962C8B-B14F-4D97-AF65-F5344CB8AC3E}">
        <p14:creationId xmlns:p14="http://schemas.microsoft.com/office/powerpoint/2010/main" val="28854253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Agrupar 19">
            <a:extLst>
              <a:ext uri="{FF2B5EF4-FFF2-40B4-BE49-F238E27FC236}">
                <a16:creationId xmlns:a16="http://schemas.microsoft.com/office/drawing/2014/main" id="{7A869EA4-58E0-EE3F-4A9E-465EA4798BD9}"/>
              </a:ext>
            </a:extLst>
          </p:cNvPr>
          <p:cNvGrpSpPr/>
          <p:nvPr/>
        </p:nvGrpSpPr>
        <p:grpSpPr>
          <a:xfrm>
            <a:off x="466542" y="283365"/>
            <a:ext cx="11725458" cy="2824928"/>
            <a:chOff x="1034713" y="389897"/>
            <a:chExt cx="11725458" cy="2824928"/>
          </a:xfrm>
        </p:grpSpPr>
        <p:sp>
          <p:nvSpPr>
            <p:cNvPr id="3" name="Retângulo 2">
              <a:extLst>
                <a:ext uri="{FF2B5EF4-FFF2-40B4-BE49-F238E27FC236}">
                  <a16:creationId xmlns:a16="http://schemas.microsoft.com/office/drawing/2014/main" id="{7CFEB0AE-DF1A-5F8E-6727-8B4ADBABFF83}"/>
                </a:ext>
              </a:extLst>
            </p:cNvPr>
            <p:cNvSpPr/>
            <p:nvPr/>
          </p:nvSpPr>
          <p:spPr>
            <a:xfrm>
              <a:off x="1034713" y="413458"/>
              <a:ext cx="3400425" cy="25960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Retângulo 3">
              <a:extLst>
                <a:ext uri="{FF2B5EF4-FFF2-40B4-BE49-F238E27FC236}">
                  <a16:creationId xmlns:a16="http://schemas.microsoft.com/office/drawing/2014/main" id="{7A4DA5C6-0427-2B84-C5DA-A75AB575A890}"/>
                </a:ext>
              </a:extLst>
            </p:cNvPr>
            <p:cNvSpPr/>
            <p:nvPr/>
          </p:nvSpPr>
          <p:spPr>
            <a:xfrm>
              <a:off x="3100387" y="413459"/>
              <a:ext cx="3400425" cy="43879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Não Supervisionado</a:t>
              </a:r>
            </a:p>
          </p:txBody>
        </p:sp>
        <p:sp>
          <p:nvSpPr>
            <p:cNvPr id="8" name="Retângulo 7">
              <a:extLst>
                <a:ext uri="{FF2B5EF4-FFF2-40B4-BE49-F238E27FC236}">
                  <a16:creationId xmlns:a16="http://schemas.microsoft.com/office/drawing/2014/main" id="{441808E1-76F9-DA55-F1D7-9367D422CE77}"/>
                </a:ext>
              </a:extLst>
            </p:cNvPr>
            <p:cNvSpPr/>
            <p:nvPr/>
          </p:nvSpPr>
          <p:spPr>
            <a:xfrm>
              <a:off x="3100386" y="1492095"/>
              <a:ext cx="3400425" cy="43879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Supervisionado</a:t>
              </a:r>
            </a:p>
          </p:txBody>
        </p:sp>
        <p:sp>
          <p:nvSpPr>
            <p:cNvPr id="9" name="Retângulo 8">
              <a:extLst>
                <a:ext uri="{FF2B5EF4-FFF2-40B4-BE49-F238E27FC236}">
                  <a16:creationId xmlns:a16="http://schemas.microsoft.com/office/drawing/2014/main" id="{2EA0498A-5BFD-F1B2-8508-212D156254C1}"/>
                </a:ext>
              </a:extLst>
            </p:cNvPr>
            <p:cNvSpPr/>
            <p:nvPr/>
          </p:nvSpPr>
          <p:spPr>
            <a:xfrm>
              <a:off x="3100385" y="2564539"/>
              <a:ext cx="3400425" cy="43879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Reforço</a:t>
              </a:r>
            </a:p>
          </p:txBody>
        </p:sp>
        <p:sp>
          <p:nvSpPr>
            <p:cNvPr id="10" name="CaixaDeTexto 9">
              <a:extLst>
                <a:ext uri="{FF2B5EF4-FFF2-40B4-BE49-F238E27FC236}">
                  <a16:creationId xmlns:a16="http://schemas.microsoft.com/office/drawing/2014/main" id="{124DF40D-AA63-8B8F-BB90-8EF28298C425}"/>
                </a:ext>
              </a:extLst>
            </p:cNvPr>
            <p:cNvSpPr txBox="1"/>
            <p:nvPr/>
          </p:nvSpPr>
          <p:spPr>
            <a:xfrm>
              <a:off x="1171852" y="1090478"/>
              <a:ext cx="2594878" cy="1200329"/>
            </a:xfrm>
            <a:prstGeom prst="rect">
              <a:avLst/>
            </a:prstGeom>
            <a:noFill/>
          </p:spPr>
          <p:txBody>
            <a:bodyPr wrap="none" rtlCol="0">
              <a:spAutoFit/>
            </a:bodyPr>
            <a:lstStyle/>
            <a:p>
              <a:r>
                <a:rPr lang="pt-BR" b="1" dirty="0">
                  <a:solidFill>
                    <a:schemeClr val="bg1"/>
                  </a:solidFill>
                </a:rPr>
                <a:t>Machine Learn (ML) </a:t>
              </a:r>
            </a:p>
            <a:p>
              <a:endParaRPr lang="pt-BR" b="1" dirty="0">
                <a:solidFill>
                  <a:schemeClr val="bg1"/>
                </a:solidFill>
              </a:endParaRPr>
            </a:p>
            <a:p>
              <a:endParaRPr lang="pt-BR" b="1" dirty="0">
                <a:solidFill>
                  <a:schemeClr val="bg1"/>
                </a:solidFill>
              </a:endParaRPr>
            </a:p>
            <a:p>
              <a:r>
                <a:rPr lang="pt-BR" b="1" dirty="0">
                  <a:solidFill>
                    <a:schemeClr val="bg1"/>
                  </a:solidFill>
                </a:rPr>
                <a:t>Aprendizado de Máquina</a:t>
              </a:r>
            </a:p>
          </p:txBody>
        </p:sp>
        <p:sp>
          <p:nvSpPr>
            <p:cNvPr id="11" name="CaixaDeTexto 10">
              <a:extLst>
                <a:ext uri="{FF2B5EF4-FFF2-40B4-BE49-F238E27FC236}">
                  <a16:creationId xmlns:a16="http://schemas.microsoft.com/office/drawing/2014/main" id="{E023FB00-ED7E-A00A-77AC-1283EE60D6F3}"/>
                </a:ext>
              </a:extLst>
            </p:cNvPr>
            <p:cNvSpPr txBox="1"/>
            <p:nvPr/>
          </p:nvSpPr>
          <p:spPr>
            <a:xfrm>
              <a:off x="6500583" y="2353051"/>
              <a:ext cx="1463862" cy="861774"/>
            </a:xfrm>
            <a:prstGeom prst="rect">
              <a:avLst/>
            </a:prstGeom>
            <a:noFill/>
          </p:spPr>
          <p:txBody>
            <a:bodyPr wrap="none" rtlCol="0">
              <a:spAutoFit/>
            </a:bodyPr>
            <a:lstStyle/>
            <a:p>
              <a:r>
                <a:rPr lang="pt-BR" sz="1000" dirty="0"/>
                <a:t>Decisão tempo real</a:t>
              </a:r>
            </a:p>
            <a:p>
              <a:r>
                <a:rPr lang="pt-BR" sz="1000" dirty="0"/>
                <a:t>Game com IA</a:t>
              </a:r>
            </a:p>
            <a:p>
              <a:r>
                <a:rPr lang="pt-BR" sz="1000" dirty="0"/>
                <a:t>Aprendizado de tarefas</a:t>
              </a:r>
            </a:p>
            <a:p>
              <a:r>
                <a:rPr lang="pt-BR" sz="1000" dirty="0"/>
                <a:t>Aquisição de habilidades</a:t>
              </a:r>
            </a:p>
            <a:p>
              <a:r>
                <a:rPr lang="pt-BR" sz="1000" dirty="0"/>
                <a:t>Navegação com robô  </a:t>
              </a:r>
            </a:p>
          </p:txBody>
        </p:sp>
        <p:sp>
          <p:nvSpPr>
            <p:cNvPr id="12" name="CaixaDeTexto 11">
              <a:extLst>
                <a:ext uri="{FF2B5EF4-FFF2-40B4-BE49-F238E27FC236}">
                  <a16:creationId xmlns:a16="http://schemas.microsoft.com/office/drawing/2014/main" id="{15555439-F72B-00A0-E38B-1E7CCC37E183}"/>
                </a:ext>
              </a:extLst>
            </p:cNvPr>
            <p:cNvSpPr txBox="1"/>
            <p:nvPr/>
          </p:nvSpPr>
          <p:spPr>
            <a:xfrm>
              <a:off x="7421732" y="389897"/>
              <a:ext cx="3400290" cy="246221"/>
            </a:xfrm>
            <a:prstGeom prst="rect">
              <a:avLst/>
            </a:prstGeom>
            <a:noFill/>
          </p:spPr>
          <p:txBody>
            <a:bodyPr wrap="none" rtlCol="0">
              <a:spAutoFit/>
            </a:bodyPr>
            <a:lstStyle/>
            <a:p>
              <a:r>
                <a:rPr lang="pt-BR" sz="1000" dirty="0"/>
                <a:t>Segmentar por cliente, Mercado alvo e Sistema recomendado.</a:t>
              </a:r>
            </a:p>
          </p:txBody>
        </p:sp>
        <p:sp>
          <p:nvSpPr>
            <p:cNvPr id="13" name="Retângulo: Cantos Arredondados 12">
              <a:extLst>
                <a:ext uri="{FF2B5EF4-FFF2-40B4-BE49-F238E27FC236}">
                  <a16:creationId xmlns:a16="http://schemas.microsoft.com/office/drawing/2014/main" id="{DE06AEAC-2A69-DD18-3914-CC6AA2BAD276}"/>
                </a:ext>
              </a:extLst>
            </p:cNvPr>
            <p:cNvSpPr/>
            <p:nvPr/>
          </p:nvSpPr>
          <p:spPr>
            <a:xfrm>
              <a:off x="6500583" y="413458"/>
              <a:ext cx="921149" cy="199101"/>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b="1" dirty="0" err="1">
                  <a:solidFill>
                    <a:schemeClr val="tx1"/>
                  </a:solidFill>
                </a:rPr>
                <a:t>Clustering</a:t>
              </a:r>
              <a:r>
                <a:rPr lang="pt-BR" sz="1200" b="1" dirty="0">
                  <a:solidFill>
                    <a:schemeClr val="tx1"/>
                  </a:solidFill>
                </a:rPr>
                <a:t> </a:t>
              </a:r>
            </a:p>
          </p:txBody>
        </p:sp>
        <p:sp>
          <p:nvSpPr>
            <p:cNvPr id="14" name="Retângulo: Cantos Arredondados 13">
              <a:extLst>
                <a:ext uri="{FF2B5EF4-FFF2-40B4-BE49-F238E27FC236}">
                  <a16:creationId xmlns:a16="http://schemas.microsoft.com/office/drawing/2014/main" id="{0311BFCA-3CE0-B1E3-4987-977E051F8D35}"/>
                </a:ext>
              </a:extLst>
            </p:cNvPr>
            <p:cNvSpPr/>
            <p:nvPr/>
          </p:nvSpPr>
          <p:spPr>
            <a:xfrm>
              <a:off x="6500583" y="679139"/>
              <a:ext cx="921149" cy="162664"/>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b="1" dirty="0" err="1">
                  <a:solidFill>
                    <a:schemeClr val="tx1"/>
                  </a:solidFill>
                </a:rPr>
                <a:t>Reduction</a:t>
              </a:r>
              <a:endParaRPr lang="pt-BR" sz="1200" b="1" dirty="0">
                <a:solidFill>
                  <a:schemeClr val="tx1"/>
                </a:solidFill>
              </a:endParaRPr>
            </a:p>
          </p:txBody>
        </p:sp>
        <p:sp>
          <p:nvSpPr>
            <p:cNvPr id="15" name="CaixaDeTexto 14">
              <a:extLst>
                <a:ext uri="{FF2B5EF4-FFF2-40B4-BE49-F238E27FC236}">
                  <a16:creationId xmlns:a16="http://schemas.microsoft.com/office/drawing/2014/main" id="{0EFD58B1-9203-4F9F-06F5-2E30E0EA7966}"/>
                </a:ext>
              </a:extLst>
            </p:cNvPr>
            <p:cNvSpPr txBox="1"/>
            <p:nvPr/>
          </p:nvSpPr>
          <p:spPr>
            <a:xfrm>
              <a:off x="7405455" y="648831"/>
              <a:ext cx="4481745" cy="400110"/>
            </a:xfrm>
            <a:prstGeom prst="rect">
              <a:avLst/>
            </a:prstGeom>
            <a:noFill/>
          </p:spPr>
          <p:txBody>
            <a:bodyPr wrap="square" rtlCol="0">
              <a:spAutoFit/>
            </a:bodyPr>
            <a:lstStyle/>
            <a:p>
              <a:r>
                <a:rPr lang="pt-BR" sz="1000" dirty="0"/>
                <a:t>Visualização Big Data, compressão significativa, Descoberta de estrutura e Elicitação  de recurso.</a:t>
              </a:r>
            </a:p>
          </p:txBody>
        </p:sp>
        <p:sp>
          <p:nvSpPr>
            <p:cNvPr id="16" name="Retângulo: Cantos Arredondados 15">
              <a:extLst>
                <a:ext uri="{FF2B5EF4-FFF2-40B4-BE49-F238E27FC236}">
                  <a16:creationId xmlns:a16="http://schemas.microsoft.com/office/drawing/2014/main" id="{BA0400CD-B357-D093-B84B-C1FADD3A0CBE}"/>
                </a:ext>
              </a:extLst>
            </p:cNvPr>
            <p:cNvSpPr/>
            <p:nvPr/>
          </p:nvSpPr>
          <p:spPr>
            <a:xfrm>
              <a:off x="6500583" y="1509753"/>
              <a:ext cx="1009926" cy="172833"/>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b="1" dirty="0">
                  <a:solidFill>
                    <a:schemeClr val="tx1"/>
                  </a:solidFill>
                </a:rPr>
                <a:t>Classificação</a:t>
              </a:r>
            </a:p>
          </p:txBody>
        </p:sp>
        <p:sp>
          <p:nvSpPr>
            <p:cNvPr id="17" name="Retângulo: Cantos Arredondados 16">
              <a:extLst>
                <a:ext uri="{FF2B5EF4-FFF2-40B4-BE49-F238E27FC236}">
                  <a16:creationId xmlns:a16="http://schemas.microsoft.com/office/drawing/2014/main" id="{755B44B8-5B5C-E33E-7E39-CB7ED34C6114}"/>
                </a:ext>
              </a:extLst>
            </p:cNvPr>
            <p:cNvSpPr/>
            <p:nvPr/>
          </p:nvSpPr>
          <p:spPr>
            <a:xfrm>
              <a:off x="6500583" y="1761156"/>
              <a:ext cx="1009926" cy="172833"/>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b="1" dirty="0">
                  <a:solidFill>
                    <a:schemeClr val="tx1"/>
                  </a:solidFill>
                </a:rPr>
                <a:t>Regressão</a:t>
              </a:r>
            </a:p>
          </p:txBody>
        </p:sp>
        <p:sp>
          <p:nvSpPr>
            <p:cNvPr id="18" name="CaixaDeTexto 17">
              <a:extLst>
                <a:ext uri="{FF2B5EF4-FFF2-40B4-BE49-F238E27FC236}">
                  <a16:creationId xmlns:a16="http://schemas.microsoft.com/office/drawing/2014/main" id="{9787C845-B51F-B1EB-1712-59984AB46ECF}"/>
                </a:ext>
              </a:extLst>
            </p:cNvPr>
            <p:cNvSpPr txBox="1"/>
            <p:nvPr/>
          </p:nvSpPr>
          <p:spPr>
            <a:xfrm>
              <a:off x="7510509" y="1492095"/>
              <a:ext cx="4568879" cy="246221"/>
            </a:xfrm>
            <a:prstGeom prst="rect">
              <a:avLst/>
            </a:prstGeom>
            <a:noFill/>
          </p:spPr>
          <p:txBody>
            <a:bodyPr wrap="none" rtlCol="0">
              <a:spAutoFit/>
            </a:bodyPr>
            <a:lstStyle/>
            <a:p>
              <a:r>
                <a:rPr lang="pt-BR" sz="1000" dirty="0"/>
                <a:t>Detecção de fraudes,  Classificação de imagens, Retenção de clientes e Diagnósticos </a:t>
              </a:r>
            </a:p>
          </p:txBody>
        </p:sp>
        <p:sp>
          <p:nvSpPr>
            <p:cNvPr id="19" name="CaixaDeTexto 18">
              <a:extLst>
                <a:ext uri="{FF2B5EF4-FFF2-40B4-BE49-F238E27FC236}">
                  <a16:creationId xmlns:a16="http://schemas.microsoft.com/office/drawing/2014/main" id="{FC0280FC-8174-ECB1-501E-420B5D0D363D}"/>
                </a:ext>
              </a:extLst>
            </p:cNvPr>
            <p:cNvSpPr txBox="1"/>
            <p:nvPr/>
          </p:nvSpPr>
          <p:spPr>
            <a:xfrm>
              <a:off x="7510509" y="1707424"/>
              <a:ext cx="5249662" cy="400110"/>
            </a:xfrm>
            <a:prstGeom prst="rect">
              <a:avLst/>
            </a:prstGeom>
            <a:noFill/>
          </p:spPr>
          <p:txBody>
            <a:bodyPr wrap="square" rtlCol="0">
              <a:spAutoFit/>
            </a:bodyPr>
            <a:lstStyle/>
            <a:p>
              <a:r>
                <a:rPr lang="pt-BR" sz="1000" dirty="0"/>
                <a:t>Novas percepções, Otimização de processos, Predição e Previsão (</a:t>
              </a:r>
              <a:r>
                <a:rPr lang="pt-BR" sz="1000" b="1" dirty="0"/>
                <a:t>Estatística – </a:t>
              </a:r>
              <a:r>
                <a:rPr lang="pt-BR" sz="1000" b="1" dirty="0">
                  <a:solidFill>
                    <a:schemeClr val="accent1"/>
                  </a:solidFill>
                </a:rPr>
                <a:t>Linear</a:t>
              </a:r>
              <a:r>
                <a:rPr lang="pt-BR" sz="1000" dirty="0"/>
                <a:t> com equação do primeiro grau ou  </a:t>
              </a:r>
              <a:r>
                <a:rPr lang="pt-BR" sz="1000" b="1" dirty="0">
                  <a:solidFill>
                    <a:schemeClr val="accent1"/>
                  </a:solidFill>
                </a:rPr>
                <a:t>Logística</a:t>
              </a:r>
              <a:r>
                <a:rPr lang="pt-BR" sz="1000" dirty="0"/>
                <a:t> com equação de segundo ou maior grau</a:t>
              </a:r>
              <a:r>
                <a:rPr lang="pt-BR" sz="1000" b="1" dirty="0"/>
                <a:t> </a:t>
              </a:r>
              <a:r>
                <a:rPr lang="pt-BR" sz="1000" dirty="0"/>
                <a:t>) </a:t>
              </a:r>
            </a:p>
          </p:txBody>
        </p:sp>
      </p:grpSp>
      <p:sp>
        <p:nvSpPr>
          <p:cNvPr id="21" name="Seta: para a Direita 20">
            <a:extLst>
              <a:ext uri="{FF2B5EF4-FFF2-40B4-BE49-F238E27FC236}">
                <a16:creationId xmlns:a16="http://schemas.microsoft.com/office/drawing/2014/main" id="{3B357DAD-E9B0-A36A-C274-140E14B88ED1}"/>
              </a:ext>
            </a:extLst>
          </p:cNvPr>
          <p:cNvSpPr/>
          <p:nvPr/>
        </p:nvSpPr>
        <p:spPr>
          <a:xfrm>
            <a:off x="1901120" y="1403221"/>
            <a:ext cx="631094" cy="421140"/>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b="1" dirty="0"/>
              <a:t>Aulas</a:t>
            </a:r>
          </a:p>
        </p:txBody>
      </p:sp>
      <p:sp>
        <p:nvSpPr>
          <p:cNvPr id="22" name="CaixaDeTexto 21">
            <a:extLst>
              <a:ext uri="{FF2B5EF4-FFF2-40B4-BE49-F238E27FC236}">
                <a16:creationId xmlns:a16="http://schemas.microsoft.com/office/drawing/2014/main" id="{DCBE88C5-16D0-2F09-CDA7-F71A99DBB32E}"/>
              </a:ext>
            </a:extLst>
          </p:cNvPr>
          <p:cNvSpPr txBox="1"/>
          <p:nvPr/>
        </p:nvSpPr>
        <p:spPr>
          <a:xfrm>
            <a:off x="381740" y="3527355"/>
            <a:ext cx="11647503" cy="2462213"/>
          </a:xfrm>
          <a:prstGeom prst="rect">
            <a:avLst/>
          </a:prstGeom>
          <a:noFill/>
        </p:spPr>
        <p:txBody>
          <a:bodyPr wrap="square" rtlCol="0">
            <a:spAutoFit/>
          </a:bodyPr>
          <a:lstStyle/>
          <a:p>
            <a:r>
              <a:rPr lang="pt-BR" sz="1400" b="1" dirty="0"/>
              <a:t>Machine Learn </a:t>
            </a:r>
            <a:r>
              <a:rPr lang="pt-BR" sz="1400" dirty="0"/>
              <a:t>– O aprendizado de máquina pode ser dividido em diversos </a:t>
            </a:r>
            <a:r>
              <a:rPr lang="pt-BR" sz="1400" b="1" dirty="0"/>
              <a:t>conjuntos de algoritmos</a:t>
            </a:r>
            <a:r>
              <a:rPr lang="pt-BR" sz="1400" dirty="0"/>
              <a:t>, como por exemplo: Support Vector Machines, Regressão Logística, árvores de decisão e Deep Learn.  O Machine Learn está dentro do IA.</a:t>
            </a:r>
          </a:p>
          <a:p>
            <a:r>
              <a:rPr lang="pt-BR" sz="1400" dirty="0"/>
              <a:t>Seleciona o que pode ser </a:t>
            </a:r>
            <a:r>
              <a:rPr lang="pt-BR" sz="1400" b="1" dirty="0"/>
              <a:t>Inteligência Artificial </a:t>
            </a:r>
            <a:r>
              <a:rPr lang="pt-BR" sz="1400" dirty="0"/>
              <a:t>(Sim IA-Não SW programação-ambos se puder ser Sim ou Não)</a:t>
            </a:r>
          </a:p>
          <a:p>
            <a:endParaRPr lang="pt-BR" sz="1400" dirty="0"/>
          </a:p>
          <a:p>
            <a:r>
              <a:rPr lang="pt-BR" sz="1400" dirty="0"/>
              <a:t>1 – </a:t>
            </a:r>
            <a:r>
              <a:rPr lang="pt-BR" sz="1400" b="1" dirty="0"/>
              <a:t>Spreadsheet</a:t>
            </a:r>
            <a:r>
              <a:rPr lang="pt-BR" sz="1400" dirty="0"/>
              <a:t> que calcula  soma e outras pré-definida função   - </a:t>
            </a:r>
            <a:r>
              <a:rPr lang="pt-BR" sz="1400" b="1" dirty="0">
                <a:solidFill>
                  <a:srgbClr val="FF0000"/>
                </a:solidFill>
              </a:rPr>
              <a:t>Não </a:t>
            </a:r>
          </a:p>
          <a:p>
            <a:r>
              <a:rPr lang="pt-BR" sz="1400" dirty="0"/>
              <a:t>2 – Predição do estoque através de uma curva do passado de estoque e preços – </a:t>
            </a:r>
            <a:r>
              <a:rPr lang="pt-BR" sz="1400" b="1" dirty="0"/>
              <a:t>Ambos </a:t>
            </a:r>
            <a:endParaRPr lang="pt-BR" sz="1400" dirty="0"/>
          </a:p>
          <a:p>
            <a:r>
              <a:rPr lang="pt-BR" sz="1400" dirty="0"/>
              <a:t>3 – GPS – sistema para encontrar as rotas rápidas – </a:t>
            </a:r>
            <a:r>
              <a:rPr lang="pt-BR" sz="1400" b="1" dirty="0"/>
              <a:t>Ambos</a:t>
            </a:r>
            <a:r>
              <a:rPr lang="pt-BR" sz="1400" dirty="0"/>
              <a:t>  </a:t>
            </a:r>
          </a:p>
          <a:p>
            <a:r>
              <a:rPr lang="pt-BR" sz="1400" dirty="0"/>
              <a:t>4 – A recomendação de música do </a:t>
            </a:r>
            <a:r>
              <a:rPr lang="pt-BR" sz="1400" dirty="0" err="1"/>
              <a:t>Spotify</a:t>
            </a:r>
            <a:r>
              <a:rPr lang="pt-BR" sz="1400" dirty="0"/>
              <a:t> baseado no que o usuário já ouviu – </a:t>
            </a:r>
            <a:r>
              <a:rPr lang="pt-BR" sz="1400" b="1" dirty="0">
                <a:solidFill>
                  <a:schemeClr val="accent6">
                    <a:lumMod val="75000"/>
                  </a:schemeClr>
                </a:solidFill>
              </a:rPr>
              <a:t>SIM</a:t>
            </a:r>
            <a:r>
              <a:rPr lang="pt-BR" sz="1400" dirty="0"/>
              <a:t> </a:t>
            </a:r>
          </a:p>
          <a:p>
            <a:r>
              <a:rPr lang="pt-BR" sz="1400" dirty="0"/>
              <a:t>5 – Big Data com imagens e vídeo podendo ser acessado por muitos usuários ao mesmo tempo – </a:t>
            </a:r>
            <a:r>
              <a:rPr lang="pt-BR" sz="1400" b="1" dirty="0"/>
              <a:t>Ambos</a:t>
            </a:r>
            <a:r>
              <a:rPr lang="pt-BR" sz="1400" dirty="0"/>
              <a:t>  </a:t>
            </a:r>
          </a:p>
          <a:p>
            <a:r>
              <a:rPr lang="pt-BR" sz="1400" dirty="0"/>
              <a:t>6 – Foto, iluminação , contraste, edição Photoshop – </a:t>
            </a:r>
            <a:r>
              <a:rPr lang="pt-BR" sz="1400" b="1" dirty="0"/>
              <a:t>Ambos</a:t>
            </a:r>
            <a:r>
              <a:rPr lang="pt-BR" sz="1400" dirty="0"/>
              <a:t>   </a:t>
            </a:r>
          </a:p>
          <a:p>
            <a:r>
              <a:rPr lang="pt-BR" sz="1400" dirty="0"/>
              <a:t>7 – Filtro de fotos com aplicação de diferentes estilos e efeitos – </a:t>
            </a:r>
            <a:r>
              <a:rPr lang="pt-BR" sz="1400" b="1" dirty="0">
                <a:solidFill>
                  <a:schemeClr val="accent6">
                    <a:lumMod val="75000"/>
                  </a:schemeClr>
                </a:solidFill>
              </a:rPr>
              <a:t>SIM</a:t>
            </a:r>
            <a:r>
              <a:rPr lang="pt-BR" sz="1400" dirty="0"/>
              <a:t> </a:t>
            </a:r>
          </a:p>
        </p:txBody>
      </p:sp>
    </p:spTree>
    <p:extLst>
      <p:ext uri="{BB962C8B-B14F-4D97-AF65-F5344CB8AC3E}">
        <p14:creationId xmlns:p14="http://schemas.microsoft.com/office/powerpoint/2010/main" val="1276312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Cantos Arredondados 1">
            <a:extLst>
              <a:ext uri="{FF2B5EF4-FFF2-40B4-BE49-F238E27FC236}">
                <a16:creationId xmlns:a16="http://schemas.microsoft.com/office/drawing/2014/main" id="{7742CD43-23C9-C863-D0F4-2F392EFFE28D}"/>
              </a:ext>
            </a:extLst>
          </p:cNvPr>
          <p:cNvSpPr/>
          <p:nvPr/>
        </p:nvSpPr>
        <p:spPr>
          <a:xfrm>
            <a:off x="285765" y="329476"/>
            <a:ext cx="2633615" cy="3269401"/>
          </a:xfrm>
          <a:prstGeom prst="round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CaixaDeTexto 2">
            <a:extLst>
              <a:ext uri="{FF2B5EF4-FFF2-40B4-BE49-F238E27FC236}">
                <a16:creationId xmlns:a16="http://schemas.microsoft.com/office/drawing/2014/main" id="{143ECEFC-121B-9D19-75B9-00F13EC0F1E3}"/>
              </a:ext>
            </a:extLst>
          </p:cNvPr>
          <p:cNvSpPr txBox="1"/>
          <p:nvPr/>
        </p:nvSpPr>
        <p:spPr>
          <a:xfrm>
            <a:off x="605361" y="373617"/>
            <a:ext cx="2244012" cy="461665"/>
          </a:xfrm>
          <a:prstGeom prst="rect">
            <a:avLst/>
          </a:prstGeom>
          <a:noFill/>
        </p:spPr>
        <p:txBody>
          <a:bodyPr wrap="none" rtlCol="0">
            <a:spAutoFit/>
          </a:bodyPr>
          <a:lstStyle/>
          <a:p>
            <a:r>
              <a:rPr lang="pt-BR" sz="1200" b="1" dirty="0"/>
              <a:t>Jupiter Notebook (</a:t>
            </a:r>
            <a:r>
              <a:rPr lang="pt-BR" sz="1000" b="1" dirty="0"/>
              <a:t>células de texto </a:t>
            </a:r>
          </a:p>
          <a:p>
            <a:r>
              <a:rPr lang="pt-BR" sz="1000" b="1" dirty="0"/>
              <a:t>e código </a:t>
            </a:r>
            <a:r>
              <a:rPr lang="pt-BR" sz="1200" b="1" dirty="0"/>
              <a:t>)</a:t>
            </a:r>
          </a:p>
        </p:txBody>
      </p:sp>
      <p:sp>
        <p:nvSpPr>
          <p:cNvPr id="4" name="Balão de Pensamento: Nuvem 3">
            <a:extLst>
              <a:ext uri="{FF2B5EF4-FFF2-40B4-BE49-F238E27FC236}">
                <a16:creationId xmlns:a16="http://schemas.microsoft.com/office/drawing/2014/main" id="{6F3A3E3F-681D-6061-C1DD-BD935D27AA87}"/>
              </a:ext>
            </a:extLst>
          </p:cNvPr>
          <p:cNvSpPr/>
          <p:nvPr/>
        </p:nvSpPr>
        <p:spPr>
          <a:xfrm>
            <a:off x="506027" y="717453"/>
            <a:ext cx="1890944" cy="956189"/>
          </a:xfrm>
          <a:prstGeom prst="cloudCallou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CaixaDeTexto 4">
            <a:extLst>
              <a:ext uri="{FF2B5EF4-FFF2-40B4-BE49-F238E27FC236}">
                <a16:creationId xmlns:a16="http://schemas.microsoft.com/office/drawing/2014/main" id="{DB4BC576-C8AE-82E8-C2B4-18D852E78039}"/>
              </a:ext>
            </a:extLst>
          </p:cNvPr>
          <p:cNvSpPr txBox="1"/>
          <p:nvPr/>
        </p:nvSpPr>
        <p:spPr>
          <a:xfrm>
            <a:off x="790132" y="768822"/>
            <a:ext cx="1322734" cy="461665"/>
          </a:xfrm>
          <a:prstGeom prst="rect">
            <a:avLst/>
          </a:prstGeom>
          <a:noFill/>
        </p:spPr>
        <p:txBody>
          <a:bodyPr wrap="none" rtlCol="0">
            <a:spAutoFit/>
          </a:bodyPr>
          <a:lstStyle/>
          <a:p>
            <a:r>
              <a:rPr lang="pt-BR" sz="1200" dirty="0"/>
              <a:t>Google Notebook </a:t>
            </a:r>
          </a:p>
          <a:p>
            <a:r>
              <a:rPr lang="pt-BR" sz="1200" b="1" dirty="0"/>
              <a:t>COLAB</a:t>
            </a:r>
            <a:r>
              <a:rPr lang="pt-BR" sz="1200" dirty="0"/>
              <a:t> </a:t>
            </a:r>
          </a:p>
        </p:txBody>
      </p:sp>
      <p:pic>
        <p:nvPicPr>
          <p:cNvPr id="7" name="Gráfico 6" descr="Monitor com preenchimento sólido">
            <a:extLst>
              <a:ext uri="{FF2B5EF4-FFF2-40B4-BE49-F238E27FC236}">
                <a16:creationId xmlns:a16="http://schemas.microsoft.com/office/drawing/2014/main" id="{F832C0E8-FBDA-3B23-7740-AA81C2A721D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26095" y="954242"/>
            <a:ext cx="619216" cy="689001"/>
          </a:xfrm>
          <a:prstGeom prst="rect">
            <a:avLst/>
          </a:prstGeom>
        </p:spPr>
      </p:pic>
      <p:pic>
        <p:nvPicPr>
          <p:cNvPr id="9" name="Gráfico 8" descr="Binário com preenchimento sólido">
            <a:extLst>
              <a:ext uri="{FF2B5EF4-FFF2-40B4-BE49-F238E27FC236}">
                <a16:creationId xmlns:a16="http://schemas.microsoft.com/office/drawing/2014/main" id="{E104E3C5-558B-55D4-970B-2E32BEAC07E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V="1">
            <a:off x="1492918" y="1060425"/>
            <a:ext cx="243009" cy="395891"/>
          </a:xfrm>
          <a:prstGeom prst="rect">
            <a:avLst/>
          </a:prstGeom>
        </p:spPr>
      </p:pic>
      <p:sp>
        <p:nvSpPr>
          <p:cNvPr id="11" name="CaixaDeTexto 10">
            <a:extLst>
              <a:ext uri="{FF2B5EF4-FFF2-40B4-BE49-F238E27FC236}">
                <a16:creationId xmlns:a16="http://schemas.microsoft.com/office/drawing/2014/main" id="{FE69A960-FFF1-ADA5-D786-A605F7867661}"/>
              </a:ext>
            </a:extLst>
          </p:cNvPr>
          <p:cNvSpPr txBox="1"/>
          <p:nvPr/>
        </p:nvSpPr>
        <p:spPr>
          <a:xfrm>
            <a:off x="662027" y="1747809"/>
            <a:ext cx="2226892" cy="1277273"/>
          </a:xfrm>
          <a:prstGeom prst="rect">
            <a:avLst/>
          </a:prstGeom>
          <a:noFill/>
        </p:spPr>
        <p:txBody>
          <a:bodyPr wrap="square" rtlCol="0">
            <a:spAutoFit/>
          </a:bodyPr>
          <a:lstStyle/>
          <a:p>
            <a:r>
              <a:rPr lang="pt-BR" sz="1100" dirty="0"/>
              <a:t>Poderoso e Interativo</a:t>
            </a:r>
          </a:p>
          <a:p>
            <a:r>
              <a:rPr lang="pt-BR" sz="1100" dirty="0"/>
              <a:t>Permite relatórios completos</a:t>
            </a:r>
          </a:p>
          <a:p>
            <a:r>
              <a:rPr lang="pt-BR" sz="1100" dirty="0"/>
              <a:t>Download e compartilhável (.ipynb)</a:t>
            </a:r>
          </a:p>
          <a:p>
            <a:endParaRPr lang="pt-BR" sz="1100" dirty="0"/>
          </a:p>
          <a:p>
            <a:r>
              <a:rPr lang="pt-BR" sz="1100" b="1" dirty="0"/>
              <a:t>Simula na nuvem o HW necessário (CPU e GPU)</a:t>
            </a:r>
            <a:r>
              <a:rPr lang="pt-BR" sz="1100" dirty="0"/>
              <a:t>: Grátis limitado ou pago com melhor performance. </a:t>
            </a:r>
          </a:p>
        </p:txBody>
      </p:sp>
      <p:sp>
        <p:nvSpPr>
          <p:cNvPr id="12" name="Seta: para a Direita 11">
            <a:extLst>
              <a:ext uri="{FF2B5EF4-FFF2-40B4-BE49-F238E27FC236}">
                <a16:creationId xmlns:a16="http://schemas.microsoft.com/office/drawing/2014/main" id="{6D94E53C-049D-CE9E-168A-3DA99593024D}"/>
              </a:ext>
            </a:extLst>
          </p:cNvPr>
          <p:cNvSpPr/>
          <p:nvPr/>
        </p:nvSpPr>
        <p:spPr>
          <a:xfrm>
            <a:off x="2849373" y="1056439"/>
            <a:ext cx="666261" cy="79011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CaixaDeTexto 12">
            <a:extLst>
              <a:ext uri="{FF2B5EF4-FFF2-40B4-BE49-F238E27FC236}">
                <a16:creationId xmlns:a16="http://schemas.microsoft.com/office/drawing/2014/main" id="{F639A8F4-F116-9B07-693B-9D8239AE1DE7}"/>
              </a:ext>
            </a:extLst>
          </p:cNvPr>
          <p:cNvSpPr txBox="1"/>
          <p:nvPr/>
        </p:nvSpPr>
        <p:spPr>
          <a:xfrm>
            <a:off x="1282629" y="53991"/>
            <a:ext cx="672877" cy="369332"/>
          </a:xfrm>
          <a:prstGeom prst="rect">
            <a:avLst/>
          </a:prstGeom>
          <a:noFill/>
        </p:spPr>
        <p:txBody>
          <a:bodyPr wrap="none" rtlCol="0">
            <a:spAutoFit/>
          </a:bodyPr>
          <a:lstStyle/>
          <a:p>
            <a:r>
              <a:rPr lang="pt-BR" b="1" dirty="0"/>
              <a:t>Tools</a:t>
            </a:r>
          </a:p>
        </p:txBody>
      </p:sp>
      <p:sp>
        <p:nvSpPr>
          <p:cNvPr id="14" name="Retângulo: Cantos Arredondados 13">
            <a:extLst>
              <a:ext uri="{FF2B5EF4-FFF2-40B4-BE49-F238E27FC236}">
                <a16:creationId xmlns:a16="http://schemas.microsoft.com/office/drawing/2014/main" id="{3680E50E-2ED7-D126-C54E-D5F3628E78B5}"/>
              </a:ext>
            </a:extLst>
          </p:cNvPr>
          <p:cNvSpPr/>
          <p:nvPr/>
        </p:nvSpPr>
        <p:spPr>
          <a:xfrm>
            <a:off x="3450289" y="306334"/>
            <a:ext cx="4177415" cy="386644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CaixaDeTexto 15">
            <a:extLst>
              <a:ext uri="{FF2B5EF4-FFF2-40B4-BE49-F238E27FC236}">
                <a16:creationId xmlns:a16="http://schemas.microsoft.com/office/drawing/2014/main" id="{DFEDFCCE-BDF2-EBA1-B39D-5229844DB652}"/>
              </a:ext>
            </a:extLst>
          </p:cNvPr>
          <p:cNvSpPr txBox="1"/>
          <p:nvPr/>
        </p:nvSpPr>
        <p:spPr>
          <a:xfrm>
            <a:off x="4563558" y="306334"/>
            <a:ext cx="2492285" cy="369332"/>
          </a:xfrm>
          <a:prstGeom prst="rect">
            <a:avLst/>
          </a:prstGeom>
          <a:noFill/>
        </p:spPr>
        <p:txBody>
          <a:bodyPr wrap="none" rtlCol="0">
            <a:spAutoFit/>
          </a:bodyPr>
          <a:lstStyle/>
          <a:p>
            <a:r>
              <a:rPr lang="pt-BR" dirty="0">
                <a:solidFill>
                  <a:schemeClr val="bg1"/>
                </a:solidFill>
              </a:rPr>
              <a:t>Python (</a:t>
            </a:r>
            <a:r>
              <a:rPr lang="pt-BR" sz="1000" dirty="0">
                <a:solidFill>
                  <a:schemeClr val="bg1"/>
                </a:solidFill>
              </a:rPr>
              <a:t>Também existe </a:t>
            </a:r>
            <a:r>
              <a:rPr lang="pt-BR" sz="1200" dirty="0">
                <a:solidFill>
                  <a:schemeClr val="bg1"/>
                </a:solidFill>
              </a:rPr>
              <a:t>o R e Julia</a:t>
            </a:r>
            <a:r>
              <a:rPr lang="pt-BR" dirty="0">
                <a:solidFill>
                  <a:schemeClr val="bg1"/>
                </a:solidFill>
              </a:rPr>
              <a:t>)</a:t>
            </a:r>
          </a:p>
        </p:txBody>
      </p:sp>
      <p:sp>
        <p:nvSpPr>
          <p:cNvPr id="17" name="CaixaDeTexto 16">
            <a:extLst>
              <a:ext uri="{FF2B5EF4-FFF2-40B4-BE49-F238E27FC236}">
                <a16:creationId xmlns:a16="http://schemas.microsoft.com/office/drawing/2014/main" id="{DA03E5CA-A5F2-FBEC-4603-E0898CB3FB8B}"/>
              </a:ext>
            </a:extLst>
          </p:cNvPr>
          <p:cNvSpPr txBox="1"/>
          <p:nvPr/>
        </p:nvSpPr>
        <p:spPr>
          <a:xfrm>
            <a:off x="4355374" y="-34442"/>
            <a:ext cx="2431884" cy="369332"/>
          </a:xfrm>
          <a:prstGeom prst="rect">
            <a:avLst/>
          </a:prstGeom>
          <a:noFill/>
        </p:spPr>
        <p:txBody>
          <a:bodyPr wrap="none" rtlCol="0">
            <a:spAutoFit/>
          </a:bodyPr>
          <a:lstStyle/>
          <a:p>
            <a:r>
              <a:rPr lang="pt-BR" b="1" dirty="0"/>
              <a:t>SW – Interpretado (ML)</a:t>
            </a:r>
          </a:p>
        </p:txBody>
      </p:sp>
      <p:sp>
        <p:nvSpPr>
          <p:cNvPr id="18" name="CaixaDeTexto 17">
            <a:extLst>
              <a:ext uri="{FF2B5EF4-FFF2-40B4-BE49-F238E27FC236}">
                <a16:creationId xmlns:a16="http://schemas.microsoft.com/office/drawing/2014/main" id="{EFF50690-CE51-1A26-0659-0CB206287AF5}"/>
              </a:ext>
            </a:extLst>
          </p:cNvPr>
          <p:cNvSpPr txBox="1"/>
          <p:nvPr/>
        </p:nvSpPr>
        <p:spPr>
          <a:xfrm>
            <a:off x="3491242" y="576830"/>
            <a:ext cx="4153799" cy="3231654"/>
          </a:xfrm>
          <a:prstGeom prst="rect">
            <a:avLst/>
          </a:prstGeom>
          <a:noFill/>
        </p:spPr>
        <p:txBody>
          <a:bodyPr wrap="square" rtlCol="0">
            <a:spAutoFit/>
          </a:bodyPr>
          <a:lstStyle/>
          <a:p>
            <a:r>
              <a:rPr lang="pt-BR" sz="1200" b="1" dirty="0">
                <a:solidFill>
                  <a:srgbClr val="FFFF00"/>
                </a:solidFill>
              </a:rPr>
              <a:t>Comandos</a:t>
            </a:r>
          </a:p>
          <a:p>
            <a:r>
              <a:rPr lang="pt-BR" sz="1200" b="1" dirty="0">
                <a:solidFill>
                  <a:srgbClr val="FFFF00"/>
                </a:solidFill>
              </a:rPr>
              <a:t>Operadores</a:t>
            </a:r>
            <a:endParaRPr lang="pt-BR" sz="1200" b="1" dirty="0">
              <a:solidFill>
                <a:schemeClr val="bg1"/>
              </a:solidFill>
            </a:endParaRPr>
          </a:p>
          <a:p>
            <a:r>
              <a:rPr lang="pt-BR" sz="1200" b="1" dirty="0">
                <a:solidFill>
                  <a:srgbClr val="FFFF00"/>
                </a:solidFill>
              </a:rPr>
              <a:t>Variáveis</a:t>
            </a:r>
          </a:p>
          <a:p>
            <a:endParaRPr lang="pt-BR" sz="1200" b="1" dirty="0">
              <a:solidFill>
                <a:srgbClr val="FFFF00"/>
              </a:solidFill>
            </a:endParaRPr>
          </a:p>
          <a:p>
            <a:r>
              <a:rPr lang="pt-BR" sz="1200" b="1" dirty="0">
                <a:solidFill>
                  <a:srgbClr val="FFFF00"/>
                </a:solidFill>
              </a:rPr>
              <a:t>Dados: </a:t>
            </a:r>
            <a:r>
              <a:rPr lang="pt-BR" sz="1200" b="1" dirty="0" err="1">
                <a:solidFill>
                  <a:schemeClr val="bg1"/>
                </a:solidFill>
              </a:rPr>
              <a:t>bool</a:t>
            </a:r>
            <a:r>
              <a:rPr lang="pt-BR" sz="1200" b="1" dirty="0">
                <a:solidFill>
                  <a:schemeClr val="bg1"/>
                </a:solidFill>
              </a:rPr>
              <a:t>, </a:t>
            </a:r>
            <a:r>
              <a:rPr lang="pt-BR" sz="1200" b="1" dirty="0" err="1">
                <a:solidFill>
                  <a:schemeClr val="bg1"/>
                </a:solidFill>
              </a:rPr>
              <a:t>int</a:t>
            </a:r>
            <a:r>
              <a:rPr lang="pt-BR" sz="1200" b="1" dirty="0">
                <a:solidFill>
                  <a:schemeClr val="bg1"/>
                </a:solidFill>
              </a:rPr>
              <a:t>, </a:t>
            </a:r>
            <a:r>
              <a:rPr lang="pt-BR" sz="1200" b="1" dirty="0" err="1">
                <a:solidFill>
                  <a:schemeClr val="bg1"/>
                </a:solidFill>
              </a:rPr>
              <a:t>float</a:t>
            </a:r>
            <a:r>
              <a:rPr lang="pt-BR" sz="1200" b="1" dirty="0">
                <a:solidFill>
                  <a:schemeClr val="bg1"/>
                </a:solidFill>
              </a:rPr>
              <a:t>, </a:t>
            </a:r>
            <a:r>
              <a:rPr lang="pt-BR" sz="1200" b="1" dirty="0" err="1">
                <a:solidFill>
                  <a:schemeClr val="bg1"/>
                </a:solidFill>
              </a:rPr>
              <a:t>complex</a:t>
            </a:r>
            <a:r>
              <a:rPr lang="pt-BR" sz="1200" b="1" dirty="0">
                <a:solidFill>
                  <a:schemeClr val="bg1"/>
                </a:solidFill>
              </a:rPr>
              <a:t> </a:t>
            </a:r>
            <a:r>
              <a:rPr lang="pt-BR" sz="1200" b="1" dirty="0" err="1">
                <a:solidFill>
                  <a:schemeClr val="bg1"/>
                </a:solidFill>
              </a:rPr>
              <a:t>Bytes,strings</a:t>
            </a:r>
            <a:r>
              <a:rPr lang="pt-BR" sz="1200" b="1" dirty="0">
                <a:solidFill>
                  <a:schemeClr val="bg1"/>
                </a:solidFill>
              </a:rPr>
              <a:t>, </a:t>
            </a:r>
            <a:r>
              <a:rPr lang="pt-BR" sz="1200" b="1" dirty="0" err="1">
                <a:solidFill>
                  <a:schemeClr val="bg1"/>
                </a:solidFill>
              </a:rPr>
              <a:t>bytearray</a:t>
            </a:r>
            <a:r>
              <a:rPr lang="pt-BR" sz="1200" b="1" dirty="0">
                <a:solidFill>
                  <a:schemeClr val="bg1"/>
                </a:solidFill>
              </a:rPr>
              <a:t>, list [], </a:t>
            </a:r>
            <a:r>
              <a:rPr lang="pt-BR" sz="1200" b="1" dirty="0" err="1">
                <a:solidFill>
                  <a:schemeClr val="bg1"/>
                </a:solidFill>
              </a:rPr>
              <a:t>tuple</a:t>
            </a:r>
            <a:r>
              <a:rPr lang="pt-BR" sz="1200" b="1" dirty="0">
                <a:solidFill>
                  <a:schemeClr val="bg1"/>
                </a:solidFill>
              </a:rPr>
              <a:t>(), Range, </a:t>
            </a:r>
            <a:r>
              <a:rPr lang="pt-BR" sz="1200" b="1" dirty="0" err="1">
                <a:solidFill>
                  <a:schemeClr val="bg1"/>
                </a:solidFill>
              </a:rPr>
              <a:t>dict</a:t>
            </a:r>
            <a:r>
              <a:rPr lang="pt-BR" sz="1200" b="1" dirty="0">
                <a:solidFill>
                  <a:schemeClr val="bg1"/>
                </a:solidFill>
              </a:rPr>
              <a:t> {} e set {}</a:t>
            </a:r>
          </a:p>
          <a:p>
            <a:endParaRPr lang="pt-BR" sz="1200" b="1" dirty="0">
              <a:solidFill>
                <a:schemeClr val="bg1"/>
              </a:solidFill>
            </a:endParaRPr>
          </a:p>
          <a:p>
            <a:r>
              <a:rPr lang="pt-BR" sz="1200" b="1" dirty="0">
                <a:solidFill>
                  <a:srgbClr val="FFFF00"/>
                </a:solidFill>
              </a:rPr>
              <a:t>Loops: </a:t>
            </a:r>
            <a:r>
              <a:rPr lang="pt-BR" sz="1200" b="1" dirty="0">
                <a:solidFill>
                  <a:schemeClr val="bg1"/>
                </a:solidFill>
              </a:rPr>
              <a:t>for  i in X / </a:t>
            </a:r>
            <a:r>
              <a:rPr lang="pt-BR" sz="1200" b="1" dirty="0" err="1">
                <a:solidFill>
                  <a:schemeClr val="bg1"/>
                </a:solidFill>
              </a:rPr>
              <a:t>While</a:t>
            </a:r>
            <a:r>
              <a:rPr lang="pt-BR" sz="1200" b="1" dirty="0">
                <a:solidFill>
                  <a:schemeClr val="bg1"/>
                </a:solidFill>
              </a:rPr>
              <a:t> loop</a:t>
            </a:r>
          </a:p>
          <a:p>
            <a:endParaRPr lang="pt-BR" sz="1200" b="1" dirty="0">
              <a:solidFill>
                <a:schemeClr val="bg1"/>
              </a:solidFill>
            </a:endParaRPr>
          </a:p>
          <a:p>
            <a:r>
              <a:rPr lang="pt-BR" sz="1200" b="1" dirty="0">
                <a:solidFill>
                  <a:srgbClr val="FFFF00"/>
                </a:solidFill>
              </a:rPr>
              <a:t>Função:   </a:t>
            </a:r>
            <a:r>
              <a:rPr lang="pt-BR" sz="1200" b="1" dirty="0" err="1">
                <a:solidFill>
                  <a:schemeClr val="bg1"/>
                </a:solidFill>
              </a:rPr>
              <a:t>def</a:t>
            </a:r>
            <a:r>
              <a:rPr lang="pt-BR" sz="1200" b="1" dirty="0">
                <a:solidFill>
                  <a:schemeClr val="bg1"/>
                </a:solidFill>
              </a:rPr>
              <a:t>  / </a:t>
            </a:r>
            <a:r>
              <a:rPr lang="pt-BR" sz="1200" b="1" dirty="0" err="1">
                <a:solidFill>
                  <a:schemeClr val="bg1"/>
                </a:solidFill>
              </a:rPr>
              <a:t>return</a:t>
            </a:r>
            <a:endParaRPr lang="pt-BR" sz="1200" b="1" dirty="0">
              <a:solidFill>
                <a:schemeClr val="bg1"/>
              </a:solidFill>
            </a:endParaRPr>
          </a:p>
          <a:p>
            <a:endParaRPr lang="pt-BR" sz="1200" b="1" dirty="0">
              <a:solidFill>
                <a:schemeClr val="bg1"/>
              </a:solidFill>
            </a:endParaRPr>
          </a:p>
          <a:p>
            <a:r>
              <a:rPr lang="pt-BR" sz="1200" b="1" dirty="0" err="1">
                <a:solidFill>
                  <a:srgbClr val="FFFF00"/>
                </a:solidFill>
              </a:rPr>
              <a:t>Comprehension</a:t>
            </a:r>
            <a:r>
              <a:rPr lang="pt-BR" sz="1200" b="1" dirty="0">
                <a:solidFill>
                  <a:schemeClr val="bg1"/>
                </a:solidFill>
              </a:rPr>
              <a:t> -  Vários comandos na mesma linha</a:t>
            </a:r>
          </a:p>
          <a:p>
            <a:endParaRPr lang="pt-BR" sz="1200" b="1" dirty="0">
              <a:solidFill>
                <a:schemeClr val="bg1"/>
              </a:solidFill>
            </a:endParaRPr>
          </a:p>
          <a:p>
            <a:r>
              <a:rPr lang="pt-BR" sz="1200" b="1" dirty="0">
                <a:solidFill>
                  <a:srgbClr val="FFFF00"/>
                </a:solidFill>
              </a:rPr>
              <a:t>Arquivos</a:t>
            </a:r>
            <a:r>
              <a:rPr lang="pt-BR" sz="1200" b="1" dirty="0">
                <a:solidFill>
                  <a:schemeClr val="bg1"/>
                </a:solidFill>
              </a:rPr>
              <a:t>: leitura/escrita</a:t>
            </a:r>
          </a:p>
          <a:p>
            <a:r>
              <a:rPr lang="pt-BR" sz="1200" b="1" dirty="0">
                <a:solidFill>
                  <a:srgbClr val="FFFF00"/>
                </a:solidFill>
              </a:rPr>
              <a:t>Classes e Objetos</a:t>
            </a:r>
          </a:p>
          <a:p>
            <a:endParaRPr lang="pt-BR" sz="1200" b="1" dirty="0">
              <a:solidFill>
                <a:schemeClr val="bg1"/>
              </a:solidFill>
            </a:endParaRPr>
          </a:p>
          <a:p>
            <a:r>
              <a:rPr lang="pt-BR" sz="1200" b="1" dirty="0">
                <a:solidFill>
                  <a:srgbClr val="FFFF00"/>
                </a:solidFill>
              </a:rPr>
              <a:t>Bibliotecas</a:t>
            </a:r>
          </a:p>
        </p:txBody>
      </p:sp>
      <p:sp>
        <p:nvSpPr>
          <p:cNvPr id="19" name="CaixaDeTexto 18">
            <a:extLst>
              <a:ext uri="{FF2B5EF4-FFF2-40B4-BE49-F238E27FC236}">
                <a16:creationId xmlns:a16="http://schemas.microsoft.com/office/drawing/2014/main" id="{358D220C-D290-A8DC-130F-D9D8D5902B54}"/>
              </a:ext>
            </a:extLst>
          </p:cNvPr>
          <p:cNvSpPr txBox="1"/>
          <p:nvPr/>
        </p:nvSpPr>
        <p:spPr>
          <a:xfrm>
            <a:off x="2067126" y="3966293"/>
            <a:ext cx="2752001" cy="2739211"/>
          </a:xfrm>
          <a:prstGeom prst="rect">
            <a:avLst/>
          </a:prstGeom>
          <a:solidFill>
            <a:schemeClr val="accent5">
              <a:lumMod val="20000"/>
              <a:lumOff val="80000"/>
            </a:schemeClr>
          </a:solidFill>
          <a:ln w="38100">
            <a:solidFill>
              <a:schemeClr val="tx1"/>
            </a:solidFill>
          </a:ln>
        </p:spPr>
        <p:txBody>
          <a:bodyPr wrap="square" rtlCol="0">
            <a:spAutoFit/>
          </a:bodyPr>
          <a:lstStyle/>
          <a:p>
            <a:r>
              <a:rPr lang="pt-BR" sz="1200" b="1" dirty="0"/>
              <a:t>Bibliotecas Python:</a:t>
            </a:r>
          </a:p>
          <a:p>
            <a:endParaRPr lang="pt-BR" sz="1200" dirty="0"/>
          </a:p>
          <a:p>
            <a:r>
              <a:rPr lang="pt-BR" sz="1400" b="1" dirty="0" err="1"/>
              <a:t>Matplotlib</a:t>
            </a:r>
            <a:r>
              <a:rPr lang="pt-BR" sz="1400" b="1" dirty="0"/>
              <a:t> (</a:t>
            </a:r>
            <a:r>
              <a:rPr lang="pt-BR" sz="1400" b="1" dirty="0" err="1"/>
              <a:t>plt</a:t>
            </a:r>
            <a:r>
              <a:rPr lang="pt-BR" sz="1400" b="1" dirty="0"/>
              <a:t>):</a:t>
            </a:r>
          </a:p>
          <a:p>
            <a:r>
              <a:rPr lang="pt-BR" sz="1200" dirty="0"/>
              <a:t>Criar gráficos</a:t>
            </a:r>
          </a:p>
          <a:p>
            <a:r>
              <a:rPr lang="pt-BR" sz="1200" dirty="0" err="1"/>
              <a:t>Subplots</a:t>
            </a:r>
            <a:r>
              <a:rPr lang="pt-BR" sz="1200" dirty="0"/>
              <a:t> -  linha, coluna</a:t>
            </a:r>
          </a:p>
          <a:p>
            <a:r>
              <a:rPr lang="pt-BR" sz="1200" dirty="0" err="1"/>
              <a:t>Multiplas</a:t>
            </a:r>
            <a:r>
              <a:rPr lang="pt-BR" sz="1200" dirty="0"/>
              <a:t> figura</a:t>
            </a:r>
          </a:p>
          <a:p>
            <a:r>
              <a:rPr lang="pt-BR" sz="1200" dirty="0"/>
              <a:t> Texto desenhado</a:t>
            </a:r>
          </a:p>
          <a:p>
            <a:r>
              <a:rPr lang="pt-BR" sz="1200" dirty="0" err="1"/>
              <a:t>Plot</a:t>
            </a:r>
            <a:r>
              <a:rPr lang="pt-BR" sz="1200" dirty="0"/>
              <a:t> 3D, histogramas, etc</a:t>
            </a:r>
          </a:p>
          <a:p>
            <a:r>
              <a:rPr lang="pt-BR" sz="1200" dirty="0"/>
              <a:t>Imagens</a:t>
            </a:r>
          </a:p>
          <a:p>
            <a:r>
              <a:rPr lang="pt-BR" sz="1400" b="1" dirty="0" err="1"/>
              <a:t>Numpy</a:t>
            </a:r>
            <a:r>
              <a:rPr lang="pt-BR" sz="1400" b="1" dirty="0"/>
              <a:t> (</a:t>
            </a:r>
            <a:r>
              <a:rPr lang="pt-BR" sz="1400" b="1" dirty="0" err="1"/>
              <a:t>np</a:t>
            </a:r>
            <a:r>
              <a:rPr lang="pt-BR" sz="1400" b="1" dirty="0"/>
              <a:t>)</a:t>
            </a:r>
            <a:r>
              <a:rPr lang="pt-BR" sz="1400" dirty="0"/>
              <a:t>: </a:t>
            </a:r>
            <a:r>
              <a:rPr lang="pt-BR" sz="1200" dirty="0"/>
              <a:t>objeto </a:t>
            </a:r>
            <a:r>
              <a:rPr lang="pt-BR" sz="1200" dirty="0" err="1"/>
              <a:t>array</a:t>
            </a:r>
            <a:r>
              <a:rPr lang="pt-BR" sz="1200" dirty="0"/>
              <a:t> contínuo e rápido</a:t>
            </a:r>
          </a:p>
          <a:p>
            <a:r>
              <a:rPr lang="pt-BR" sz="1200" dirty="0" err="1"/>
              <a:t>Algebra</a:t>
            </a:r>
            <a:r>
              <a:rPr lang="pt-BR" sz="1200" dirty="0"/>
              <a:t> linear, Fourier e matrizes</a:t>
            </a:r>
          </a:p>
          <a:p>
            <a:r>
              <a:rPr lang="pt-BR" sz="1200" dirty="0"/>
              <a:t>Números </a:t>
            </a:r>
            <a:r>
              <a:rPr lang="pt-BR" sz="1200" dirty="0" err="1"/>
              <a:t>randômetros</a:t>
            </a:r>
            <a:endParaRPr lang="pt-BR" sz="1200" dirty="0"/>
          </a:p>
          <a:p>
            <a:r>
              <a:rPr lang="pt-BR" sz="1200" dirty="0"/>
              <a:t>Matemática e estatística</a:t>
            </a:r>
          </a:p>
        </p:txBody>
      </p:sp>
      <p:sp>
        <p:nvSpPr>
          <p:cNvPr id="20" name="CaixaDeTexto 19">
            <a:extLst>
              <a:ext uri="{FF2B5EF4-FFF2-40B4-BE49-F238E27FC236}">
                <a16:creationId xmlns:a16="http://schemas.microsoft.com/office/drawing/2014/main" id="{8E52A0A0-4B87-89BB-E840-166EAAD9C280}"/>
              </a:ext>
            </a:extLst>
          </p:cNvPr>
          <p:cNvSpPr txBox="1"/>
          <p:nvPr/>
        </p:nvSpPr>
        <p:spPr>
          <a:xfrm>
            <a:off x="4891633" y="3964594"/>
            <a:ext cx="2752001" cy="1969770"/>
          </a:xfrm>
          <a:prstGeom prst="rect">
            <a:avLst/>
          </a:prstGeom>
          <a:solidFill>
            <a:schemeClr val="accent5">
              <a:lumMod val="20000"/>
              <a:lumOff val="80000"/>
            </a:schemeClr>
          </a:solidFill>
          <a:ln w="38100">
            <a:solidFill>
              <a:schemeClr val="tx1"/>
            </a:solidFill>
          </a:ln>
        </p:spPr>
        <p:txBody>
          <a:bodyPr wrap="square" rtlCol="0">
            <a:spAutoFit/>
          </a:bodyPr>
          <a:lstStyle/>
          <a:p>
            <a:r>
              <a:rPr lang="pt-BR" sz="1200" b="1" dirty="0"/>
              <a:t>Bibliotecas Python:</a:t>
            </a:r>
          </a:p>
          <a:p>
            <a:endParaRPr lang="pt-BR" sz="1200" dirty="0"/>
          </a:p>
          <a:p>
            <a:r>
              <a:rPr lang="pt-BR" sz="1400" b="1" dirty="0"/>
              <a:t>Pandas (</a:t>
            </a:r>
            <a:r>
              <a:rPr lang="pt-BR" sz="1400" b="1" dirty="0" err="1"/>
              <a:t>pd</a:t>
            </a:r>
            <a:r>
              <a:rPr lang="pt-BR" sz="1400" b="1" dirty="0"/>
              <a:t>)</a:t>
            </a:r>
            <a:r>
              <a:rPr lang="pt-BR" sz="1400" dirty="0"/>
              <a:t>:</a:t>
            </a:r>
            <a:r>
              <a:rPr lang="pt-BR" sz="1200" dirty="0"/>
              <a:t>Manipulação de dados e análises</a:t>
            </a:r>
          </a:p>
          <a:p>
            <a:r>
              <a:rPr lang="pt-BR" sz="1200" b="1" dirty="0"/>
              <a:t>Series</a:t>
            </a:r>
            <a:r>
              <a:rPr lang="pt-BR" sz="1200" dirty="0"/>
              <a:t>: linhas de dados  (vertical ou horizontal)</a:t>
            </a:r>
          </a:p>
          <a:p>
            <a:r>
              <a:rPr lang="pt-BR" sz="1200" b="1" dirty="0" err="1"/>
              <a:t>Dataframe</a:t>
            </a:r>
            <a:r>
              <a:rPr lang="pt-BR" sz="1200" dirty="0"/>
              <a:t>: Conjunto de series</a:t>
            </a:r>
          </a:p>
          <a:p>
            <a:r>
              <a:rPr lang="pt-BR" sz="1200" b="1" dirty="0" err="1"/>
              <a:t>Panel</a:t>
            </a:r>
            <a:r>
              <a:rPr lang="pt-BR" sz="1200" dirty="0"/>
              <a:t>: </a:t>
            </a:r>
            <a:r>
              <a:rPr lang="pt-BR" sz="1200" dirty="0" err="1"/>
              <a:t>dictionary</a:t>
            </a:r>
            <a:r>
              <a:rPr lang="pt-BR" sz="1200" dirty="0"/>
              <a:t> de </a:t>
            </a:r>
            <a:r>
              <a:rPr lang="pt-BR" sz="1200" dirty="0" err="1"/>
              <a:t>Dataframes</a:t>
            </a:r>
            <a:endParaRPr lang="pt-BR" sz="1200" dirty="0"/>
          </a:p>
          <a:p>
            <a:r>
              <a:rPr lang="pt-BR" sz="1200" dirty="0"/>
              <a:t>Possuí </a:t>
            </a:r>
            <a:r>
              <a:rPr lang="pt-BR" sz="1200" dirty="0" err="1"/>
              <a:t>Matplotlib</a:t>
            </a:r>
            <a:endParaRPr lang="pt-BR" sz="1200" dirty="0"/>
          </a:p>
          <a:p>
            <a:r>
              <a:rPr lang="pt-BR" sz="1200" dirty="0" err="1"/>
              <a:t>Save</a:t>
            </a:r>
            <a:r>
              <a:rPr lang="pt-BR" sz="1200" dirty="0"/>
              <a:t>  (</a:t>
            </a:r>
            <a:r>
              <a:rPr lang="pt-BR" sz="1200" dirty="0" err="1"/>
              <a:t>jason</a:t>
            </a:r>
            <a:r>
              <a:rPr lang="pt-BR" sz="1200" dirty="0"/>
              <a:t>, </a:t>
            </a:r>
            <a:r>
              <a:rPr lang="pt-BR" sz="1200" dirty="0" err="1"/>
              <a:t>html</a:t>
            </a:r>
            <a:r>
              <a:rPr lang="pt-BR" sz="1200" dirty="0"/>
              <a:t>, </a:t>
            </a:r>
            <a:r>
              <a:rPr lang="pt-BR" sz="1200" dirty="0" err="1"/>
              <a:t>excell-csv</a:t>
            </a:r>
            <a:r>
              <a:rPr lang="pt-BR" sz="1200" dirty="0"/>
              <a:t>) e </a:t>
            </a:r>
            <a:r>
              <a:rPr lang="pt-BR" sz="1200" dirty="0" err="1"/>
              <a:t>load</a:t>
            </a:r>
            <a:endParaRPr lang="pt-BR" sz="1200" dirty="0"/>
          </a:p>
        </p:txBody>
      </p:sp>
      <p:sp>
        <p:nvSpPr>
          <p:cNvPr id="22" name="Retângulo 21">
            <a:extLst>
              <a:ext uri="{FF2B5EF4-FFF2-40B4-BE49-F238E27FC236}">
                <a16:creationId xmlns:a16="http://schemas.microsoft.com/office/drawing/2014/main" id="{7B18B951-128B-1013-3834-D8DA6FCDBE15}"/>
              </a:ext>
            </a:extLst>
          </p:cNvPr>
          <p:cNvSpPr/>
          <p:nvPr/>
        </p:nvSpPr>
        <p:spPr>
          <a:xfrm>
            <a:off x="8362765" y="53991"/>
            <a:ext cx="2651688" cy="2123658"/>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3" name="CaixaDeTexto 22">
            <a:extLst>
              <a:ext uri="{FF2B5EF4-FFF2-40B4-BE49-F238E27FC236}">
                <a16:creationId xmlns:a16="http://schemas.microsoft.com/office/drawing/2014/main" id="{AABB3970-4473-2940-6016-081B50AECD66}"/>
              </a:ext>
            </a:extLst>
          </p:cNvPr>
          <p:cNvSpPr txBox="1"/>
          <p:nvPr/>
        </p:nvSpPr>
        <p:spPr>
          <a:xfrm>
            <a:off x="9194613" y="53991"/>
            <a:ext cx="1150123" cy="369332"/>
          </a:xfrm>
          <a:prstGeom prst="rect">
            <a:avLst/>
          </a:prstGeom>
          <a:noFill/>
        </p:spPr>
        <p:txBody>
          <a:bodyPr wrap="none" rtlCol="0">
            <a:spAutoFit/>
          </a:bodyPr>
          <a:lstStyle/>
          <a:p>
            <a:r>
              <a:rPr lang="pt-BR" b="1" dirty="0"/>
              <a:t>Regressão</a:t>
            </a:r>
          </a:p>
        </p:txBody>
      </p:sp>
      <p:sp>
        <p:nvSpPr>
          <p:cNvPr id="24" name="CaixaDeTexto 23">
            <a:extLst>
              <a:ext uri="{FF2B5EF4-FFF2-40B4-BE49-F238E27FC236}">
                <a16:creationId xmlns:a16="http://schemas.microsoft.com/office/drawing/2014/main" id="{E13006D3-F558-BBCC-B8AA-3311C09CBCC9}"/>
              </a:ext>
            </a:extLst>
          </p:cNvPr>
          <p:cNvSpPr txBox="1"/>
          <p:nvPr/>
        </p:nvSpPr>
        <p:spPr>
          <a:xfrm>
            <a:off x="8490221" y="442967"/>
            <a:ext cx="2558906" cy="1754326"/>
          </a:xfrm>
          <a:prstGeom prst="rect">
            <a:avLst/>
          </a:prstGeom>
          <a:noFill/>
        </p:spPr>
        <p:txBody>
          <a:bodyPr wrap="none" rtlCol="0">
            <a:spAutoFit/>
          </a:bodyPr>
          <a:lstStyle/>
          <a:p>
            <a:r>
              <a:rPr lang="pt-BR" sz="1200" b="1" dirty="0"/>
              <a:t>Linear -  </a:t>
            </a:r>
            <a:r>
              <a:rPr lang="pt-BR" sz="1200" dirty="0"/>
              <a:t>uma reta tipo y = </a:t>
            </a:r>
            <a:r>
              <a:rPr lang="pt-BR" sz="1200" dirty="0" err="1"/>
              <a:t>ax+b</a:t>
            </a:r>
            <a:r>
              <a:rPr lang="pt-BR" sz="1200" dirty="0"/>
              <a:t> </a:t>
            </a:r>
          </a:p>
          <a:p>
            <a:r>
              <a:rPr lang="pt-BR" sz="1200" b="1" dirty="0" err="1"/>
              <a:t>Polimonial</a:t>
            </a:r>
            <a:r>
              <a:rPr lang="pt-BR" sz="1200" b="1" dirty="0"/>
              <a:t> – </a:t>
            </a:r>
            <a:r>
              <a:rPr lang="pt-BR" sz="1200" dirty="0"/>
              <a:t>curvas com  X</a:t>
            </a:r>
            <a:r>
              <a:rPr lang="pt-BR" sz="1200" baseline="30000" dirty="0"/>
              <a:t>2</a:t>
            </a:r>
            <a:r>
              <a:rPr lang="pt-BR" sz="1200" dirty="0"/>
              <a:t>, X</a:t>
            </a:r>
            <a:r>
              <a:rPr lang="pt-BR" sz="1200" baseline="30000" dirty="0"/>
              <a:t>3</a:t>
            </a:r>
            <a:r>
              <a:rPr lang="pt-BR" sz="1200" dirty="0"/>
              <a:t>, ...X</a:t>
            </a:r>
            <a:r>
              <a:rPr lang="pt-BR" sz="1200" baseline="30000" dirty="0"/>
              <a:t>n</a:t>
            </a:r>
            <a:r>
              <a:rPr lang="pt-BR" sz="1200" dirty="0"/>
              <a:t>   </a:t>
            </a:r>
          </a:p>
          <a:p>
            <a:r>
              <a:rPr lang="pt-BR" sz="1200" b="1" dirty="0"/>
              <a:t>Erros:</a:t>
            </a:r>
            <a:endParaRPr lang="pt-BR" sz="1200" dirty="0"/>
          </a:p>
          <a:p>
            <a:r>
              <a:rPr lang="pt-BR" sz="1200" dirty="0"/>
              <a:t>Mean Absolute Error (MAE)</a:t>
            </a:r>
          </a:p>
          <a:p>
            <a:r>
              <a:rPr lang="pt-BR" sz="1200" b="1" dirty="0"/>
              <a:t>Mean Squared Error (MSE)</a:t>
            </a:r>
          </a:p>
          <a:p>
            <a:r>
              <a:rPr lang="en-US" sz="1200" dirty="0"/>
              <a:t>Root Mean Squared Error (RMSE)</a:t>
            </a:r>
          </a:p>
          <a:p>
            <a:r>
              <a:rPr lang="pt-BR" sz="1200" dirty="0"/>
              <a:t>Relative Absolute Error (RAE)</a:t>
            </a:r>
          </a:p>
          <a:p>
            <a:r>
              <a:rPr lang="pt-BR" sz="1200" dirty="0"/>
              <a:t>Relative Squared Error (RSE)</a:t>
            </a:r>
          </a:p>
          <a:p>
            <a:r>
              <a:rPr lang="pt-BR" sz="1200" dirty="0"/>
              <a:t>R-</a:t>
            </a:r>
            <a:r>
              <a:rPr lang="pt-BR" sz="1200" dirty="0" err="1"/>
              <a:t>Squared</a:t>
            </a:r>
            <a:r>
              <a:rPr lang="pt-BR" sz="1200" dirty="0"/>
              <a:t> (R2)</a:t>
            </a:r>
          </a:p>
        </p:txBody>
      </p:sp>
      <p:sp>
        <p:nvSpPr>
          <p:cNvPr id="26" name="CaixaDeTexto 25">
            <a:extLst>
              <a:ext uri="{FF2B5EF4-FFF2-40B4-BE49-F238E27FC236}">
                <a16:creationId xmlns:a16="http://schemas.microsoft.com/office/drawing/2014/main" id="{0FBC4F35-1062-3858-91E4-B1986C36472D}"/>
              </a:ext>
            </a:extLst>
          </p:cNvPr>
          <p:cNvSpPr txBox="1"/>
          <p:nvPr/>
        </p:nvSpPr>
        <p:spPr>
          <a:xfrm>
            <a:off x="8373554" y="2239559"/>
            <a:ext cx="3076712" cy="307777"/>
          </a:xfrm>
          <a:prstGeom prst="rect">
            <a:avLst/>
          </a:prstGeom>
          <a:solidFill>
            <a:schemeClr val="tx1"/>
          </a:solidFill>
        </p:spPr>
        <p:txBody>
          <a:bodyPr wrap="square" rtlCol="0">
            <a:spAutoFit/>
          </a:bodyPr>
          <a:lstStyle/>
          <a:p>
            <a:r>
              <a:rPr lang="pt-BR" sz="1400" b="1" dirty="0">
                <a:solidFill>
                  <a:schemeClr val="bg1"/>
                </a:solidFill>
              </a:rPr>
              <a:t>Machine Learn (ML) Supervisionado  </a:t>
            </a:r>
            <a:endParaRPr lang="pt-BR" sz="1400" dirty="0">
              <a:solidFill>
                <a:schemeClr val="bg1"/>
              </a:solidFill>
            </a:endParaRPr>
          </a:p>
        </p:txBody>
      </p:sp>
      <p:pic>
        <p:nvPicPr>
          <p:cNvPr id="28" name="Imagem 27">
            <a:extLst>
              <a:ext uri="{FF2B5EF4-FFF2-40B4-BE49-F238E27FC236}">
                <a16:creationId xmlns:a16="http://schemas.microsoft.com/office/drawing/2014/main" id="{9D66F36D-D1E5-041C-434F-8FC966B74DC0}"/>
              </a:ext>
            </a:extLst>
          </p:cNvPr>
          <p:cNvPicPr>
            <a:picLocks noChangeAspect="1"/>
          </p:cNvPicPr>
          <p:nvPr/>
        </p:nvPicPr>
        <p:blipFill>
          <a:blip r:embed="rId6"/>
          <a:stretch>
            <a:fillRect/>
          </a:stretch>
        </p:blipFill>
        <p:spPr>
          <a:xfrm>
            <a:off x="7870597" y="2546981"/>
            <a:ext cx="4082627" cy="2983656"/>
          </a:xfrm>
          <a:prstGeom prst="rect">
            <a:avLst/>
          </a:prstGeom>
          <a:ln>
            <a:solidFill>
              <a:schemeClr val="tx1"/>
            </a:solidFill>
          </a:ln>
        </p:spPr>
      </p:pic>
      <p:sp>
        <p:nvSpPr>
          <p:cNvPr id="29" name="CaixaDeTexto 28">
            <a:extLst>
              <a:ext uri="{FF2B5EF4-FFF2-40B4-BE49-F238E27FC236}">
                <a16:creationId xmlns:a16="http://schemas.microsoft.com/office/drawing/2014/main" id="{A0C874B9-4CA1-2077-935B-3F3E2B4DD86B}"/>
              </a:ext>
            </a:extLst>
          </p:cNvPr>
          <p:cNvSpPr txBox="1"/>
          <p:nvPr/>
        </p:nvSpPr>
        <p:spPr>
          <a:xfrm>
            <a:off x="7788648" y="5572903"/>
            <a:ext cx="4548365" cy="1231106"/>
          </a:xfrm>
          <a:prstGeom prst="rect">
            <a:avLst/>
          </a:prstGeom>
          <a:noFill/>
        </p:spPr>
        <p:txBody>
          <a:bodyPr wrap="square" rtlCol="0">
            <a:spAutoFit/>
          </a:bodyPr>
          <a:lstStyle/>
          <a:p>
            <a:r>
              <a:rPr lang="pt-BR" sz="1400" dirty="0"/>
              <a:t>Parâmetros = </a:t>
            </a:r>
            <a:r>
              <a:rPr lang="pt-BR" sz="1400" dirty="0">
                <a:latin typeface="Arial" panose="020B0604020202020204" pitchFamily="34" charset="0"/>
                <a:cs typeface="Arial" panose="020B0604020202020204" pitchFamily="34" charset="0"/>
              </a:rPr>
              <a:t>Ꝋ</a:t>
            </a:r>
            <a:r>
              <a:rPr lang="pt-BR" sz="1400" baseline="-25000" dirty="0">
                <a:latin typeface="Arial" panose="020B0604020202020204" pitchFamily="34" charset="0"/>
                <a:cs typeface="Arial" panose="020B0604020202020204" pitchFamily="34" charset="0"/>
              </a:rPr>
              <a:t>0</a:t>
            </a:r>
            <a:r>
              <a:rPr lang="pt-BR" sz="1400" dirty="0">
                <a:latin typeface="Arial" panose="020B0604020202020204" pitchFamily="34" charset="0"/>
                <a:cs typeface="Arial" panose="020B0604020202020204" pitchFamily="34" charset="0"/>
              </a:rPr>
              <a:t> e Ꝋ</a:t>
            </a:r>
            <a:r>
              <a:rPr lang="pt-BR" sz="1400" baseline="-25000" dirty="0">
                <a:latin typeface="Arial" panose="020B0604020202020204" pitchFamily="34" charset="0"/>
                <a:cs typeface="Arial" panose="020B0604020202020204" pitchFamily="34" charset="0"/>
              </a:rPr>
              <a:t>1</a:t>
            </a:r>
            <a:r>
              <a:rPr lang="pt-BR" sz="1400" dirty="0">
                <a:latin typeface="Arial" panose="020B0604020202020204" pitchFamily="34" charset="0"/>
                <a:cs typeface="Arial" panose="020B0604020202020204" pitchFamily="34" charset="0"/>
              </a:rPr>
              <a:t> </a:t>
            </a:r>
          </a:p>
          <a:p>
            <a:r>
              <a:rPr lang="pt-BR" sz="1200" dirty="0">
                <a:latin typeface="Arial" panose="020B0604020202020204" pitchFamily="34" charset="0"/>
                <a:cs typeface="Arial" panose="020B0604020202020204" pitchFamily="34" charset="0"/>
              </a:rPr>
              <a:t>Função </a:t>
            </a:r>
            <a:r>
              <a:rPr lang="pt-BR" sz="1200" dirty="0" err="1">
                <a:latin typeface="Arial" panose="020B0604020202020204" pitchFamily="34" charset="0"/>
                <a:cs typeface="Arial" panose="020B0604020202020204" pitchFamily="34" charset="0"/>
              </a:rPr>
              <a:t>cost</a:t>
            </a:r>
            <a:r>
              <a:rPr lang="pt-BR" sz="1200" dirty="0">
                <a:latin typeface="Arial" panose="020B0604020202020204" pitchFamily="34" charset="0"/>
                <a:cs typeface="Arial" panose="020B0604020202020204" pitchFamily="34" charset="0"/>
              </a:rPr>
              <a:t> = Erros &gt; busca o valor mínimo da curva – </a:t>
            </a:r>
            <a:r>
              <a:rPr lang="pt-BR" sz="1200" b="1" dirty="0">
                <a:latin typeface="Arial" panose="020B0604020202020204" pitchFamily="34" charset="0"/>
                <a:cs typeface="Arial" panose="020B0604020202020204" pitchFamily="34" charset="0"/>
              </a:rPr>
              <a:t>Gradiente descendente </a:t>
            </a:r>
          </a:p>
          <a:p>
            <a:r>
              <a:rPr lang="pt-BR" sz="1200" dirty="0">
                <a:latin typeface="Arial" panose="020B0604020202020204" pitchFamily="34" charset="0"/>
                <a:cs typeface="Arial" panose="020B0604020202020204" pitchFamily="34" charset="0"/>
              </a:rPr>
              <a:t>Hipótese (h)  - Modelo de IA</a:t>
            </a:r>
          </a:p>
          <a:p>
            <a:r>
              <a:rPr lang="pt-BR" sz="1200" dirty="0">
                <a:latin typeface="Arial" panose="020B0604020202020204" pitchFamily="34" charset="0"/>
                <a:cs typeface="Arial" panose="020B0604020202020204" pitchFamily="34" charset="0"/>
              </a:rPr>
              <a:t>Gradiente = derivada </a:t>
            </a:r>
          </a:p>
          <a:p>
            <a:r>
              <a:rPr lang="pt-BR" sz="1200" dirty="0">
                <a:latin typeface="Arial" panose="020B0604020202020204" pitchFamily="34" charset="0"/>
                <a:cs typeface="Arial" panose="020B0604020202020204" pitchFamily="34" charset="0"/>
              </a:rPr>
              <a:t>Taxa de aprendizado (passos) – (0 a 1) – muito pequeno (</a:t>
            </a:r>
            <a:r>
              <a:rPr lang="el-GR" sz="1200" dirty="0">
                <a:latin typeface="Arial" panose="020B0604020202020204" pitchFamily="34" charset="0"/>
                <a:cs typeface="Arial" panose="020B0604020202020204" pitchFamily="34" charset="0"/>
              </a:rPr>
              <a:t>α</a:t>
            </a:r>
            <a:r>
              <a:rPr lang="pt-BR" sz="1200" dirty="0">
                <a:latin typeface="Arial" panose="020B0604020202020204" pitchFamily="34" charset="0"/>
                <a:cs typeface="Arial" panose="020B0604020202020204" pitchFamily="34" charset="0"/>
              </a:rPr>
              <a:t>)</a:t>
            </a:r>
            <a:endParaRPr lang="pt-BR" sz="1200" dirty="0"/>
          </a:p>
        </p:txBody>
      </p:sp>
      <p:sp>
        <p:nvSpPr>
          <p:cNvPr id="6" name="Seta: para Baixo 5">
            <a:extLst>
              <a:ext uri="{FF2B5EF4-FFF2-40B4-BE49-F238E27FC236}">
                <a16:creationId xmlns:a16="http://schemas.microsoft.com/office/drawing/2014/main" id="{17BBFE48-64E4-66F9-3B7E-439FBEBF2714}"/>
              </a:ext>
            </a:extLst>
          </p:cNvPr>
          <p:cNvSpPr/>
          <p:nvPr/>
        </p:nvSpPr>
        <p:spPr>
          <a:xfrm>
            <a:off x="1451499" y="594805"/>
            <a:ext cx="208625" cy="17913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7" name="CaixaDeTexto 26">
            <a:extLst>
              <a:ext uri="{FF2B5EF4-FFF2-40B4-BE49-F238E27FC236}">
                <a16:creationId xmlns:a16="http://schemas.microsoft.com/office/drawing/2014/main" id="{8079C917-0B86-1795-1741-E4E83E3427AA}"/>
              </a:ext>
            </a:extLst>
          </p:cNvPr>
          <p:cNvSpPr txBox="1"/>
          <p:nvPr/>
        </p:nvSpPr>
        <p:spPr>
          <a:xfrm>
            <a:off x="416139" y="2935132"/>
            <a:ext cx="2503241" cy="707886"/>
          </a:xfrm>
          <a:prstGeom prst="rect">
            <a:avLst/>
          </a:prstGeom>
          <a:noFill/>
        </p:spPr>
        <p:txBody>
          <a:bodyPr wrap="square" rtlCol="0">
            <a:spAutoFit/>
          </a:bodyPr>
          <a:lstStyle/>
          <a:p>
            <a:r>
              <a:rPr lang="pt-BR" sz="1000" b="1" dirty="0">
                <a:latin typeface="Century Gothic" panose="020B0502020202020204" pitchFamily="34" charset="0"/>
              </a:rPr>
              <a:t>Jupiter Notebook </a:t>
            </a:r>
            <a:r>
              <a:rPr lang="pt-BR" sz="1000" dirty="0">
                <a:latin typeface="Century Gothic" panose="020B0502020202020204" pitchFamily="34" charset="0"/>
              </a:rPr>
              <a:t>– computador local (Usa na  Indústria)</a:t>
            </a:r>
          </a:p>
          <a:p>
            <a:r>
              <a:rPr lang="pt-BR" sz="1000" b="1" dirty="0">
                <a:latin typeface="Century Gothic" panose="020B0502020202020204" pitchFamily="34" charset="0"/>
              </a:rPr>
              <a:t>Colab</a:t>
            </a:r>
            <a:r>
              <a:rPr lang="pt-BR" sz="1000" dirty="0">
                <a:latin typeface="Century Gothic" panose="020B0502020202020204" pitchFamily="34" charset="0"/>
              </a:rPr>
              <a:t> – Na nuvem (Internet - Acadêmico)</a:t>
            </a:r>
          </a:p>
        </p:txBody>
      </p:sp>
    </p:spTree>
    <p:extLst>
      <p:ext uri="{BB962C8B-B14F-4D97-AF65-F5344CB8AC3E}">
        <p14:creationId xmlns:p14="http://schemas.microsoft.com/office/powerpoint/2010/main" val="4118043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540EBB12-DD03-A158-EE9E-ACB88D486581}"/>
              </a:ext>
            </a:extLst>
          </p:cNvPr>
          <p:cNvPicPr>
            <a:picLocks noChangeAspect="1"/>
          </p:cNvPicPr>
          <p:nvPr/>
        </p:nvPicPr>
        <p:blipFill>
          <a:blip r:embed="rId2"/>
          <a:stretch>
            <a:fillRect/>
          </a:stretch>
        </p:blipFill>
        <p:spPr>
          <a:xfrm>
            <a:off x="826840" y="176168"/>
            <a:ext cx="1145351" cy="1180270"/>
          </a:xfrm>
          <a:prstGeom prst="rect">
            <a:avLst/>
          </a:prstGeom>
        </p:spPr>
      </p:pic>
      <p:sp>
        <p:nvSpPr>
          <p:cNvPr id="4" name="CaixaDeTexto 3">
            <a:extLst>
              <a:ext uri="{FF2B5EF4-FFF2-40B4-BE49-F238E27FC236}">
                <a16:creationId xmlns:a16="http://schemas.microsoft.com/office/drawing/2014/main" id="{7BBA103E-2CBD-BCD2-5AA3-85A511177B26}"/>
              </a:ext>
            </a:extLst>
          </p:cNvPr>
          <p:cNvSpPr txBox="1"/>
          <p:nvPr/>
        </p:nvSpPr>
        <p:spPr>
          <a:xfrm>
            <a:off x="167780" y="1451296"/>
            <a:ext cx="3045203" cy="1754326"/>
          </a:xfrm>
          <a:prstGeom prst="rect">
            <a:avLst/>
          </a:prstGeom>
          <a:noFill/>
        </p:spPr>
        <p:txBody>
          <a:bodyPr wrap="square" rtlCol="0">
            <a:spAutoFit/>
          </a:bodyPr>
          <a:lstStyle/>
          <a:p>
            <a:pPr marL="171450" indent="-171450">
              <a:buFont typeface="Arial" panose="020B0604020202020204" pitchFamily="34" charset="0"/>
              <a:buChar char="•"/>
            </a:pPr>
            <a:r>
              <a:rPr lang="pt-BR" sz="1200" dirty="0">
                <a:latin typeface="Century Gothic" panose="020B0502020202020204" pitchFamily="34" charset="0"/>
              </a:rPr>
              <a:t>Ambiente Local </a:t>
            </a:r>
          </a:p>
          <a:p>
            <a:pPr marL="171450" indent="-171450">
              <a:buFont typeface="Arial" panose="020B0604020202020204" pitchFamily="34" charset="0"/>
              <a:buChar char="•"/>
            </a:pPr>
            <a:r>
              <a:rPr lang="pt-BR" sz="1200" dirty="0">
                <a:latin typeface="Century Gothic" panose="020B0502020202020204" pitchFamily="34" charset="0"/>
              </a:rPr>
              <a:t>Pode ler dados locais facilmente</a:t>
            </a:r>
          </a:p>
          <a:p>
            <a:pPr marL="171450" indent="-171450">
              <a:buFont typeface="Arial" panose="020B0604020202020204" pitchFamily="34" charset="0"/>
              <a:buChar char="•"/>
            </a:pPr>
            <a:r>
              <a:rPr lang="pt-BR" sz="1200" dirty="0">
                <a:latin typeface="Century Gothic" panose="020B0502020202020204" pitchFamily="34" charset="0"/>
              </a:rPr>
              <a:t>Bibliotecas instaladas pelo usuário</a:t>
            </a:r>
          </a:p>
          <a:p>
            <a:pPr marL="171450" indent="-171450">
              <a:buFont typeface="Arial" panose="020B0604020202020204" pitchFamily="34" charset="0"/>
              <a:buChar char="•"/>
            </a:pPr>
            <a:r>
              <a:rPr lang="pt-BR" sz="1200" dirty="0">
                <a:latin typeface="Century Gothic" panose="020B0502020202020204" pitchFamily="34" charset="0"/>
              </a:rPr>
              <a:t>Velocidade e recurso depende do computador</a:t>
            </a:r>
          </a:p>
          <a:p>
            <a:pPr marL="171450" indent="-171450">
              <a:buFont typeface="Arial" panose="020B0604020202020204" pitchFamily="34" charset="0"/>
              <a:buChar char="•"/>
            </a:pPr>
            <a:r>
              <a:rPr lang="pt-BR" sz="1200" dirty="0">
                <a:latin typeface="Century Gothic" panose="020B0502020202020204" pitchFamily="34" charset="0"/>
              </a:rPr>
              <a:t>Usuários gerenciam seus ambientes</a:t>
            </a:r>
          </a:p>
          <a:p>
            <a:pPr marL="171450" indent="-171450">
              <a:buFont typeface="Arial" panose="020B0604020202020204" pitchFamily="34" charset="0"/>
              <a:buChar char="•"/>
            </a:pPr>
            <a:r>
              <a:rPr lang="pt-BR" sz="1200" dirty="0">
                <a:latin typeface="Century Gothic" panose="020B0502020202020204" pitchFamily="34" charset="0"/>
              </a:rPr>
              <a:t>Você precisa instalar em sua máquina para utilizar</a:t>
            </a:r>
          </a:p>
          <a:p>
            <a:pPr marL="171450" indent="-171450">
              <a:buFont typeface="Arial" panose="020B0604020202020204" pitchFamily="34" charset="0"/>
              <a:buChar char="•"/>
            </a:pPr>
            <a:r>
              <a:rPr lang="pt-BR" sz="1200" dirty="0">
                <a:latin typeface="Century Gothic" panose="020B0502020202020204" pitchFamily="34" charset="0"/>
              </a:rPr>
              <a:t>Usado nas indústrias</a:t>
            </a:r>
          </a:p>
        </p:txBody>
      </p:sp>
      <p:pic>
        <p:nvPicPr>
          <p:cNvPr id="6" name="Imagem 5">
            <a:extLst>
              <a:ext uri="{FF2B5EF4-FFF2-40B4-BE49-F238E27FC236}">
                <a16:creationId xmlns:a16="http://schemas.microsoft.com/office/drawing/2014/main" id="{95BA1205-97E0-CFF0-2630-279027392CB4}"/>
              </a:ext>
            </a:extLst>
          </p:cNvPr>
          <p:cNvPicPr>
            <a:picLocks noChangeAspect="1"/>
          </p:cNvPicPr>
          <p:nvPr/>
        </p:nvPicPr>
        <p:blipFill>
          <a:blip r:embed="rId3"/>
          <a:stretch>
            <a:fillRect/>
          </a:stretch>
        </p:blipFill>
        <p:spPr>
          <a:xfrm>
            <a:off x="3917230" y="440373"/>
            <a:ext cx="1024226" cy="649346"/>
          </a:xfrm>
          <a:prstGeom prst="rect">
            <a:avLst/>
          </a:prstGeom>
        </p:spPr>
      </p:pic>
      <p:sp>
        <p:nvSpPr>
          <p:cNvPr id="7" name="CaixaDeTexto 6">
            <a:extLst>
              <a:ext uri="{FF2B5EF4-FFF2-40B4-BE49-F238E27FC236}">
                <a16:creationId xmlns:a16="http://schemas.microsoft.com/office/drawing/2014/main" id="{2F7ABCE1-2CF4-804D-706E-7AB7A2284221}"/>
              </a:ext>
            </a:extLst>
          </p:cNvPr>
          <p:cNvSpPr txBox="1"/>
          <p:nvPr/>
        </p:nvSpPr>
        <p:spPr>
          <a:xfrm>
            <a:off x="2309091" y="580380"/>
            <a:ext cx="1115113" cy="369332"/>
          </a:xfrm>
          <a:prstGeom prst="rect">
            <a:avLst/>
          </a:prstGeom>
          <a:noFill/>
        </p:spPr>
        <p:txBody>
          <a:bodyPr wrap="none" rtlCol="0">
            <a:spAutoFit/>
          </a:bodyPr>
          <a:lstStyle/>
          <a:p>
            <a:r>
              <a:rPr lang="pt-BR" dirty="0"/>
              <a:t>Notebook</a:t>
            </a:r>
          </a:p>
        </p:txBody>
      </p:sp>
      <p:sp>
        <p:nvSpPr>
          <p:cNvPr id="8" name="CaixaDeTexto 7">
            <a:extLst>
              <a:ext uri="{FF2B5EF4-FFF2-40B4-BE49-F238E27FC236}">
                <a16:creationId xmlns:a16="http://schemas.microsoft.com/office/drawing/2014/main" id="{19F8FAE2-D80A-AD4A-449C-73F1BACAF03B}"/>
              </a:ext>
            </a:extLst>
          </p:cNvPr>
          <p:cNvSpPr txBox="1"/>
          <p:nvPr/>
        </p:nvSpPr>
        <p:spPr>
          <a:xfrm>
            <a:off x="3418854" y="1356438"/>
            <a:ext cx="3231328" cy="1754326"/>
          </a:xfrm>
          <a:prstGeom prst="rect">
            <a:avLst/>
          </a:prstGeom>
          <a:noFill/>
        </p:spPr>
        <p:txBody>
          <a:bodyPr wrap="square" rtlCol="0">
            <a:spAutoFit/>
          </a:bodyPr>
          <a:lstStyle/>
          <a:p>
            <a:pPr marL="171450" indent="-171450">
              <a:buFont typeface="Arial" panose="020B0604020202020204" pitchFamily="34" charset="0"/>
              <a:buChar char="•"/>
            </a:pPr>
            <a:r>
              <a:rPr lang="pt-BR" sz="1200" dirty="0">
                <a:latin typeface="Century Gothic" panose="020B0502020202020204" pitchFamily="34" charset="0"/>
              </a:rPr>
              <a:t>Ambiente cloud da Google (internet)</a:t>
            </a:r>
          </a:p>
          <a:p>
            <a:pPr marL="171450" indent="-171450">
              <a:buFont typeface="Arial" panose="020B0604020202020204" pitchFamily="34" charset="0"/>
              <a:buChar char="•"/>
            </a:pPr>
            <a:r>
              <a:rPr lang="pt-BR" sz="1200" dirty="0">
                <a:latin typeface="Century Gothic" panose="020B0502020202020204" pitchFamily="34" charset="0"/>
              </a:rPr>
              <a:t>Dados no Google drive</a:t>
            </a:r>
          </a:p>
          <a:p>
            <a:pPr marL="171450" indent="-171450">
              <a:buFont typeface="Arial" panose="020B0604020202020204" pitchFamily="34" charset="0"/>
              <a:buChar char="•"/>
            </a:pPr>
            <a:r>
              <a:rPr lang="pt-BR" sz="1200" dirty="0">
                <a:latin typeface="Century Gothic" panose="020B0502020202020204" pitchFamily="34" charset="0"/>
              </a:rPr>
              <a:t>Bibliotecas pré-instaladas</a:t>
            </a:r>
          </a:p>
          <a:p>
            <a:pPr marL="171450" indent="-171450">
              <a:buFont typeface="Arial" panose="020B0604020202020204" pitchFamily="34" charset="0"/>
              <a:buChar char="•"/>
            </a:pPr>
            <a:r>
              <a:rPr lang="pt-BR" sz="1200" dirty="0">
                <a:latin typeface="Century Gothic" panose="020B0502020202020204" pitchFamily="34" charset="0"/>
              </a:rPr>
              <a:t>GPU e TPU disponíveis com certas limitações</a:t>
            </a:r>
          </a:p>
          <a:p>
            <a:pPr marL="171450" indent="-171450">
              <a:buFont typeface="Arial" panose="020B0604020202020204" pitchFamily="34" charset="0"/>
              <a:buChar char="•"/>
            </a:pPr>
            <a:r>
              <a:rPr lang="pt-BR" sz="1200" dirty="0">
                <a:latin typeface="Century Gothic" panose="020B0502020202020204" pitchFamily="34" charset="0"/>
              </a:rPr>
              <a:t>Possui ambiente para colaboração</a:t>
            </a:r>
          </a:p>
          <a:p>
            <a:pPr marL="171450" indent="-171450">
              <a:buFont typeface="Arial" panose="020B0604020202020204" pitchFamily="34" charset="0"/>
              <a:buChar char="•"/>
            </a:pPr>
            <a:r>
              <a:rPr lang="pt-BR" sz="1200" dirty="0">
                <a:latin typeface="Century Gothic" panose="020B0502020202020204" pitchFamily="34" charset="0"/>
              </a:rPr>
              <a:t>Usado através do Browser</a:t>
            </a:r>
          </a:p>
          <a:p>
            <a:pPr marL="171450" indent="-171450">
              <a:buFont typeface="Arial" panose="020B0604020202020204" pitchFamily="34" charset="0"/>
              <a:buChar char="•"/>
            </a:pPr>
            <a:r>
              <a:rPr lang="pt-BR" sz="1200" dirty="0">
                <a:latin typeface="Century Gothic" panose="020B0502020202020204" pitchFamily="34" charset="0"/>
              </a:rPr>
              <a:t>Muito usado academicamente</a:t>
            </a:r>
          </a:p>
          <a:p>
            <a:pPr marL="171450" indent="-171450">
              <a:buFont typeface="Arial" panose="020B0604020202020204" pitchFamily="34" charset="0"/>
              <a:buChar char="•"/>
            </a:pPr>
            <a:endParaRPr lang="pt-BR" sz="1200" dirty="0">
              <a:latin typeface="Century Gothic" panose="020B0502020202020204" pitchFamily="34" charset="0"/>
            </a:endParaRPr>
          </a:p>
        </p:txBody>
      </p:sp>
      <p:pic>
        <p:nvPicPr>
          <p:cNvPr id="12" name="Imagem 11">
            <a:extLst>
              <a:ext uri="{FF2B5EF4-FFF2-40B4-BE49-F238E27FC236}">
                <a16:creationId xmlns:a16="http://schemas.microsoft.com/office/drawing/2014/main" id="{549E091F-DCE2-B294-F7A8-74C5FDE92153}"/>
              </a:ext>
            </a:extLst>
          </p:cNvPr>
          <p:cNvPicPr>
            <a:picLocks noChangeAspect="1"/>
          </p:cNvPicPr>
          <p:nvPr/>
        </p:nvPicPr>
        <p:blipFill>
          <a:blip r:embed="rId4"/>
          <a:stretch>
            <a:fillRect/>
          </a:stretch>
        </p:blipFill>
        <p:spPr>
          <a:xfrm>
            <a:off x="708876" y="3192817"/>
            <a:ext cx="5387124" cy="1008490"/>
          </a:xfrm>
          <a:prstGeom prst="rect">
            <a:avLst/>
          </a:prstGeom>
        </p:spPr>
      </p:pic>
      <p:pic>
        <p:nvPicPr>
          <p:cNvPr id="13" name="Imagem 12">
            <a:extLst>
              <a:ext uri="{FF2B5EF4-FFF2-40B4-BE49-F238E27FC236}">
                <a16:creationId xmlns:a16="http://schemas.microsoft.com/office/drawing/2014/main" id="{FDCBE4B0-8216-07F6-3A4C-AFFC10FF9E63}"/>
              </a:ext>
            </a:extLst>
          </p:cNvPr>
          <p:cNvPicPr>
            <a:picLocks noChangeAspect="1"/>
          </p:cNvPicPr>
          <p:nvPr/>
        </p:nvPicPr>
        <p:blipFill>
          <a:blip r:embed="rId5"/>
          <a:stretch>
            <a:fillRect/>
          </a:stretch>
        </p:blipFill>
        <p:spPr>
          <a:xfrm>
            <a:off x="7510793" y="440373"/>
            <a:ext cx="1338185" cy="670538"/>
          </a:xfrm>
          <a:prstGeom prst="rect">
            <a:avLst/>
          </a:prstGeom>
        </p:spPr>
      </p:pic>
      <p:sp>
        <p:nvSpPr>
          <p:cNvPr id="16" name="Seta: para a Direita 15">
            <a:extLst>
              <a:ext uri="{FF2B5EF4-FFF2-40B4-BE49-F238E27FC236}">
                <a16:creationId xmlns:a16="http://schemas.microsoft.com/office/drawing/2014/main" id="{48BCEB23-B603-2DAB-A425-73C0A7EFF094}"/>
              </a:ext>
            </a:extLst>
          </p:cNvPr>
          <p:cNvSpPr/>
          <p:nvPr/>
        </p:nvSpPr>
        <p:spPr>
          <a:xfrm>
            <a:off x="3493335" y="625039"/>
            <a:ext cx="297107" cy="32467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Seta: para a Esquerda 16">
            <a:extLst>
              <a:ext uri="{FF2B5EF4-FFF2-40B4-BE49-F238E27FC236}">
                <a16:creationId xmlns:a16="http://schemas.microsoft.com/office/drawing/2014/main" id="{62514FAE-FD27-7B3C-6319-19A493A81382}"/>
              </a:ext>
            </a:extLst>
          </p:cNvPr>
          <p:cNvSpPr/>
          <p:nvPr/>
        </p:nvSpPr>
        <p:spPr>
          <a:xfrm>
            <a:off x="1930529" y="625039"/>
            <a:ext cx="336900" cy="345865"/>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CaixaDeTexto 17">
            <a:extLst>
              <a:ext uri="{FF2B5EF4-FFF2-40B4-BE49-F238E27FC236}">
                <a16:creationId xmlns:a16="http://schemas.microsoft.com/office/drawing/2014/main" id="{36EB7632-CCB9-B5F2-1C5C-A25CF195DF5C}"/>
              </a:ext>
            </a:extLst>
          </p:cNvPr>
          <p:cNvSpPr txBox="1"/>
          <p:nvPr/>
        </p:nvSpPr>
        <p:spPr>
          <a:xfrm>
            <a:off x="407054" y="5202217"/>
            <a:ext cx="5742726" cy="276999"/>
          </a:xfrm>
          <a:prstGeom prst="rect">
            <a:avLst/>
          </a:prstGeom>
          <a:solidFill>
            <a:srgbClr val="FFFF00"/>
          </a:solidFill>
        </p:spPr>
        <p:txBody>
          <a:bodyPr wrap="none" rtlCol="0">
            <a:spAutoFit/>
          </a:bodyPr>
          <a:lstStyle/>
          <a:p>
            <a:r>
              <a:rPr lang="pt-BR" sz="1200" dirty="0"/>
              <a:t>Plataformas de trabalho, com ambientes de desenvolvimento e bibliotecas de Phyton.  </a:t>
            </a:r>
          </a:p>
        </p:txBody>
      </p:sp>
      <p:pic>
        <p:nvPicPr>
          <p:cNvPr id="20" name="Imagem 19">
            <a:extLst>
              <a:ext uri="{FF2B5EF4-FFF2-40B4-BE49-F238E27FC236}">
                <a16:creationId xmlns:a16="http://schemas.microsoft.com/office/drawing/2014/main" id="{F7D4D456-EDC7-6A9C-DAF5-34C9536F0EE5}"/>
              </a:ext>
            </a:extLst>
          </p:cNvPr>
          <p:cNvPicPr>
            <a:picLocks noChangeAspect="1"/>
          </p:cNvPicPr>
          <p:nvPr/>
        </p:nvPicPr>
        <p:blipFill>
          <a:blip r:embed="rId6"/>
          <a:stretch>
            <a:fillRect/>
          </a:stretch>
        </p:blipFill>
        <p:spPr>
          <a:xfrm>
            <a:off x="7246025" y="4758610"/>
            <a:ext cx="3205905" cy="1812488"/>
          </a:xfrm>
          <a:prstGeom prst="rect">
            <a:avLst/>
          </a:prstGeom>
        </p:spPr>
      </p:pic>
      <p:pic>
        <p:nvPicPr>
          <p:cNvPr id="22" name="Imagem 21">
            <a:extLst>
              <a:ext uri="{FF2B5EF4-FFF2-40B4-BE49-F238E27FC236}">
                <a16:creationId xmlns:a16="http://schemas.microsoft.com/office/drawing/2014/main" id="{9596636C-11CB-C52A-4745-6825DFE6E490}"/>
              </a:ext>
            </a:extLst>
          </p:cNvPr>
          <p:cNvPicPr>
            <a:picLocks noChangeAspect="1"/>
          </p:cNvPicPr>
          <p:nvPr/>
        </p:nvPicPr>
        <p:blipFill>
          <a:blip r:embed="rId7"/>
          <a:stretch>
            <a:fillRect/>
          </a:stretch>
        </p:blipFill>
        <p:spPr>
          <a:xfrm>
            <a:off x="7256805" y="2695630"/>
            <a:ext cx="3089053" cy="1800127"/>
          </a:xfrm>
          <a:prstGeom prst="rect">
            <a:avLst/>
          </a:prstGeom>
        </p:spPr>
      </p:pic>
      <p:sp>
        <p:nvSpPr>
          <p:cNvPr id="23" name="CaixaDeTexto 22">
            <a:extLst>
              <a:ext uri="{FF2B5EF4-FFF2-40B4-BE49-F238E27FC236}">
                <a16:creationId xmlns:a16="http://schemas.microsoft.com/office/drawing/2014/main" id="{D5A3DBA5-CF96-DBB3-2A11-7D3FA2F5505F}"/>
              </a:ext>
            </a:extLst>
          </p:cNvPr>
          <p:cNvSpPr txBox="1"/>
          <p:nvPr/>
        </p:nvSpPr>
        <p:spPr>
          <a:xfrm>
            <a:off x="7246025" y="4495757"/>
            <a:ext cx="1733295" cy="276999"/>
          </a:xfrm>
          <a:prstGeom prst="rect">
            <a:avLst/>
          </a:prstGeom>
          <a:noFill/>
        </p:spPr>
        <p:txBody>
          <a:bodyPr wrap="none" rtlCol="0">
            <a:spAutoFit/>
          </a:bodyPr>
          <a:lstStyle/>
          <a:p>
            <a:r>
              <a:rPr lang="pt-BR" sz="1200" dirty="0"/>
              <a:t>Ambiente CMD (prompt)</a:t>
            </a:r>
          </a:p>
        </p:txBody>
      </p:sp>
      <p:sp>
        <p:nvSpPr>
          <p:cNvPr id="24" name="CaixaDeTexto 23">
            <a:extLst>
              <a:ext uri="{FF2B5EF4-FFF2-40B4-BE49-F238E27FC236}">
                <a16:creationId xmlns:a16="http://schemas.microsoft.com/office/drawing/2014/main" id="{30A76BEB-44C6-EF9F-E1BB-11061AB437A9}"/>
              </a:ext>
            </a:extLst>
          </p:cNvPr>
          <p:cNvSpPr txBox="1"/>
          <p:nvPr/>
        </p:nvSpPr>
        <p:spPr>
          <a:xfrm>
            <a:off x="7184779" y="6545322"/>
            <a:ext cx="2143023" cy="276999"/>
          </a:xfrm>
          <a:prstGeom prst="rect">
            <a:avLst/>
          </a:prstGeom>
          <a:noFill/>
        </p:spPr>
        <p:txBody>
          <a:bodyPr wrap="none" rtlCol="0">
            <a:spAutoFit/>
          </a:bodyPr>
          <a:lstStyle/>
          <a:p>
            <a:r>
              <a:rPr lang="pt-BR" sz="1200" dirty="0"/>
              <a:t>Ambiente </a:t>
            </a:r>
            <a:r>
              <a:rPr lang="pt-BR" sz="1200" dirty="0" err="1"/>
              <a:t>Navigator</a:t>
            </a:r>
            <a:r>
              <a:rPr lang="pt-BR" sz="1200" dirty="0"/>
              <a:t> (Windows)</a:t>
            </a:r>
          </a:p>
        </p:txBody>
      </p:sp>
      <p:sp>
        <p:nvSpPr>
          <p:cNvPr id="25" name="CaixaDeTexto 24">
            <a:extLst>
              <a:ext uri="{FF2B5EF4-FFF2-40B4-BE49-F238E27FC236}">
                <a16:creationId xmlns:a16="http://schemas.microsoft.com/office/drawing/2014/main" id="{3AC73642-225D-2BEC-B8C1-D269BD0324E9}"/>
              </a:ext>
            </a:extLst>
          </p:cNvPr>
          <p:cNvSpPr txBox="1"/>
          <p:nvPr/>
        </p:nvSpPr>
        <p:spPr>
          <a:xfrm>
            <a:off x="7184778" y="1153531"/>
            <a:ext cx="4292223" cy="1384995"/>
          </a:xfrm>
          <a:prstGeom prst="rect">
            <a:avLst/>
          </a:prstGeom>
          <a:noFill/>
        </p:spPr>
        <p:txBody>
          <a:bodyPr wrap="square" rtlCol="0">
            <a:spAutoFit/>
          </a:bodyPr>
          <a:lstStyle/>
          <a:p>
            <a:pPr marL="171450" indent="-171450">
              <a:buFont typeface="Arial" panose="020B0604020202020204" pitchFamily="34" charset="0"/>
              <a:buChar char="•"/>
            </a:pPr>
            <a:r>
              <a:rPr lang="pt-BR" sz="1200" dirty="0">
                <a:latin typeface="Century Gothic" panose="020B0502020202020204" pitchFamily="34" charset="0"/>
              </a:rPr>
              <a:t>Possuí 2 ambientes (prompt e Windows), pode ser Linux e MACOS.</a:t>
            </a:r>
          </a:p>
          <a:p>
            <a:pPr marL="171450" indent="-171450">
              <a:buFont typeface="Arial" panose="020B0604020202020204" pitchFamily="34" charset="0"/>
              <a:buChar char="•"/>
            </a:pPr>
            <a:r>
              <a:rPr lang="pt-BR" sz="1200" dirty="0">
                <a:latin typeface="Century Gothic" panose="020B0502020202020204" pitchFamily="34" charset="0"/>
              </a:rPr>
              <a:t>Posso criar novos ambientes separáveis entre si</a:t>
            </a:r>
          </a:p>
          <a:p>
            <a:pPr marL="171450" indent="-171450">
              <a:buFont typeface="Arial" panose="020B0604020202020204" pitchFamily="34" charset="0"/>
              <a:buChar char="•"/>
            </a:pPr>
            <a:r>
              <a:rPr lang="pt-BR" sz="1200" dirty="0">
                <a:latin typeface="Century Gothic" panose="020B0502020202020204" pitchFamily="34" charset="0"/>
              </a:rPr>
              <a:t>Um de seus ambientes de desenvolvimento é o </a:t>
            </a:r>
            <a:r>
              <a:rPr lang="pt-BR" sz="1200" dirty="0" err="1">
                <a:latin typeface="Century Gothic" panose="020B0502020202020204" pitchFamily="34" charset="0"/>
              </a:rPr>
              <a:t>Jupyter</a:t>
            </a:r>
            <a:endParaRPr lang="pt-BR" sz="1200" dirty="0">
              <a:latin typeface="Century Gothic" panose="020B0502020202020204" pitchFamily="34" charset="0"/>
            </a:endParaRPr>
          </a:p>
          <a:p>
            <a:pPr marL="171450" indent="-171450">
              <a:buFont typeface="Arial" panose="020B0604020202020204" pitchFamily="34" charset="0"/>
              <a:buChar char="•"/>
            </a:pPr>
            <a:endParaRPr lang="pt-BR" sz="1200" dirty="0">
              <a:latin typeface="Century Gothic" panose="020B0502020202020204" pitchFamily="34" charset="0"/>
            </a:endParaRPr>
          </a:p>
          <a:p>
            <a:pPr marL="171450" indent="-171450">
              <a:buFont typeface="Arial" panose="020B0604020202020204" pitchFamily="34" charset="0"/>
              <a:buChar char="•"/>
            </a:pPr>
            <a:endParaRPr lang="pt-BR" sz="1200" dirty="0">
              <a:latin typeface="Century Gothic" panose="020B0502020202020204" pitchFamily="34" charset="0"/>
            </a:endParaRPr>
          </a:p>
        </p:txBody>
      </p:sp>
      <p:sp>
        <p:nvSpPr>
          <p:cNvPr id="26" name="Retângulo 25">
            <a:extLst>
              <a:ext uri="{FF2B5EF4-FFF2-40B4-BE49-F238E27FC236}">
                <a16:creationId xmlns:a16="http://schemas.microsoft.com/office/drawing/2014/main" id="{3389BD65-1035-8034-8625-CBA5FDCEBE78}"/>
              </a:ext>
            </a:extLst>
          </p:cNvPr>
          <p:cNvSpPr/>
          <p:nvPr/>
        </p:nvSpPr>
        <p:spPr>
          <a:xfrm>
            <a:off x="8041593" y="4772756"/>
            <a:ext cx="807385" cy="85892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767574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16459017-DBE3-DBA4-FDA0-C49369EB1798}"/>
              </a:ext>
            </a:extLst>
          </p:cNvPr>
          <p:cNvPicPr>
            <a:picLocks noChangeAspect="1"/>
          </p:cNvPicPr>
          <p:nvPr/>
        </p:nvPicPr>
        <p:blipFill>
          <a:blip r:embed="rId2"/>
          <a:stretch>
            <a:fillRect/>
          </a:stretch>
        </p:blipFill>
        <p:spPr>
          <a:xfrm>
            <a:off x="87667" y="101954"/>
            <a:ext cx="4133850" cy="2962275"/>
          </a:xfrm>
          <a:prstGeom prst="rect">
            <a:avLst/>
          </a:prstGeom>
          <a:ln w="19050">
            <a:solidFill>
              <a:schemeClr val="tx1"/>
            </a:solidFill>
          </a:ln>
        </p:spPr>
      </p:pic>
      <p:sp>
        <p:nvSpPr>
          <p:cNvPr id="2" name="CaixaDeTexto 1">
            <a:extLst>
              <a:ext uri="{FF2B5EF4-FFF2-40B4-BE49-F238E27FC236}">
                <a16:creationId xmlns:a16="http://schemas.microsoft.com/office/drawing/2014/main" id="{D3571D5E-361D-39A6-D14B-1EC2A8D8FC02}"/>
              </a:ext>
            </a:extLst>
          </p:cNvPr>
          <p:cNvSpPr txBox="1"/>
          <p:nvPr/>
        </p:nvSpPr>
        <p:spPr>
          <a:xfrm>
            <a:off x="4358936" y="101954"/>
            <a:ext cx="7603354" cy="3108543"/>
          </a:xfrm>
          <a:prstGeom prst="rect">
            <a:avLst/>
          </a:prstGeom>
          <a:noFill/>
        </p:spPr>
        <p:txBody>
          <a:bodyPr wrap="square" rtlCol="0">
            <a:spAutoFit/>
          </a:bodyPr>
          <a:lstStyle/>
          <a:p>
            <a:r>
              <a:rPr lang="pt-BR" sz="1600" b="1" dirty="0"/>
              <a:t>Batch</a:t>
            </a:r>
            <a:r>
              <a:rPr lang="pt-BR" dirty="0"/>
              <a:t> – </a:t>
            </a:r>
            <a:r>
              <a:rPr lang="pt-BR" sz="1600" dirty="0"/>
              <a:t>cada interação do Gradiente Descendente (</a:t>
            </a:r>
            <a:r>
              <a:rPr lang="pt-BR" sz="1600" b="1" dirty="0"/>
              <a:t>GD </a:t>
            </a:r>
            <a:r>
              <a:rPr lang="pt-BR" sz="1600" dirty="0"/>
              <a:t>– indica tamanho do passo da derivada) usado em todos os exemplos/amostras de um conjunto de treinamento. </a:t>
            </a:r>
            <a:br>
              <a:rPr lang="pt-BR" sz="1600" dirty="0"/>
            </a:br>
            <a:r>
              <a:rPr lang="pt-BR" sz="1200" i="1" dirty="0"/>
              <a:t>Este passo por ser muito pequeno, demora mais porém encontra os mínimos corretos (tende ao acerto).  </a:t>
            </a:r>
            <a:r>
              <a:rPr lang="pt-BR" sz="1600" dirty="0"/>
              <a:t>  </a:t>
            </a:r>
          </a:p>
          <a:p>
            <a:endParaRPr lang="pt-BR" sz="1600" dirty="0"/>
          </a:p>
          <a:p>
            <a:r>
              <a:rPr lang="pt-BR" sz="1600" b="1" dirty="0"/>
              <a:t>Stochastic Gradient Descent (SGD) </a:t>
            </a:r>
            <a:r>
              <a:rPr lang="pt-BR" sz="1600" dirty="0"/>
              <a:t>– Cada interação do </a:t>
            </a:r>
            <a:r>
              <a:rPr lang="pt-BR" sz="1600" b="1" dirty="0"/>
              <a:t>GD</a:t>
            </a:r>
            <a:r>
              <a:rPr lang="pt-BR" sz="1600" dirty="0"/>
              <a:t> usando apenas 1 exemplo/amostra de um conjunto de treinamento. </a:t>
            </a:r>
            <a:r>
              <a:rPr lang="pt-BR" dirty="0"/>
              <a:t> </a:t>
            </a:r>
          </a:p>
          <a:p>
            <a:r>
              <a:rPr lang="pt-BR" sz="1200" i="1" dirty="0"/>
              <a:t>Este passo por ser muito grande é mais rápido mas pode passar pelo mínimo e não encontrar uma tendência de valor (tende ao erro). </a:t>
            </a:r>
          </a:p>
          <a:p>
            <a:endParaRPr lang="pt-BR" dirty="0"/>
          </a:p>
          <a:p>
            <a:r>
              <a:rPr lang="pt-BR" b="1" dirty="0" err="1"/>
              <a:t>Mini-Batch</a:t>
            </a:r>
            <a:r>
              <a:rPr lang="pt-BR" dirty="0"/>
              <a:t> – cada interação do </a:t>
            </a:r>
            <a:r>
              <a:rPr lang="pt-BR" b="1" dirty="0"/>
              <a:t>GD</a:t>
            </a:r>
            <a:r>
              <a:rPr lang="pt-BR" dirty="0"/>
              <a:t> trainado em</a:t>
            </a:r>
            <a:r>
              <a:rPr lang="pt-BR" b="1" dirty="0"/>
              <a:t> n </a:t>
            </a:r>
            <a:r>
              <a:rPr lang="pt-BR" dirty="0"/>
              <a:t>exemplos/amostras de um conjunto de treinamento. </a:t>
            </a:r>
          </a:p>
          <a:p>
            <a:r>
              <a:rPr lang="pt-BR" sz="1200" i="1" dirty="0"/>
              <a:t>Este passo intermediário pode usar o melhor dos 2 métodos (Batch e Stochastic). </a:t>
            </a:r>
          </a:p>
        </p:txBody>
      </p:sp>
      <p:grpSp>
        <p:nvGrpSpPr>
          <p:cNvPr id="8" name="Agrupar 7">
            <a:extLst>
              <a:ext uri="{FF2B5EF4-FFF2-40B4-BE49-F238E27FC236}">
                <a16:creationId xmlns:a16="http://schemas.microsoft.com/office/drawing/2014/main" id="{8F31E2BC-83B8-39C4-B9BF-3A486EEE368D}"/>
              </a:ext>
            </a:extLst>
          </p:cNvPr>
          <p:cNvGrpSpPr/>
          <p:nvPr/>
        </p:nvGrpSpPr>
        <p:grpSpPr>
          <a:xfrm>
            <a:off x="176444" y="4170150"/>
            <a:ext cx="10991665" cy="1669302"/>
            <a:chOff x="87667" y="4267805"/>
            <a:chExt cx="10991665" cy="1669302"/>
          </a:xfrm>
        </p:grpSpPr>
        <p:pic>
          <p:nvPicPr>
            <p:cNvPr id="7" name="Imagem 6">
              <a:extLst>
                <a:ext uri="{FF2B5EF4-FFF2-40B4-BE49-F238E27FC236}">
                  <a16:creationId xmlns:a16="http://schemas.microsoft.com/office/drawing/2014/main" id="{FB06C049-944A-B7D6-6A97-F79E7BF9B60F}"/>
                </a:ext>
              </a:extLst>
            </p:cNvPr>
            <p:cNvPicPr>
              <a:picLocks noChangeAspect="1"/>
            </p:cNvPicPr>
            <p:nvPr/>
          </p:nvPicPr>
          <p:blipFill>
            <a:blip r:embed="rId3"/>
            <a:stretch>
              <a:fillRect/>
            </a:stretch>
          </p:blipFill>
          <p:spPr>
            <a:xfrm>
              <a:off x="1827461" y="4267805"/>
              <a:ext cx="1350745" cy="526133"/>
            </a:xfrm>
            <a:prstGeom prst="rect">
              <a:avLst/>
            </a:prstGeom>
          </p:spPr>
        </p:pic>
        <p:grpSp>
          <p:nvGrpSpPr>
            <p:cNvPr id="6" name="Agrupar 5">
              <a:extLst>
                <a:ext uri="{FF2B5EF4-FFF2-40B4-BE49-F238E27FC236}">
                  <a16:creationId xmlns:a16="http://schemas.microsoft.com/office/drawing/2014/main" id="{DCC5CCC6-4CB8-BC82-8DE5-9534FEF62F18}"/>
                </a:ext>
              </a:extLst>
            </p:cNvPr>
            <p:cNvGrpSpPr/>
            <p:nvPr/>
          </p:nvGrpSpPr>
          <p:grpSpPr>
            <a:xfrm>
              <a:off x="87667" y="4370031"/>
              <a:ext cx="10991665" cy="1567076"/>
              <a:chOff x="87667" y="3428998"/>
              <a:chExt cx="10991665" cy="1567076"/>
            </a:xfrm>
          </p:grpSpPr>
          <p:sp>
            <p:nvSpPr>
              <p:cNvPr id="4" name="CaixaDeTexto 3">
                <a:extLst>
                  <a:ext uri="{FF2B5EF4-FFF2-40B4-BE49-F238E27FC236}">
                    <a16:creationId xmlns:a16="http://schemas.microsoft.com/office/drawing/2014/main" id="{4353D15F-E19A-3245-910A-CEA9133D6A0D}"/>
                  </a:ext>
                </a:extLst>
              </p:cNvPr>
              <p:cNvSpPr txBox="1"/>
              <p:nvPr/>
            </p:nvSpPr>
            <p:spPr>
              <a:xfrm>
                <a:off x="87667" y="3429000"/>
                <a:ext cx="1833194" cy="276999"/>
              </a:xfrm>
              <a:prstGeom prst="rect">
                <a:avLst/>
              </a:prstGeom>
              <a:noFill/>
            </p:spPr>
            <p:txBody>
              <a:bodyPr wrap="none" rtlCol="0">
                <a:spAutoFit/>
              </a:bodyPr>
              <a:lstStyle/>
              <a:p>
                <a:r>
                  <a:rPr lang="pt-BR" sz="1200" b="1" dirty="0"/>
                  <a:t>Operador Nabla (Vetor) = </a:t>
                </a:r>
              </a:p>
            </p:txBody>
          </p:sp>
          <p:sp>
            <p:nvSpPr>
              <p:cNvPr id="9" name="CaixaDeTexto 8">
                <a:extLst>
                  <a:ext uri="{FF2B5EF4-FFF2-40B4-BE49-F238E27FC236}">
                    <a16:creationId xmlns:a16="http://schemas.microsoft.com/office/drawing/2014/main" id="{CE119164-D5BC-7EA8-D313-9E8D2BA88165}"/>
                  </a:ext>
                </a:extLst>
              </p:cNvPr>
              <p:cNvSpPr txBox="1"/>
              <p:nvPr/>
            </p:nvSpPr>
            <p:spPr>
              <a:xfrm>
                <a:off x="87667" y="3646627"/>
                <a:ext cx="10991665" cy="1323439"/>
              </a:xfrm>
              <a:prstGeom prst="rect">
                <a:avLst/>
              </a:prstGeom>
              <a:noFill/>
            </p:spPr>
            <p:txBody>
              <a:bodyPr wrap="square">
                <a:spAutoFit/>
              </a:bodyPr>
              <a:lstStyle/>
              <a:p>
                <a:pPr algn="l"/>
                <a:endParaRPr lang="pt-BR" sz="1400" b="0" i="0" u="none" strike="noStrike" baseline="0" dirty="0">
                  <a:solidFill>
                    <a:srgbClr val="000000"/>
                  </a:solidFill>
                  <a:latin typeface="Calibri" panose="020F0502020204030204" pitchFamily="34" charset="0"/>
                </a:endParaRPr>
              </a:p>
              <a:p>
                <a:r>
                  <a:rPr lang="pt-BR" sz="1200" b="1" i="0" u="none" strike="noStrike" baseline="0" dirty="0">
                    <a:solidFill>
                      <a:srgbClr val="00B0F0"/>
                    </a:solidFill>
                    <a:latin typeface="Calibri" panose="020F0502020204030204" pitchFamily="34" charset="0"/>
                  </a:rPr>
                  <a:t>Gradiente</a:t>
                </a:r>
                <a:r>
                  <a:rPr lang="pt-BR" sz="1200" dirty="0">
                    <a:solidFill>
                      <a:srgbClr val="00B0F0"/>
                    </a:solidFill>
                    <a:latin typeface="Calibri" panose="020F0502020204030204" pitchFamily="34" charset="0"/>
                  </a:rPr>
                  <a:t>=</a:t>
                </a:r>
                <a:r>
                  <a:rPr lang="pt-BR" sz="1200" b="0" i="0" u="none" strike="noStrike" baseline="0" dirty="0">
                    <a:latin typeface="Calibri" panose="020F0502020204030204" pitchFamily="34" charset="0"/>
                  </a:rPr>
                  <a:t>       </a:t>
                </a:r>
                <a:r>
                  <a:rPr lang="pt-BR" sz="1200" b="1" i="0" u="none" strike="noStrike" baseline="0" dirty="0">
                    <a:latin typeface="Calibri" panose="020F0502020204030204" pitchFamily="34" charset="0"/>
                  </a:rPr>
                  <a:t>f </a:t>
                </a:r>
                <a:r>
                  <a:rPr lang="pt-BR" sz="1200" b="0" i="0" u="none" strike="noStrike" baseline="0" dirty="0">
                    <a:latin typeface="Calibri" panose="020F0502020204030204" pitchFamily="34" charset="0"/>
                  </a:rPr>
                  <a:t>= Usar  Operador Nabla em  uma </a:t>
                </a:r>
                <a:r>
                  <a:rPr lang="pt-BR" sz="1200" b="1" i="0" u="none" strike="noStrike" baseline="0" dirty="0">
                    <a:latin typeface="Calibri" panose="020F0502020204030204" pitchFamily="34" charset="0"/>
                  </a:rPr>
                  <a:t>função escalar </a:t>
                </a:r>
                <a:r>
                  <a:rPr lang="pt-BR" sz="1200" b="0" i="0" u="none" strike="noStrike" baseline="0" dirty="0">
                    <a:latin typeface="Calibri" panose="020F0502020204030204" pitchFamily="34" charset="0"/>
                  </a:rPr>
                  <a:t>para obter uma </a:t>
                </a:r>
                <a:r>
                  <a:rPr lang="pt-BR" sz="1200" b="1" i="0" u="none" strike="noStrike" baseline="0" dirty="0">
                    <a:latin typeface="Calibri" panose="020F0502020204030204" pitchFamily="34" charset="0"/>
                  </a:rPr>
                  <a:t>função vetorial</a:t>
                </a:r>
                <a:r>
                  <a:rPr lang="pt-BR" sz="1200" b="0" i="0" u="none" strike="noStrike" baseline="0" dirty="0">
                    <a:latin typeface="Calibri" panose="020F0502020204030204" pitchFamily="34" charset="0"/>
                  </a:rPr>
                  <a:t>.</a:t>
                </a:r>
                <a:br>
                  <a:rPr lang="pt-BR" sz="1200" b="0" i="0" u="none" strike="noStrike" baseline="0" dirty="0">
                    <a:latin typeface="Calibri" panose="020F0502020204030204" pitchFamily="34" charset="0"/>
                  </a:rPr>
                </a:br>
                <a:endParaRPr lang="pt-BR" sz="1800" b="0" i="0" u="none" strike="noStrike" baseline="0" dirty="0">
                  <a:solidFill>
                    <a:srgbClr val="000000"/>
                  </a:solidFill>
                  <a:latin typeface="Calibri" panose="020F0502020204030204" pitchFamily="34" charset="0"/>
                </a:endParaRPr>
              </a:p>
              <a:p>
                <a:r>
                  <a:rPr lang="pt-BR" sz="1200" b="1" i="0" u="none" strike="noStrike" baseline="0" dirty="0">
                    <a:solidFill>
                      <a:srgbClr val="00B0F0"/>
                    </a:solidFill>
                    <a:latin typeface="Calibri" panose="020F0502020204030204" pitchFamily="34" charset="0"/>
                  </a:rPr>
                  <a:t>Divergente= </a:t>
                </a:r>
                <a:r>
                  <a:rPr lang="pt-BR" sz="1200" b="0" i="0" u="none" strike="noStrike" baseline="0" dirty="0">
                    <a:latin typeface="Calibri" panose="020F0502020204030204" pitchFamily="34" charset="0"/>
                  </a:rPr>
                  <a:t>         . </a:t>
                </a:r>
                <a:r>
                  <a:rPr lang="pt-BR" sz="1200" b="1" i="0" u="none" strike="noStrike" baseline="0" dirty="0">
                    <a:latin typeface="Calibri" panose="020F0502020204030204" pitchFamily="34" charset="0"/>
                  </a:rPr>
                  <a:t>F </a:t>
                </a:r>
                <a:r>
                  <a:rPr lang="pt-BR" sz="1200" b="0" i="0" u="none" strike="noStrike" baseline="0" dirty="0">
                    <a:latin typeface="Calibri" panose="020F0502020204030204" pitchFamily="34" charset="0"/>
                  </a:rPr>
                  <a:t>=  Usar Operador Nabla em uma </a:t>
                </a:r>
                <a:r>
                  <a:rPr lang="pt-BR" sz="1200" b="1" i="0" u="none" strike="noStrike" baseline="0" dirty="0">
                    <a:latin typeface="Calibri" panose="020F0502020204030204" pitchFamily="34" charset="0"/>
                  </a:rPr>
                  <a:t>função vetorial </a:t>
                </a:r>
                <a:r>
                  <a:rPr lang="pt-BR" sz="1200" b="0" i="0" u="none" strike="noStrike" baseline="0" dirty="0">
                    <a:latin typeface="Calibri" panose="020F0502020204030204" pitchFamily="34" charset="0"/>
                  </a:rPr>
                  <a:t>e determina uma </a:t>
                </a:r>
                <a:r>
                  <a:rPr lang="pt-BR" sz="1200" b="1" i="0" u="none" strike="noStrike" baseline="0" dirty="0">
                    <a:latin typeface="Calibri" panose="020F0502020204030204" pitchFamily="34" charset="0"/>
                  </a:rPr>
                  <a:t>função escalar</a:t>
                </a:r>
                <a:r>
                  <a:rPr lang="pt-BR" sz="1200" b="0" i="0" u="none" strike="noStrike" baseline="0" dirty="0">
                    <a:latin typeface="Calibri" panose="020F0502020204030204" pitchFamily="34" charset="0"/>
                  </a:rPr>
                  <a:t>.</a:t>
                </a:r>
              </a:p>
              <a:p>
                <a:endParaRPr lang="pt-BR" sz="1200" dirty="0">
                  <a:latin typeface="Calibri" panose="020F0502020204030204" pitchFamily="34" charset="0"/>
                </a:endParaRPr>
              </a:p>
              <a:p>
                <a:r>
                  <a:rPr lang="pt-BR" sz="1200" b="1" dirty="0">
                    <a:solidFill>
                      <a:srgbClr val="00B0F0"/>
                    </a:solidFill>
                    <a:latin typeface="Calibri" panose="020F0502020204030204" pitchFamily="34" charset="0"/>
                  </a:rPr>
                  <a:t>Rotacional = </a:t>
                </a:r>
                <a:endParaRPr lang="pt-BR" sz="1200" b="1" dirty="0">
                  <a:solidFill>
                    <a:srgbClr val="00B0F0"/>
                  </a:solidFill>
                </a:endParaRPr>
              </a:p>
            </p:txBody>
          </p:sp>
          <p:sp>
            <p:nvSpPr>
              <p:cNvPr id="10" name="CaixaDeTexto 9">
                <a:extLst>
                  <a:ext uri="{FF2B5EF4-FFF2-40B4-BE49-F238E27FC236}">
                    <a16:creationId xmlns:a16="http://schemas.microsoft.com/office/drawing/2014/main" id="{D6D9D306-E062-5DA2-165C-6FDB6A8277C9}"/>
                  </a:ext>
                </a:extLst>
              </p:cNvPr>
              <p:cNvSpPr txBox="1"/>
              <p:nvPr/>
            </p:nvSpPr>
            <p:spPr>
              <a:xfrm>
                <a:off x="3178206" y="3428998"/>
                <a:ext cx="4128502" cy="276999"/>
              </a:xfrm>
              <a:prstGeom prst="rect">
                <a:avLst/>
              </a:prstGeom>
              <a:noFill/>
            </p:spPr>
            <p:txBody>
              <a:bodyPr wrap="none" rtlCol="0">
                <a:spAutoFit/>
              </a:bodyPr>
              <a:lstStyle/>
              <a:p>
                <a:r>
                  <a:rPr lang="pt-BR" sz="1200" dirty="0"/>
                  <a:t>É a derivada parcial em relação aos eixos x, y e z vetorialmente </a:t>
                </a:r>
              </a:p>
            </p:txBody>
          </p:sp>
          <p:grpSp>
            <p:nvGrpSpPr>
              <p:cNvPr id="14" name="Agrupar 13">
                <a:extLst>
                  <a:ext uri="{FF2B5EF4-FFF2-40B4-BE49-F238E27FC236}">
                    <a16:creationId xmlns:a16="http://schemas.microsoft.com/office/drawing/2014/main" id="{39C1E81D-1045-515F-8143-6FEE908391B9}"/>
                  </a:ext>
                </a:extLst>
              </p:cNvPr>
              <p:cNvGrpSpPr/>
              <p:nvPr/>
            </p:nvGrpSpPr>
            <p:grpSpPr>
              <a:xfrm>
                <a:off x="807385" y="3852905"/>
                <a:ext cx="367408" cy="369332"/>
                <a:chOff x="2379400" y="5450889"/>
                <a:chExt cx="367408" cy="369332"/>
              </a:xfrm>
            </p:grpSpPr>
            <p:sp>
              <p:nvSpPr>
                <p:cNvPr id="11" name="CaixaDeTexto 10">
                  <a:extLst>
                    <a:ext uri="{FF2B5EF4-FFF2-40B4-BE49-F238E27FC236}">
                      <a16:creationId xmlns:a16="http://schemas.microsoft.com/office/drawing/2014/main" id="{5BE72FB7-86D3-8255-2951-115AE4A24A49}"/>
                    </a:ext>
                  </a:extLst>
                </p:cNvPr>
                <p:cNvSpPr txBox="1"/>
                <p:nvPr/>
              </p:nvSpPr>
              <p:spPr>
                <a:xfrm rot="10800000">
                  <a:off x="2379400" y="5450889"/>
                  <a:ext cx="367408" cy="369332"/>
                </a:xfrm>
                <a:prstGeom prst="rect">
                  <a:avLst/>
                </a:prstGeom>
                <a:noFill/>
              </p:spPr>
              <p:txBody>
                <a:bodyPr wrap="none" rtlCol="0">
                  <a:spAutoFit/>
                </a:bodyPr>
                <a:lstStyle/>
                <a:p>
                  <a:r>
                    <a:rPr lang="pt-BR" dirty="0"/>
                    <a:t> ∆</a:t>
                  </a:r>
                </a:p>
              </p:txBody>
            </p:sp>
            <p:cxnSp>
              <p:nvCxnSpPr>
                <p:cNvPr id="13" name="Conector de Seta Reta 12">
                  <a:extLst>
                    <a:ext uri="{FF2B5EF4-FFF2-40B4-BE49-F238E27FC236}">
                      <a16:creationId xmlns:a16="http://schemas.microsoft.com/office/drawing/2014/main" id="{81FCE8ED-C804-36E9-9D7B-783CCA3B6CAA}"/>
                    </a:ext>
                  </a:extLst>
                </p:cNvPr>
                <p:cNvCxnSpPr>
                  <a:cxnSpLocks/>
                </p:cNvCxnSpPr>
                <p:nvPr/>
              </p:nvCxnSpPr>
              <p:spPr>
                <a:xfrm>
                  <a:off x="2500958" y="5504157"/>
                  <a:ext cx="15725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2" name="Conector de Seta Reta 21">
                <a:extLst>
                  <a:ext uri="{FF2B5EF4-FFF2-40B4-BE49-F238E27FC236}">
                    <a16:creationId xmlns:a16="http://schemas.microsoft.com/office/drawing/2014/main" id="{B37BFEC4-7ECC-748A-22EA-67167A0F6C95}"/>
                  </a:ext>
                </a:extLst>
              </p:cNvPr>
              <p:cNvCxnSpPr/>
              <p:nvPr/>
            </p:nvCxnSpPr>
            <p:spPr>
              <a:xfrm>
                <a:off x="1334595" y="4360415"/>
                <a:ext cx="12134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3" name="Agrupar 22">
                <a:extLst>
                  <a:ext uri="{FF2B5EF4-FFF2-40B4-BE49-F238E27FC236}">
                    <a16:creationId xmlns:a16="http://schemas.microsoft.com/office/drawing/2014/main" id="{11B1E9B7-613E-ACDF-D526-41E4DF8BFF79}"/>
                  </a:ext>
                </a:extLst>
              </p:cNvPr>
              <p:cNvGrpSpPr/>
              <p:nvPr/>
            </p:nvGrpSpPr>
            <p:grpSpPr>
              <a:xfrm>
                <a:off x="871011" y="4316026"/>
                <a:ext cx="367408" cy="369332"/>
                <a:chOff x="2379400" y="5450889"/>
                <a:chExt cx="367408" cy="369332"/>
              </a:xfrm>
            </p:grpSpPr>
            <p:sp>
              <p:nvSpPr>
                <p:cNvPr id="24" name="CaixaDeTexto 23">
                  <a:extLst>
                    <a:ext uri="{FF2B5EF4-FFF2-40B4-BE49-F238E27FC236}">
                      <a16:creationId xmlns:a16="http://schemas.microsoft.com/office/drawing/2014/main" id="{75575FC8-9A9F-EFB5-2471-3C6EEF06C592}"/>
                    </a:ext>
                  </a:extLst>
                </p:cNvPr>
                <p:cNvSpPr txBox="1"/>
                <p:nvPr/>
              </p:nvSpPr>
              <p:spPr>
                <a:xfrm rot="10800000">
                  <a:off x="2379400" y="5450889"/>
                  <a:ext cx="367408" cy="369332"/>
                </a:xfrm>
                <a:prstGeom prst="rect">
                  <a:avLst/>
                </a:prstGeom>
                <a:noFill/>
              </p:spPr>
              <p:txBody>
                <a:bodyPr wrap="none" rtlCol="0">
                  <a:spAutoFit/>
                </a:bodyPr>
                <a:lstStyle/>
                <a:p>
                  <a:r>
                    <a:rPr lang="pt-BR" dirty="0"/>
                    <a:t> ∆</a:t>
                  </a:r>
                </a:p>
              </p:txBody>
            </p:sp>
            <p:cxnSp>
              <p:nvCxnSpPr>
                <p:cNvPr id="25" name="Conector de Seta Reta 24">
                  <a:extLst>
                    <a:ext uri="{FF2B5EF4-FFF2-40B4-BE49-F238E27FC236}">
                      <a16:creationId xmlns:a16="http://schemas.microsoft.com/office/drawing/2014/main" id="{0687CF73-6BC7-D998-94E9-AECFE19CF1B1}"/>
                    </a:ext>
                  </a:extLst>
                </p:cNvPr>
                <p:cNvCxnSpPr>
                  <a:cxnSpLocks/>
                </p:cNvCxnSpPr>
                <p:nvPr/>
              </p:nvCxnSpPr>
              <p:spPr>
                <a:xfrm>
                  <a:off x="2500958" y="5504157"/>
                  <a:ext cx="15725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6" name="Agrupar 25">
                <a:extLst>
                  <a:ext uri="{FF2B5EF4-FFF2-40B4-BE49-F238E27FC236}">
                    <a16:creationId xmlns:a16="http://schemas.microsoft.com/office/drawing/2014/main" id="{DA784D91-3442-8E0F-A782-2A593843392F}"/>
                  </a:ext>
                </a:extLst>
              </p:cNvPr>
              <p:cNvGrpSpPr/>
              <p:nvPr/>
            </p:nvGrpSpPr>
            <p:grpSpPr>
              <a:xfrm>
                <a:off x="915395" y="4626742"/>
                <a:ext cx="367408" cy="369332"/>
                <a:chOff x="2379400" y="5450889"/>
                <a:chExt cx="367408" cy="369332"/>
              </a:xfrm>
            </p:grpSpPr>
            <p:sp>
              <p:nvSpPr>
                <p:cNvPr id="27" name="CaixaDeTexto 26">
                  <a:extLst>
                    <a:ext uri="{FF2B5EF4-FFF2-40B4-BE49-F238E27FC236}">
                      <a16:creationId xmlns:a16="http://schemas.microsoft.com/office/drawing/2014/main" id="{6DA2F4C4-8E3B-5733-299F-2CE9B0F3AF46}"/>
                    </a:ext>
                  </a:extLst>
                </p:cNvPr>
                <p:cNvSpPr txBox="1"/>
                <p:nvPr/>
              </p:nvSpPr>
              <p:spPr>
                <a:xfrm rot="10800000">
                  <a:off x="2379400" y="5450889"/>
                  <a:ext cx="367408" cy="369332"/>
                </a:xfrm>
                <a:prstGeom prst="rect">
                  <a:avLst/>
                </a:prstGeom>
                <a:noFill/>
              </p:spPr>
              <p:txBody>
                <a:bodyPr wrap="none" rtlCol="0">
                  <a:spAutoFit/>
                </a:bodyPr>
                <a:lstStyle/>
                <a:p>
                  <a:r>
                    <a:rPr lang="pt-BR" dirty="0"/>
                    <a:t> ∆</a:t>
                  </a:r>
                </a:p>
              </p:txBody>
            </p:sp>
            <p:cxnSp>
              <p:nvCxnSpPr>
                <p:cNvPr id="28" name="Conector de Seta Reta 27">
                  <a:extLst>
                    <a:ext uri="{FF2B5EF4-FFF2-40B4-BE49-F238E27FC236}">
                      <a16:creationId xmlns:a16="http://schemas.microsoft.com/office/drawing/2014/main" id="{BBAD234C-B544-0014-F875-BFD9EE80BF7F}"/>
                    </a:ext>
                  </a:extLst>
                </p:cNvPr>
                <p:cNvCxnSpPr>
                  <a:cxnSpLocks/>
                </p:cNvCxnSpPr>
                <p:nvPr/>
              </p:nvCxnSpPr>
              <p:spPr>
                <a:xfrm>
                  <a:off x="2500958" y="5504157"/>
                  <a:ext cx="15725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0" name="CaixaDeTexto 29">
                <a:extLst>
                  <a:ext uri="{FF2B5EF4-FFF2-40B4-BE49-F238E27FC236}">
                    <a16:creationId xmlns:a16="http://schemas.microsoft.com/office/drawing/2014/main" id="{A9C19474-5CFF-A07B-A0FE-8FBB5DA6CBE8}"/>
                  </a:ext>
                </a:extLst>
              </p:cNvPr>
              <p:cNvSpPr txBox="1"/>
              <p:nvPr/>
            </p:nvSpPr>
            <p:spPr>
              <a:xfrm>
                <a:off x="1149824" y="4456645"/>
                <a:ext cx="8169802" cy="492443"/>
              </a:xfrm>
              <a:prstGeom prst="rect">
                <a:avLst/>
              </a:prstGeom>
              <a:noFill/>
            </p:spPr>
            <p:txBody>
              <a:bodyPr wrap="square">
                <a:spAutoFit/>
              </a:bodyPr>
              <a:lstStyle/>
              <a:p>
                <a:pPr algn="l"/>
                <a:endParaRPr lang="pt-BR" sz="1400" b="0" i="0" u="none" strike="noStrike" baseline="0" dirty="0">
                  <a:solidFill>
                    <a:srgbClr val="000000"/>
                  </a:solidFill>
                  <a:latin typeface="Calibri" panose="020F0502020204030204" pitchFamily="34" charset="0"/>
                </a:endParaRPr>
              </a:p>
              <a:p>
                <a:r>
                  <a:rPr lang="pt-BR" sz="1200" b="0" i="0" u="none" strike="noStrike" baseline="0" dirty="0">
                    <a:latin typeface="Calibri" panose="020F0502020204030204" pitchFamily="34" charset="0"/>
                  </a:rPr>
                  <a:t>x </a:t>
                </a:r>
                <a:r>
                  <a:rPr lang="pt-BR" sz="1200" b="1" i="0" u="none" strike="noStrike" baseline="0" dirty="0">
                    <a:latin typeface="Calibri" panose="020F0502020204030204" pitchFamily="34" charset="0"/>
                  </a:rPr>
                  <a:t>F  </a:t>
                </a:r>
                <a:r>
                  <a:rPr lang="pt-BR" sz="1200" b="0" i="0" u="none" strike="noStrike" baseline="0" dirty="0">
                    <a:latin typeface="Calibri" panose="020F0502020204030204" pitchFamily="34" charset="0"/>
                  </a:rPr>
                  <a:t>Usa-se a </a:t>
                </a:r>
                <a:r>
                  <a:rPr lang="pt-BR" sz="1200" b="1" i="0" u="none" strike="noStrike" baseline="0" dirty="0">
                    <a:latin typeface="Calibri" panose="020F0502020204030204" pitchFamily="34" charset="0"/>
                  </a:rPr>
                  <a:t>matriz</a:t>
                </a:r>
                <a:r>
                  <a:rPr lang="pt-BR" sz="1200" b="0" i="0" u="none" strike="noStrike" baseline="0" dirty="0">
                    <a:latin typeface="Calibri" panose="020F0502020204030204" pitchFamily="34" charset="0"/>
                  </a:rPr>
                  <a:t> de vetor de uma </a:t>
                </a:r>
                <a:r>
                  <a:rPr lang="pt-BR" sz="1200" b="1" i="0" u="none" strike="noStrike" baseline="0" dirty="0">
                    <a:latin typeface="Calibri" panose="020F0502020204030204" pitchFamily="34" charset="0"/>
                  </a:rPr>
                  <a:t>função Vetorial </a:t>
                </a:r>
                <a:r>
                  <a:rPr lang="pt-BR" sz="1200" b="0" i="0" u="none" strike="noStrike" baseline="0" dirty="0">
                    <a:latin typeface="Calibri" panose="020F0502020204030204" pitchFamily="34" charset="0"/>
                  </a:rPr>
                  <a:t>gera uma  nova </a:t>
                </a:r>
                <a:r>
                  <a:rPr lang="pt-BR" sz="1200" b="1" i="0" u="none" strike="noStrike" baseline="0" dirty="0">
                    <a:latin typeface="Calibri" panose="020F0502020204030204" pitchFamily="34" charset="0"/>
                  </a:rPr>
                  <a:t>função vetorial</a:t>
                </a:r>
                <a:r>
                  <a:rPr lang="pt-BR" sz="1200" b="0" i="0" u="none" strike="noStrike" baseline="0" dirty="0">
                    <a:latin typeface="Calibri" panose="020F0502020204030204" pitchFamily="34" charset="0"/>
                  </a:rPr>
                  <a:t>.</a:t>
                </a:r>
                <a:endParaRPr lang="pt-BR" sz="1200" dirty="0"/>
              </a:p>
            </p:txBody>
          </p:sp>
          <p:cxnSp>
            <p:nvCxnSpPr>
              <p:cNvPr id="31" name="Conector de Seta Reta 30">
                <a:extLst>
                  <a:ext uri="{FF2B5EF4-FFF2-40B4-BE49-F238E27FC236}">
                    <a16:creationId xmlns:a16="http://schemas.microsoft.com/office/drawing/2014/main" id="{DAB6122E-754B-4660-0A0E-619B142A2BB1}"/>
                  </a:ext>
                </a:extLst>
              </p:cNvPr>
              <p:cNvCxnSpPr/>
              <p:nvPr/>
            </p:nvCxnSpPr>
            <p:spPr>
              <a:xfrm>
                <a:off x="1318316" y="4699247"/>
                <a:ext cx="12134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0008478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454E9422-4F35-3C27-F20B-0269CCD1D662}"/>
              </a:ext>
            </a:extLst>
          </p:cNvPr>
          <p:cNvSpPr/>
          <p:nvPr/>
        </p:nvSpPr>
        <p:spPr>
          <a:xfrm>
            <a:off x="0" y="0"/>
            <a:ext cx="12192000" cy="3018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Regressão Logística</a:t>
            </a:r>
          </a:p>
        </p:txBody>
      </p:sp>
      <p:sp>
        <p:nvSpPr>
          <p:cNvPr id="3" name="CaixaDeTexto 2">
            <a:extLst>
              <a:ext uri="{FF2B5EF4-FFF2-40B4-BE49-F238E27FC236}">
                <a16:creationId xmlns:a16="http://schemas.microsoft.com/office/drawing/2014/main" id="{C5E1A646-A06C-1423-D391-02B6950FE4EB}"/>
              </a:ext>
            </a:extLst>
          </p:cNvPr>
          <p:cNvSpPr txBox="1"/>
          <p:nvPr/>
        </p:nvSpPr>
        <p:spPr>
          <a:xfrm>
            <a:off x="0" y="422583"/>
            <a:ext cx="12192000" cy="1569660"/>
          </a:xfrm>
          <a:prstGeom prst="rect">
            <a:avLst/>
          </a:prstGeom>
          <a:noFill/>
        </p:spPr>
        <p:txBody>
          <a:bodyPr wrap="square" rtlCol="0">
            <a:spAutoFit/>
          </a:bodyPr>
          <a:lstStyle/>
          <a:p>
            <a:pPr marL="285750" indent="-285750">
              <a:buFont typeface="Arial" panose="020B0604020202020204" pitchFamily="34" charset="0"/>
              <a:buChar char="•"/>
            </a:pPr>
            <a:r>
              <a:rPr lang="pt-BR" sz="1200" dirty="0"/>
              <a:t>Necessário ter uma </a:t>
            </a:r>
            <a:r>
              <a:rPr lang="pt-BR" sz="1200" b="1" dirty="0"/>
              <a:t>métrica</a:t>
            </a:r>
            <a:r>
              <a:rPr lang="pt-BR" sz="1200" dirty="0"/>
              <a:t> para dizer se ela é boa ou ruim após aplicado a regressão logística. Um dos métodos é usar os</a:t>
            </a:r>
            <a:r>
              <a:rPr lang="pt-BR" sz="1200" b="1" dirty="0"/>
              <a:t> erros</a:t>
            </a:r>
            <a:r>
              <a:rPr lang="pt-BR" sz="1200" dirty="0"/>
              <a:t>, que  podem ter o nome de </a:t>
            </a:r>
            <a:r>
              <a:rPr lang="pt-BR" sz="1200" b="1" dirty="0"/>
              <a:t>custo</a:t>
            </a:r>
            <a:r>
              <a:rPr lang="pt-BR" sz="1200" dirty="0"/>
              <a:t>. Alguns deles são:</a:t>
            </a:r>
            <a:br>
              <a:rPr lang="pt-BR" sz="1200" dirty="0"/>
            </a:br>
            <a:r>
              <a:rPr lang="pt-BR" sz="1200" dirty="0"/>
              <a:t>Mean Absolute Error (MAE)/ Mean Squared Error (MSE)/Root MSE (RMSE)/Relative Absolute Error (RAE)/Relative Square Erros (RSE)/R-Squared (R</a:t>
            </a:r>
            <a:r>
              <a:rPr lang="pt-BR" sz="1200" baseline="30000" dirty="0"/>
              <a:t>2</a:t>
            </a:r>
            <a:r>
              <a:rPr lang="pt-BR" sz="1200" dirty="0"/>
              <a:t>)</a:t>
            </a:r>
          </a:p>
          <a:p>
            <a:pPr marL="285750" indent="-285750">
              <a:buFont typeface="Arial" panose="020B0604020202020204" pitchFamily="34" charset="0"/>
              <a:buChar char="•"/>
            </a:pPr>
            <a:r>
              <a:rPr lang="pt-BR" sz="1200" dirty="0"/>
              <a:t>Apesar de ser Regressão Logística, porque ela utiliza a </a:t>
            </a:r>
            <a:r>
              <a:rPr lang="pt-BR" sz="1200" b="1" dirty="0"/>
              <a:t>mesma sistemática</a:t>
            </a:r>
            <a:r>
              <a:rPr lang="pt-BR" sz="1200" dirty="0"/>
              <a:t>, será utilizado a</a:t>
            </a:r>
            <a:r>
              <a:rPr lang="pt-BR" sz="1200" b="1" dirty="0"/>
              <a:t> classificação</a:t>
            </a:r>
            <a:r>
              <a:rPr lang="pt-BR" sz="1200" dirty="0"/>
              <a:t>: dividir os dados em </a:t>
            </a:r>
            <a:r>
              <a:rPr lang="pt-BR" sz="1200" b="1" dirty="0"/>
              <a:t>classes</a:t>
            </a:r>
            <a:r>
              <a:rPr lang="pt-BR" sz="1200" dirty="0"/>
              <a:t> ou </a:t>
            </a:r>
            <a:r>
              <a:rPr lang="pt-BR" sz="1200" b="1" dirty="0"/>
              <a:t>rótulos</a:t>
            </a:r>
            <a:r>
              <a:rPr lang="pt-BR" sz="1200" dirty="0"/>
              <a:t>;</a:t>
            </a:r>
          </a:p>
          <a:p>
            <a:pPr marL="285750" indent="-285750">
              <a:buFont typeface="Arial" panose="020B0604020202020204" pitchFamily="34" charset="0"/>
              <a:buChar char="•"/>
            </a:pPr>
            <a:r>
              <a:rPr lang="pt-BR" sz="1200" dirty="0"/>
              <a:t>Usa-se um limite de classificação para decidir em qual classe o dado analisado está;</a:t>
            </a:r>
          </a:p>
          <a:p>
            <a:pPr marL="285750" indent="-285750">
              <a:buFont typeface="Arial" panose="020B0604020202020204" pitchFamily="34" charset="0"/>
              <a:buChar char="•"/>
            </a:pPr>
            <a:r>
              <a:rPr lang="pt-BR" sz="1200" dirty="0"/>
              <a:t>A regressão logística é o tipo de regressão que usa uma </a:t>
            </a:r>
            <a:r>
              <a:rPr lang="pt-BR" sz="1200" b="1" dirty="0"/>
              <a:t>função logística </a:t>
            </a:r>
            <a:r>
              <a:rPr lang="pt-BR" sz="1200" dirty="0"/>
              <a:t>para </a:t>
            </a:r>
            <a:r>
              <a:rPr lang="pt-BR" sz="1200" b="1" dirty="0"/>
              <a:t>modelar</a:t>
            </a:r>
            <a:r>
              <a:rPr lang="pt-BR" sz="1200" dirty="0"/>
              <a:t> um binário variável dependente, usando a função </a:t>
            </a:r>
            <a:r>
              <a:rPr lang="pt-BR" sz="1200" b="1" dirty="0"/>
              <a:t>sigmoide</a:t>
            </a:r>
            <a:r>
              <a:rPr lang="pt-BR" sz="1200" dirty="0"/>
              <a:t>, porque ela parece com a função binária mas aceita a derivada porque usaremos o Gradiente Descendente (GD). </a:t>
            </a:r>
          </a:p>
          <a:p>
            <a:pPr marL="285750" indent="-285750">
              <a:buFont typeface="Arial" panose="020B0604020202020204" pitchFamily="34" charset="0"/>
              <a:buChar char="•"/>
            </a:pPr>
            <a:endParaRPr lang="pt-BR" sz="1200" dirty="0"/>
          </a:p>
          <a:p>
            <a:r>
              <a:rPr lang="pt-BR" sz="1200" dirty="0"/>
              <a:t>    </a:t>
            </a:r>
          </a:p>
        </p:txBody>
      </p:sp>
      <p:grpSp>
        <p:nvGrpSpPr>
          <p:cNvPr id="9" name="Agrupar 8">
            <a:extLst>
              <a:ext uri="{FF2B5EF4-FFF2-40B4-BE49-F238E27FC236}">
                <a16:creationId xmlns:a16="http://schemas.microsoft.com/office/drawing/2014/main" id="{58EA13EA-DE3B-F06D-783B-318E7958E984}"/>
              </a:ext>
            </a:extLst>
          </p:cNvPr>
          <p:cNvGrpSpPr/>
          <p:nvPr/>
        </p:nvGrpSpPr>
        <p:grpSpPr>
          <a:xfrm>
            <a:off x="4022973" y="2992265"/>
            <a:ext cx="8077291" cy="3768292"/>
            <a:chOff x="400050" y="1641604"/>
            <a:chExt cx="4654374" cy="1506288"/>
          </a:xfrm>
        </p:grpSpPr>
        <p:pic>
          <p:nvPicPr>
            <p:cNvPr id="5" name="Imagem 4">
              <a:extLst>
                <a:ext uri="{FF2B5EF4-FFF2-40B4-BE49-F238E27FC236}">
                  <a16:creationId xmlns:a16="http://schemas.microsoft.com/office/drawing/2014/main" id="{43F9BD81-8B65-B7EA-C491-412516D8B784}"/>
                </a:ext>
              </a:extLst>
            </p:cNvPr>
            <p:cNvPicPr>
              <a:picLocks noChangeAspect="1"/>
            </p:cNvPicPr>
            <p:nvPr/>
          </p:nvPicPr>
          <p:blipFill>
            <a:blip r:embed="rId2"/>
            <a:stretch>
              <a:fillRect/>
            </a:stretch>
          </p:blipFill>
          <p:spPr>
            <a:xfrm>
              <a:off x="400050" y="1704975"/>
              <a:ext cx="1862417" cy="1319212"/>
            </a:xfrm>
            <a:prstGeom prst="rect">
              <a:avLst/>
            </a:prstGeom>
          </p:spPr>
        </p:pic>
        <p:pic>
          <p:nvPicPr>
            <p:cNvPr id="7" name="Imagem 6">
              <a:extLst>
                <a:ext uri="{FF2B5EF4-FFF2-40B4-BE49-F238E27FC236}">
                  <a16:creationId xmlns:a16="http://schemas.microsoft.com/office/drawing/2014/main" id="{742D45BF-CFEC-D032-976C-C9C3337DF891}"/>
                </a:ext>
              </a:extLst>
            </p:cNvPr>
            <p:cNvPicPr>
              <a:picLocks noChangeAspect="1"/>
            </p:cNvPicPr>
            <p:nvPr/>
          </p:nvPicPr>
          <p:blipFill>
            <a:blip r:embed="rId3"/>
            <a:stretch>
              <a:fillRect/>
            </a:stretch>
          </p:blipFill>
          <p:spPr>
            <a:xfrm>
              <a:off x="2914650" y="1641604"/>
              <a:ext cx="2139774" cy="1506288"/>
            </a:xfrm>
            <a:prstGeom prst="rect">
              <a:avLst/>
            </a:prstGeom>
          </p:spPr>
        </p:pic>
        <p:sp>
          <p:nvSpPr>
            <p:cNvPr id="8" name="Seta: para a Direita 7">
              <a:extLst>
                <a:ext uri="{FF2B5EF4-FFF2-40B4-BE49-F238E27FC236}">
                  <a16:creationId xmlns:a16="http://schemas.microsoft.com/office/drawing/2014/main" id="{E471DFF8-FA03-B96C-8E42-4F536CB5255B}"/>
                </a:ext>
              </a:extLst>
            </p:cNvPr>
            <p:cNvSpPr/>
            <p:nvPr/>
          </p:nvSpPr>
          <p:spPr>
            <a:xfrm>
              <a:off x="2343150" y="2276475"/>
              <a:ext cx="571500" cy="33337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11" name="Agrupar 10">
            <a:extLst>
              <a:ext uri="{FF2B5EF4-FFF2-40B4-BE49-F238E27FC236}">
                <a16:creationId xmlns:a16="http://schemas.microsoft.com/office/drawing/2014/main" id="{065DFDCB-65A8-E4B7-D5A1-D10DBE2C25B9}"/>
              </a:ext>
            </a:extLst>
          </p:cNvPr>
          <p:cNvGrpSpPr/>
          <p:nvPr/>
        </p:nvGrpSpPr>
        <p:grpSpPr>
          <a:xfrm>
            <a:off x="301770" y="3092033"/>
            <a:ext cx="3503372" cy="3300282"/>
            <a:chOff x="612490" y="1835386"/>
            <a:chExt cx="1535908" cy="1818032"/>
          </a:xfrm>
        </p:grpSpPr>
        <p:pic>
          <p:nvPicPr>
            <p:cNvPr id="6" name="Imagem 5">
              <a:extLst>
                <a:ext uri="{FF2B5EF4-FFF2-40B4-BE49-F238E27FC236}">
                  <a16:creationId xmlns:a16="http://schemas.microsoft.com/office/drawing/2014/main" id="{A169BBB9-FC8C-1411-74A9-1848F5D12739}"/>
                </a:ext>
              </a:extLst>
            </p:cNvPr>
            <p:cNvPicPr>
              <a:picLocks noChangeAspect="1"/>
            </p:cNvPicPr>
            <p:nvPr/>
          </p:nvPicPr>
          <p:blipFill>
            <a:blip r:embed="rId4"/>
            <a:stretch>
              <a:fillRect/>
            </a:stretch>
          </p:blipFill>
          <p:spPr>
            <a:xfrm>
              <a:off x="612490" y="2294083"/>
              <a:ext cx="1535908" cy="1359335"/>
            </a:xfrm>
            <a:prstGeom prst="rect">
              <a:avLst/>
            </a:prstGeom>
          </p:spPr>
        </p:pic>
        <p:sp>
          <p:nvSpPr>
            <p:cNvPr id="10" name="CaixaDeTexto 9">
              <a:extLst>
                <a:ext uri="{FF2B5EF4-FFF2-40B4-BE49-F238E27FC236}">
                  <a16:creationId xmlns:a16="http://schemas.microsoft.com/office/drawing/2014/main" id="{6E2C1633-7DF8-A88F-D80E-BB6E0F0A6E49}"/>
                </a:ext>
              </a:extLst>
            </p:cNvPr>
            <p:cNvSpPr txBox="1"/>
            <p:nvPr/>
          </p:nvSpPr>
          <p:spPr>
            <a:xfrm>
              <a:off x="702726" y="1835386"/>
              <a:ext cx="814904" cy="288227"/>
            </a:xfrm>
            <a:prstGeom prst="rect">
              <a:avLst/>
            </a:prstGeom>
            <a:noFill/>
          </p:spPr>
          <p:txBody>
            <a:bodyPr wrap="none" rtlCol="0">
              <a:spAutoFit/>
            </a:bodyPr>
            <a:lstStyle/>
            <a:p>
              <a:r>
                <a:rPr lang="pt-BR" sz="1400" b="1" dirty="0"/>
                <a:t>Função Sigmoid (0 a 1)</a:t>
              </a:r>
            </a:p>
            <a:p>
              <a:r>
                <a:rPr lang="pt-BR" sz="1400" b="1" dirty="0"/>
                <a:t>Função tanh (-1 a 1)</a:t>
              </a:r>
            </a:p>
          </p:txBody>
        </p:sp>
      </p:grpSp>
      <p:pic>
        <p:nvPicPr>
          <p:cNvPr id="12" name="Imagem 11">
            <a:extLst>
              <a:ext uri="{FF2B5EF4-FFF2-40B4-BE49-F238E27FC236}">
                <a16:creationId xmlns:a16="http://schemas.microsoft.com/office/drawing/2014/main" id="{BD6A2437-7CD4-61C0-E7CC-7BD9F8A3B705}"/>
              </a:ext>
            </a:extLst>
          </p:cNvPr>
          <p:cNvPicPr>
            <a:picLocks noChangeAspect="1"/>
          </p:cNvPicPr>
          <p:nvPr/>
        </p:nvPicPr>
        <p:blipFill>
          <a:blip r:embed="rId5"/>
          <a:stretch>
            <a:fillRect/>
          </a:stretch>
        </p:blipFill>
        <p:spPr>
          <a:xfrm>
            <a:off x="2365981" y="1620642"/>
            <a:ext cx="2021291" cy="1291133"/>
          </a:xfrm>
          <a:prstGeom prst="rect">
            <a:avLst/>
          </a:prstGeom>
        </p:spPr>
      </p:pic>
      <p:sp>
        <p:nvSpPr>
          <p:cNvPr id="13" name="CaixaDeTexto 12">
            <a:extLst>
              <a:ext uri="{FF2B5EF4-FFF2-40B4-BE49-F238E27FC236}">
                <a16:creationId xmlns:a16="http://schemas.microsoft.com/office/drawing/2014/main" id="{D7558606-A242-1C35-F407-679083A23FCE}"/>
              </a:ext>
            </a:extLst>
          </p:cNvPr>
          <p:cNvSpPr txBox="1"/>
          <p:nvPr/>
        </p:nvSpPr>
        <p:spPr>
          <a:xfrm>
            <a:off x="507596" y="2076755"/>
            <a:ext cx="1616020" cy="276999"/>
          </a:xfrm>
          <a:prstGeom prst="rect">
            <a:avLst/>
          </a:prstGeom>
          <a:noFill/>
        </p:spPr>
        <p:txBody>
          <a:bodyPr wrap="none" rtlCol="0">
            <a:spAutoFit/>
          </a:bodyPr>
          <a:lstStyle/>
          <a:p>
            <a:r>
              <a:rPr lang="pt-BR" sz="1200" dirty="0"/>
              <a:t>Exemplo de erro (MSE)</a:t>
            </a:r>
          </a:p>
        </p:txBody>
      </p:sp>
    </p:spTree>
    <p:extLst>
      <p:ext uri="{BB962C8B-B14F-4D97-AF65-F5344CB8AC3E}">
        <p14:creationId xmlns:p14="http://schemas.microsoft.com/office/powerpoint/2010/main" val="5763546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62F3DA3F-30F4-A0BB-030D-6A2BEADC44B4}"/>
              </a:ext>
            </a:extLst>
          </p:cNvPr>
          <p:cNvSpPr txBox="1"/>
          <p:nvPr/>
        </p:nvSpPr>
        <p:spPr>
          <a:xfrm>
            <a:off x="228675" y="58846"/>
            <a:ext cx="7235301" cy="6740307"/>
          </a:xfrm>
          <a:prstGeom prst="rect">
            <a:avLst/>
          </a:prstGeom>
          <a:noFill/>
        </p:spPr>
        <p:txBody>
          <a:bodyPr wrap="square" rtlCol="0">
            <a:spAutoFit/>
          </a:bodyPr>
          <a:lstStyle/>
          <a:p>
            <a:r>
              <a:rPr lang="pt-BR" sz="1200" b="1" dirty="0"/>
              <a:t>A Implementação de uma estratégia</a:t>
            </a:r>
            <a:r>
              <a:rPr lang="pt-BR" sz="1200" dirty="0"/>
              <a:t>:</a:t>
            </a:r>
          </a:p>
          <a:p>
            <a:endParaRPr lang="pt-BR" sz="1200" dirty="0"/>
          </a:p>
          <a:p>
            <a:pPr marL="171450" indent="-171450" algn="l">
              <a:buFont typeface="Arial" panose="020B0604020202020204" pitchFamily="34" charset="0"/>
              <a:buChar char="•"/>
            </a:pPr>
            <a:r>
              <a:rPr lang="pt-BR" sz="1200" b="0" i="0" dirty="0">
                <a:solidFill>
                  <a:srgbClr val="000000"/>
                </a:solidFill>
                <a:effectLst/>
                <a:highlight>
                  <a:srgbClr val="FFFFFF"/>
                </a:highlight>
                <a:latin typeface="Linux Libertine"/>
              </a:rPr>
              <a:t>Multinomial</a:t>
            </a:r>
          </a:p>
          <a:p>
            <a:pPr marL="171450" indent="-171450">
              <a:buFont typeface="Arial" panose="020B0604020202020204" pitchFamily="34" charset="0"/>
              <a:buChar char="•"/>
            </a:pPr>
            <a:r>
              <a:rPr lang="pt-BR" sz="1200" dirty="0"/>
              <a:t>One x One. </a:t>
            </a:r>
          </a:p>
          <a:p>
            <a:pPr marL="171450" indent="-171450">
              <a:buFont typeface="Arial" panose="020B0604020202020204" pitchFamily="34" charset="0"/>
              <a:buChar char="•"/>
            </a:pPr>
            <a:r>
              <a:rPr lang="pt-BR" sz="1200" dirty="0"/>
              <a:t>One x All</a:t>
            </a:r>
          </a:p>
          <a:p>
            <a:pPr marL="171450" indent="-171450">
              <a:buFont typeface="Arial" panose="020B0604020202020204" pitchFamily="34" charset="0"/>
              <a:buChar char="•"/>
            </a:pPr>
            <a:endParaRPr lang="pt-BR" sz="1200" dirty="0"/>
          </a:p>
          <a:p>
            <a:r>
              <a:rPr lang="pt-BR" sz="1200" dirty="0"/>
              <a:t>A melhor estratégia depende dos dados usados e da forma trabalhada ou desejada de saída.</a:t>
            </a:r>
          </a:p>
          <a:p>
            <a:endParaRPr lang="pt-BR" sz="1200" dirty="0"/>
          </a:p>
          <a:p>
            <a:r>
              <a:rPr lang="pt-BR" sz="1200" dirty="0"/>
              <a:t>Antes de usar esta estratégia, os dados devem ser pré-processado, como por exemplo, centrando no eixo 0 central e padronizar, chamado Stand Scaling.</a:t>
            </a:r>
          </a:p>
          <a:p>
            <a:endParaRPr lang="pt-BR" sz="1200" dirty="0"/>
          </a:p>
          <a:p>
            <a:endParaRPr lang="pt-BR" sz="1200" dirty="0"/>
          </a:p>
          <a:p>
            <a:endParaRPr lang="pt-BR" sz="1200" dirty="0"/>
          </a:p>
          <a:p>
            <a:endParaRPr lang="pt-BR" sz="1200" dirty="0"/>
          </a:p>
          <a:p>
            <a:endParaRPr lang="pt-BR" sz="1200" dirty="0"/>
          </a:p>
          <a:p>
            <a:endParaRPr lang="pt-BR" sz="1200" dirty="0"/>
          </a:p>
          <a:p>
            <a:endParaRPr lang="pt-BR" sz="1200" dirty="0"/>
          </a:p>
          <a:p>
            <a:endParaRPr lang="pt-BR" sz="1200" dirty="0"/>
          </a:p>
          <a:p>
            <a:endParaRPr lang="pt-BR" sz="1200" dirty="0"/>
          </a:p>
          <a:p>
            <a:endParaRPr lang="pt-BR" sz="1200" dirty="0"/>
          </a:p>
          <a:p>
            <a:endParaRPr lang="pt-BR" sz="1200" dirty="0"/>
          </a:p>
          <a:p>
            <a:endParaRPr lang="pt-BR" sz="1200" dirty="0"/>
          </a:p>
          <a:p>
            <a:endParaRPr lang="pt-BR" sz="1200" dirty="0"/>
          </a:p>
          <a:p>
            <a:endParaRPr lang="pt-BR" sz="1200" dirty="0"/>
          </a:p>
          <a:p>
            <a:r>
              <a:rPr lang="pt-BR" sz="1200" dirty="0"/>
              <a:t> </a:t>
            </a:r>
          </a:p>
          <a:p>
            <a:endParaRPr lang="pt-BR" sz="1200" dirty="0"/>
          </a:p>
          <a:p>
            <a:r>
              <a:rPr lang="pt-BR" sz="1200" dirty="0"/>
              <a:t>O dimensionamento de recursos é uma etapa essencial na modelagem dos algoritmos com os conjuntos de dados. Os dados que geralmente são usados para fins de modelagem são derivados através de vários meios, tais como: Questionário, Pesquisa, Investigação, etc. </a:t>
            </a:r>
          </a:p>
          <a:p>
            <a:pPr algn="l"/>
            <a:r>
              <a:rPr lang="pt-BR" sz="1200" dirty="0"/>
              <a:t>Assim, os dados obtidos contêm características de várias dimensões e escalas em conjunto. Diferentes escalas dos recursos de dados afetam negativamente a modelagem de um conjunto de dados.</a:t>
            </a:r>
          </a:p>
          <a:p>
            <a:pPr algn="l"/>
            <a:r>
              <a:rPr lang="pt-BR" sz="1200" dirty="0"/>
              <a:t>Isso leva a um resultado enviesado das previsões em termos de erros de classificação e taxas de precisão. Assim, é necessário dimensionar os dados antes da modelagem.</a:t>
            </a:r>
          </a:p>
          <a:p>
            <a:pPr algn="l"/>
            <a:r>
              <a:rPr lang="pt-BR" sz="1200" dirty="0"/>
              <a:t>A padronização é uma técnica de escalonamento em que torna os dados livres de escala, convertendo a distribuição estatística dos dados no formato abaixo: média = 0 (zero) e desvio padrão = -1</a:t>
            </a:r>
          </a:p>
          <a:p>
            <a:endParaRPr lang="pt-BR" sz="1200" dirty="0"/>
          </a:p>
        </p:txBody>
      </p:sp>
      <p:grpSp>
        <p:nvGrpSpPr>
          <p:cNvPr id="6" name="Agrupar 5">
            <a:extLst>
              <a:ext uri="{FF2B5EF4-FFF2-40B4-BE49-F238E27FC236}">
                <a16:creationId xmlns:a16="http://schemas.microsoft.com/office/drawing/2014/main" id="{08DB897D-1A7E-A188-ED4C-0D660AF50BE4}"/>
              </a:ext>
            </a:extLst>
          </p:cNvPr>
          <p:cNvGrpSpPr/>
          <p:nvPr/>
        </p:nvGrpSpPr>
        <p:grpSpPr>
          <a:xfrm>
            <a:off x="228675" y="2095962"/>
            <a:ext cx="4698763" cy="2503295"/>
            <a:chOff x="4562503" y="327733"/>
            <a:chExt cx="4698763" cy="2503295"/>
          </a:xfrm>
        </p:grpSpPr>
        <p:pic>
          <p:nvPicPr>
            <p:cNvPr id="4" name="Imagem 3">
              <a:extLst>
                <a:ext uri="{FF2B5EF4-FFF2-40B4-BE49-F238E27FC236}">
                  <a16:creationId xmlns:a16="http://schemas.microsoft.com/office/drawing/2014/main" id="{7C6D64A5-3ABD-A0D2-DE04-F73D548215FF}"/>
                </a:ext>
              </a:extLst>
            </p:cNvPr>
            <p:cNvPicPr>
              <a:picLocks noChangeAspect="1"/>
            </p:cNvPicPr>
            <p:nvPr/>
          </p:nvPicPr>
          <p:blipFill>
            <a:blip r:embed="rId2"/>
            <a:stretch>
              <a:fillRect/>
            </a:stretch>
          </p:blipFill>
          <p:spPr>
            <a:xfrm>
              <a:off x="4562503" y="368816"/>
              <a:ext cx="4698763" cy="2462212"/>
            </a:xfrm>
            <a:prstGeom prst="rect">
              <a:avLst/>
            </a:prstGeom>
          </p:spPr>
        </p:pic>
        <p:sp>
          <p:nvSpPr>
            <p:cNvPr id="5" name="CaixaDeTexto 4">
              <a:extLst>
                <a:ext uri="{FF2B5EF4-FFF2-40B4-BE49-F238E27FC236}">
                  <a16:creationId xmlns:a16="http://schemas.microsoft.com/office/drawing/2014/main" id="{FD3CFF05-4804-9B92-0438-AC8C39C89016}"/>
                </a:ext>
              </a:extLst>
            </p:cNvPr>
            <p:cNvSpPr txBox="1"/>
            <p:nvPr/>
          </p:nvSpPr>
          <p:spPr>
            <a:xfrm>
              <a:off x="7235024" y="327733"/>
              <a:ext cx="1890261" cy="246221"/>
            </a:xfrm>
            <a:prstGeom prst="rect">
              <a:avLst/>
            </a:prstGeom>
            <a:noFill/>
          </p:spPr>
          <p:txBody>
            <a:bodyPr wrap="none" rtlCol="0">
              <a:spAutoFit/>
            </a:bodyPr>
            <a:lstStyle/>
            <a:p>
              <a:r>
                <a:rPr lang="pt-BR" sz="1000" dirty="0">
                  <a:solidFill>
                    <a:schemeClr val="bg1"/>
                  </a:solidFill>
                </a:rPr>
                <a:t>Dimensionamento Stand Scaling </a:t>
              </a:r>
            </a:p>
          </p:txBody>
        </p:sp>
      </p:grpSp>
      <p:pic>
        <p:nvPicPr>
          <p:cNvPr id="10" name="Imagem 9">
            <a:extLst>
              <a:ext uri="{FF2B5EF4-FFF2-40B4-BE49-F238E27FC236}">
                <a16:creationId xmlns:a16="http://schemas.microsoft.com/office/drawing/2014/main" id="{F1817304-B06B-1793-F507-34533288FFA1}"/>
              </a:ext>
            </a:extLst>
          </p:cNvPr>
          <p:cNvPicPr>
            <a:picLocks noChangeAspect="1"/>
          </p:cNvPicPr>
          <p:nvPr/>
        </p:nvPicPr>
        <p:blipFill>
          <a:blip r:embed="rId3"/>
          <a:stretch>
            <a:fillRect/>
          </a:stretch>
        </p:blipFill>
        <p:spPr>
          <a:xfrm>
            <a:off x="9186863" y="168677"/>
            <a:ext cx="1676486" cy="840974"/>
          </a:xfrm>
          <a:prstGeom prst="rect">
            <a:avLst/>
          </a:prstGeom>
        </p:spPr>
      </p:pic>
      <p:sp>
        <p:nvSpPr>
          <p:cNvPr id="14" name="CaixaDeTexto 13">
            <a:extLst>
              <a:ext uri="{FF2B5EF4-FFF2-40B4-BE49-F238E27FC236}">
                <a16:creationId xmlns:a16="http://schemas.microsoft.com/office/drawing/2014/main" id="{1CF90C95-C583-FA85-8A24-02D4DC6DCA1B}"/>
              </a:ext>
            </a:extLst>
          </p:cNvPr>
          <p:cNvSpPr txBox="1"/>
          <p:nvPr/>
        </p:nvSpPr>
        <p:spPr>
          <a:xfrm>
            <a:off x="7966228" y="1170331"/>
            <a:ext cx="4363053" cy="1015663"/>
          </a:xfrm>
          <a:prstGeom prst="rect">
            <a:avLst/>
          </a:prstGeom>
          <a:noFill/>
        </p:spPr>
        <p:txBody>
          <a:bodyPr wrap="square">
            <a:spAutoFit/>
          </a:bodyPr>
          <a:lstStyle/>
          <a:p>
            <a:r>
              <a:rPr lang="pt-BR" sz="1200" dirty="0"/>
              <a:t>Com isso, todo o conjunto de dados é dimensionado com média zero e variância unitária, em conjunto.</a:t>
            </a:r>
          </a:p>
          <a:p>
            <a:endParaRPr lang="pt-BR" sz="1200" dirty="0"/>
          </a:p>
          <a:p>
            <a:r>
              <a:rPr lang="pt-BR" sz="1200" b="1" i="0" dirty="0">
                <a:solidFill>
                  <a:srgbClr val="000000"/>
                </a:solidFill>
                <a:effectLst/>
                <a:highlight>
                  <a:srgbClr val="FFFFFF"/>
                </a:highlight>
                <a:latin typeface="Linux Libertine"/>
              </a:rPr>
              <a:t>Multinomial</a:t>
            </a:r>
          </a:p>
          <a:p>
            <a:endParaRPr lang="pt-BR" sz="1200" dirty="0"/>
          </a:p>
        </p:txBody>
      </p:sp>
      <p:cxnSp>
        <p:nvCxnSpPr>
          <p:cNvPr id="16" name="Conector reto 15">
            <a:extLst>
              <a:ext uri="{FF2B5EF4-FFF2-40B4-BE49-F238E27FC236}">
                <a16:creationId xmlns:a16="http://schemas.microsoft.com/office/drawing/2014/main" id="{F098F2DA-7932-4BAC-5F54-19494018C9B4}"/>
              </a:ext>
            </a:extLst>
          </p:cNvPr>
          <p:cNvCxnSpPr/>
          <p:nvPr/>
        </p:nvCxnSpPr>
        <p:spPr>
          <a:xfrm>
            <a:off x="7767961" y="0"/>
            <a:ext cx="0" cy="6858000"/>
          </a:xfrm>
          <a:prstGeom prst="line">
            <a:avLst/>
          </a:prstGeom>
        </p:spPr>
        <p:style>
          <a:lnRef idx="1">
            <a:schemeClr val="accent1"/>
          </a:lnRef>
          <a:fillRef idx="0">
            <a:schemeClr val="accent1"/>
          </a:fillRef>
          <a:effectRef idx="0">
            <a:schemeClr val="accent1"/>
          </a:effectRef>
          <a:fontRef idx="minor">
            <a:schemeClr val="tx1"/>
          </a:fontRef>
        </p:style>
      </p:cxnSp>
      <p:pic>
        <p:nvPicPr>
          <p:cNvPr id="18" name="Imagem 17">
            <a:extLst>
              <a:ext uri="{FF2B5EF4-FFF2-40B4-BE49-F238E27FC236}">
                <a16:creationId xmlns:a16="http://schemas.microsoft.com/office/drawing/2014/main" id="{6FD1E99C-3349-0FDF-E838-0FA127EBFE86}"/>
              </a:ext>
            </a:extLst>
          </p:cNvPr>
          <p:cNvPicPr>
            <a:picLocks noChangeAspect="1"/>
          </p:cNvPicPr>
          <p:nvPr/>
        </p:nvPicPr>
        <p:blipFill>
          <a:blip r:embed="rId4"/>
          <a:stretch>
            <a:fillRect/>
          </a:stretch>
        </p:blipFill>
        <p:spPr>
          <a:xfrm>
            <a:off x="7966228" y="1974027"/>
            <a:ext cx="3837972" cy="2697980"/>
          </a:xfrm>
          <a:prstGeom prst="rect">
            <a:avLst/>
          </a:prstGeom>
        </p:spPr>
      </p:pic>
      <p:sp>
        <p:nvSpPr>
          <p:cNvPr id="20" name="CaixaDeTexto 19">
            <a:extLst>
              <a:ext uri="{FF2B5EF4-FFF2-40B4-BE49-F238E27FC236}">
                <a16:creationId xmlns:a16="http://schemas.microsoft.com/office/drawing/2014/main" id="{DFEA5A01-3234-89D0-2A0E-D73A03F769AC}"/>
              </a:ext>
            </a:extLst>
          </p:cNvPr>
          <p:cNvSpPr txBox="1"/>
          <p:nvPr/>
        </p:nvSpPr>
        <p:spPr>
          <a:xfrm>
            <a:off x="7767961" y="4672007"/>
            <a:ext cx="4286393" cy="2123658"/>
          </a:xfrm>
          <a:prstGeom prst="rect">
            <a:avLst/>
          </a:prstGeom>
          <a:noFill/>
        </p:spPr>
        <p:txBody>
          <a:bodyPr wrap="square">
            <a:spAutoFit/>
          </a:bodyPr>
          <a:lstStyle/>
          <a:p>
            <a:r>
              <a:rPr lang="pt-BR" sz="1200" b="1" dirty="0"/>
              <a:t>One x All</a:t>
            </a:r>
          </a:p>
          <a:p>
            <a:endParaRPr lang="pt-BR" sz="1200" b="1" dirty="0"/>
          </a:p>
          <a:p>
            <a:r>
              <a:rPr lang="pt-BR" sz="1200" dirty="0"/>
              <a:t>Dadas k classes, k classificadores binários são gerados. Cada um deles é responsável por diferenciar de uma classe i das outras. Pode apresentar desvantagens quando a proporção de exemplos de uma classe é muito pequeno em relação ao conjunto formado por dados da outra classe.</a:t>
            </a:r>
          </a:p>
          <a:p>
            <a:r>
              <a:rPr lang="pt-BR" sz="1200" b="1" dirty="0"/>
              <a:t>Treinamento</a:t>
            </a:r>
            <a:r>
              <a:rPr lang="pt-BR" sz="1200" dirty="0"/>
              <a:t>: classificador de regressão logística ℎ𝜃 𝑖 para cada classe 𝑖 para prever a probabilidade de que y = 𝑖</a:t>
            </a:r>
          </a:p>
          <a:p>
            <a:r>
              <a:rPr lang="pt-BR" sz="1200" b="1" dirty="0"/>
              <a:t>Predição</a:t>
            </a:r>
            <a:r>
              <a:rPr lang="pt-BR" sz="1200" dirty="0"/>
              <a:t>: Dada uma nova entrada x, escolha a classe 𝑖 que maximiza máx.𝑖ℎ𝜃</a:t>
            </a:r>
            <a:r>
              <a:rPr lang="pt-BR" sz="1200" baseline="30000" dirty="0"/>
              <a:t>𝑖</a:t>
            </a:r>
            <a:r>
              <a:rPr lang="pt-BR" sz="1200" dirty="0"/>
              <a:t> (𝑥).</a:t>
            </a:r>
          </a:p>
        </p:txBody>
      </p:sp>
    </p:spTree>
    <p:extLst>
      <p:ext uri="{BB962C8B-B14F-4D97-AF65-F5344CB8AC3E}">
        <p14:creationId xmlns:p14="http://schemas.microsoft.com/office/powerpoint/2010/main" val="34247660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m 3">
            <a:extLst>
              <a:ext uri="{FF2B5EF4-FFF2-40B4-BE49-F238E27FC236}">
                <a16:creationId xmlns:a16="http://schemas.microsoft.com/office/drawing/2014/main" id="{D2306452-AD10-9E36-4AEC-4AA53E3A24DD}"/>
              </a:ext>
            </a:extLst>
          </p:cNvPr>
          <p:cNvPicPr>
            <a:picLocks noChangeAspect="1"/>
          </p:cNvPicPr>
          <p:nvPr/>
        </p:nvPicPr>
        <p:blipFill>
          <a:blip r:embed="rId2"/>
          <a:stretch>
            <a:fillRect/>
          </a:stretch>
        </p:blipFill>
        <p:spPr>
          <a:xfrm>
            <a:off x="200025" y="123824"/>
            <a:ext cx="3135658" cy="2200275"/>
          </a:xfrm>
          <a:prstGeom prst="rect">
            <a:avLst/>
          </a:prstGeom>
        </p:spPr>
      </p:pic>
      <p:sp>
        <p:nvSpPr>
          <p:cNvPr id="6" name="CaixaDeTexto 5">
            <a:extLst>
              <a:ext uri="{FF2B5EF4-FFF2-40B4-BE49-F238E27FC236}">
                <a16:creationId xmlns:a16="http://schemas.microsoft.com/office/drawing/2014/main" id="{05407072-231E-0513-7A01-F96E26253787}"/>
              </a:ext>
            </a:extLst>
          </p:cNvPr>
          <p:cNvSpPr txBox="1"/>
          <p:nvPr/>
        </p:nvSpPr>
        <p:spPr>
          <a:xfrm>
            <a:off x="200025" y="2825742"/>
            <a:ext cx="6238874" cy="3600986"/>
          </a:xfrm>
          <a:prstGeom prst="rect">
            <a:avLst/>
          </a:prstGeom>
          <a:noFill/>
        </p:spPr>
        <p:txBody>
          <a:bodyPr wrap="square">
            <a:spAutoFit/>
          </a:bodyPr>
          <a:lstStyle/>
          <a:p>
            <a:r>
              <a:rPr lang="pt-BR" sz="1800" b="1" dirty="0"/>
              <a:t>One x All</a:t>
            </a:r>
          </a:p>
          <a:p>
            <a:endParaRPr lang="pt-BR" dirty="0"/>
          </a:p>
          <a:p>
            <a:r>
              <a:rPr lang="pt-BR" sz="1200" b="1" dirty="0"/>
              <a:t>Dadas k classes</a:t>
            </a:r>
            <a:r>
              <a:rPr lang="pt-BR" sz="1200" dirty="0"/>
              <a:t>, k(k − 1)/2 classificadores binários são gerados</a:t>
            </a:r>
          </a:p>
          <a:p>
            <a:r>
              <a:rPr lang="pt-BR" sz="1200" dirty="0"/>
              <a:t>▪ Cada um deles é responsável por diferenciar um par de classes (𝑖, j),onde 𝑖 ≠ 𝑗</a:t>
            </a:r>
          </a:p>
          <a:p>
            <a:r>
              <a:rPr lang="pt-BR" sz="1200" dirty="0"/>
              <a:t>▪ Embora o número de classificadores gerados seja alto, o treinamento envolve dados de apenas duas classes.  </a:t>
            </a:r>
          </a:p>
          <a:p>
            <a:r>
              <a:rPr lang="pt-BR" sz="1200" dirty="0"/>
              <a:t>Assim, o tempo total gasto ema geração de preditores geralmente não é grande.</a:t>
            </a:r>
          </a:p>
          <a:p>
            <a:endParaRPr lang="pt-BR" sz="1200" dirty="0"/>
          </a:p>
          <a:p>
            <a:r>
              <a:rPr lang="pt-BR" sz="1200" b="1" dirty="0"/>
              <a:t>Treinamento</a:t>
            </a:r>
          </a:p>
          <a:p>
            <a:endParaRPr lang="pt-BR" sz="1200" b="1" dirty="0"/>
          </a:p>
          <a:p>
            <a:r>
              <a:rPr lang="pt-BR" sz="1200" dirty="0"/>
              <a:t>▪ Um classificador de regressão logística ℎ𝜃 𝑖 para cada classe 𝑖 para prever a probabilidade de que y = 𝑖 contra uma classe 𝑗 onde i ≠ 𝑗</a:t>
            </a:r>
            <a:br>
              <a:rPr lang="pt-BR" sz="1200" dirty="0"/>
            </a:br>
            <a:br>
              <a:rPr lang="pt-BR" sz="1200" dirty="0"/>
            </a:br>
            <a:r>
              <a:rPr lang="pt-BR" sz="1200" b="1" dirty="0"/>
              <a:t>Previsão</a:t>
            </a:r>
          </a:p>
          <a:p>
            <a:endParaRPr lang="pt-BR" sz="1200" b="1" dirty="0"/>
          </a:p>
          <a:p>
            <a:r>
              <a:rPr lang="pt-BR" sz="1200" dirty="0"/>
              <a:t>▪ Um esquema de votação é aplicado</a:t>
            </a:r>
          </a:p>
          <a:p>
            <a:r>
              <a:rPr lang="pt-BR" sz="1200" dirty="0"/>
              <a:t>▪ todos os classificadores k(k − 1)/2 são aplicados a uma amostra não vista e à classe que obteve o maior número de previsões "+1" e foi previsto pela combinação classificador. </a:t>
            </a:r>
          </a:p>
        </p:txBody>
      </p:sp>
      <p:pic>
        <p:nvPicPr>
          <p:cNvPr id="8" name="Imagem 7">
            <a:extLst>
              <a:ext uri="{FF2B5EF4-FFF2-40B4-BE49-F238E27FC236}">
                <a16:creationId xmlns:a16="http://schemas.microsoft.com/office/drawing/2014/main" id="{7B13793C-0F3A-6849-3577-296EE693204C}"/>
              </a:ext>
            </a:extLst>
          </p:cNvPr>
          <p:cNvPicPr>
            <a:picLocks noChangeAspect="1"/>
          </p:cNvPicPr>
          <p:nvPr/>
        </p:nvPicPr>
        <p:blipFill>
          <a:blip r:embed="rId3"/>
          <a:stretch>
            <a:fillRect/>
          </a:stretch>
        </p:blipFill>
        <p:spPr>
          <a:xfrm>
            <a:off x="5627915" y="123824"/>
            <a:ext cx="6282324" cy="2015694"/>
          </a:xfrm>
          <a:prstGeom prst="rect">
            <a:avLst/>
          </a:prstGeom>
        </p:spPr>
      </p:pic>
      <p:sp>
        <p:nvSpPr>
          <p:cNvPr id="9" name="CaixaDeTexto 8">
            <a:extLst>
              <a:ext uri="{FF2B5EF4-FFF2-40B4-BE49-F238E27FC236}">
                <a16:creationId xmlns:a16="http://schemas.microsoft.com/office/drawing/2014/main" id="{80C05649-900C-A74A-D3F1-78621F4D7656}"/>
              </a:ext>
            </a:extLst>
          </p:cNvPr>
          <p:cNvSpPr txBox="1"/>
          <p:nvPr/>
        </p:nvSpPr>
        <p:spPr>
          <a:xfrm>
            <a:off x="7039993" y="2671853"/>
            <a:ext cx="4870246" cy="954107"/>
          </a:xfrm>
          <a:prstGeom prst="rect">
            <a:avLst/>
          </a:prstGeom>
          <a:noFill/>
        </p:spPr>
        <p:txBody>
          <a:bodyPr wrap="square" rtlCol="0">
            <a:spAutoFit/>
          </a:bodyPr>
          <a:lstStyle/>
          <a:p>
            <a:r>
              <a:rPr lang="pt-BR" sz="1400" b="1" dirty="0"/>
              <a:t>Encoding Data</a:t>
            </a:r>
          </a:p>
          <a:p>
            <a:endParaRPr lang="pt-BR" sz="1400" b="1" dirty="0"/>
          </a:p>
          <a:p>
            <a:r>
              <a:rPr lang="pt-BR" sz="1400" dirty="0"/>
              <a:t>A saída pode ser em 4 variáveis identificadas por binário ou em</a:t>
            </a:r>
          </a:p>
          <a:p>
            <a:r>
              <a:rPr lang="pt-BR" sz="1400" dirty="0"/>
              <a:t>uma única saída identificado por hexadecimal. </a:t>
            </a:r>
          </a:p>
        </p:txBody>
      </p:sp>
      <p:pic>
        <p:nvPicPr>
          <p:cNvPr id="11" name="Imagem 10">
            <a:extLst>
              <a:ext uri="{FF2B5EF4-FFF2-40B4-BE49-F238E27FC236}">
                <a16:creationId xmlns:a16="http://schemas.microsoft.com/office/drawing/2014/main" id="{C789A169-7A7E-8BAF-7D63-191233033865}"/>
              </a:ext>
            </a:extLst>
          </p:cNvPr>
          <p:cNvPicPr>
            <a:picLocks noChangeAspect="1"/>
          </p:cNvPicPr>
          <p:nvPr/>
        </p:nvPicPr>
        <p:blipFill>
          <a:blip r:embed="rId4"/>
          <a:stretch>
            <a:fillRect/>
          </a:stretch>
        </p:blipFill>
        <p:spPr>
          <a:xfrm>
            <a:off x="7039993" y="3979839"/>
            <a:ext cx="3872173" cy="2312995"/>
          </a:xfrm>
          <a:prstGeom prst="rect">
            <a:avLst/>
          </a:prstGeom>
        </p:spPr>
      </p:pic>
      <p:sp>
        <p:nvSpPr>
          <p:cNvPr id="2" name="CaixaDeTexto 1">
            <a:extLst>
              <a:ext uri="{FF2B5EF4-FFF2-40B4-BE49-F238E27FC236}">
                <a16:creationId xmlns:a16="http://schemas.microsoft.com/office/drawing/2014/main" id="{D66A0DC0-01BA-E5BC-FB39-A36E13B48192}"/>
              </a:ext>
            </a:extLst>
          </p:cNvPr>
          <p:cNvSpPr txBox="1"/>
          <p:nvPr/>
        </p:nvSpPr>
        <p:spPr>
          <a:xfrm>
            <a:off x="7213601" y="6092779"/>
            <a:ext cx="1948872" cy="400110"/>
          </a:xfrm>
          <a:prstGeom prst="rect">
            <a:avLst/>
          </a:prstGeom>
          <a:noFill/>
        </p:spPr>
        <p:txBody>
          <a:bodyPr wrap="square" rtlCol="0">
            <a:spAutoFit/>
          </a:bodyPr>
          <a:lstStyle/>
          <a:p>
            <a:r>
              <a:rPr lang="pt-BR" sz="1000" dirty="0">
                <a:latin typeface="Century Gothic" panose="020B0502020202020204" pitchFamily="34" charset="0"/>
              </a:rPr>
              <a:t>1 saída é verdadeira (1) e os demais é falso (0) </a:t>
            </a:r>
          </a:p>
        </p:txBody>
      </p:sp>
    </p:spTree>
    <p:extLst>
      <p:ext uri="{BB962C8B-B14F-4D97-AF65-F5344CB8AC3E}">
        <p14:creationId xmlns:p14="http://schemas.microsoft.com/office/powerpoint/2010/main" val="7038295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62F3DA3F-30F4-A0BB-030D-6A2BEADC44B4}"/>
              </a:ext>
            </a:extLst>
          </p:cNvPr>
          <p:cNvSpPr txBox="1"/>
          <p:nvPr/>
        </p:nvSpPr>
        <p:spPr>
          <a:xfrm>
            <a:off x="106532" y="88777"/>
            <a:ext cx="7235301" cy="2123658"/>
          </a:xfrm>
          <a:prstGeom prst="rect">
            <a:avLst/>
          </a:prstGeom>
          <a:noFill/>
        </p:spPr>
        <p:txBody>
          <a:bodyPr wrap="square" rtlCol="0">
            <a:spAutoFit/>
          </a:bodyPr>
          <a:lstStyle/>
          <a:p>
            <a:r>
              <a:rPr lang="pt-BR" sz="1200" b="1" dirty="0"/>
              <a:t>Avaliação</a:t>
            </a:r>
            <a:r>
              <a:rPr lang="pt-BR" sz="1200" dirty="0"/>
              <a:t>: A avaliação depois de treinar os dados, tem os principais métodos com os resultados de saída:</a:t>
            </a:r>
          </a:p>
          <a:p>
            <a:endParaRPr lang="pt-BR" sz="1200" dirty="0"/>
          </a:p>
          <a:p>
            <a:r>
              <a:rPr lang="pt-BR" sz="1200" dirty="0"/>
              <a:t>	</a:t>
            </a:r>
            <a:r>
              <a:rPr lang="pt-BR" sz="1200" b="1" dirty="0"/>
              <a:t>Matrix de Confusão</a:t>
            </a:r>
          </a:p>
          <a:p>
            <a:r>
              <a:rPr lang="pt-BR" sz="1200" dirty="0"/>
              <a:t>	Accuracy</a:t>
            </a:r>
          </a:p>
          <a:p>
            <a:r>
              <a:rPr lang="pt-BR" sz="1200" dirty="0"/>
              <a:t>	Precisão</a:t>
            </a:r>
          </a:p>
          <a:p>
            <a:r>
              <a:rPr lang="pt-BR" sz="1200" dirty="0"/>
              <a:t>	F1</a:t>
            </a:r>
          </a:p>
          <a:p>
            <a:r>
              <a:rPr lang="pt-BR" sz="1200" dirty="0"/>
              <a:t>	curva ROC </a:t>
            </a:r>
          </a:p>
          <a:p>
            <a:endParaRPr lang="pt-BR" sz="1200" dirty="0"/>
          </a:p>
          <a:p>
            <a:r>
              <a:rPr lang="pt-BR" sz="1200" dirty="0"/>
              <a:t>O padrão é usar a matriz de confusão.  No exercício dos dados de íris.csv ficaria assim:</a:t>
            </a:r>
          </a:p>
          <a:p>
            <a:endParaRPr lang="pt-BR" sz="1200" dirty="0"/>
          </a:p>
          <a:p>
            <a:r>
              <a:rPr lang="pt-BR" sz="1200" dirty="0"/>
              <a:t>A diagonal é a principal. </a:t>
            </a:r>
          </a:p>
        </p:txBody>
      </p:sp>
      <p:pic>
        <p:nvPicPr>
          <p:cNvPr id="7" name="Imagem 6">
            <a:extLst>
              <a:ext uri="{FF2B5EF4-FFF2-40B4-BE49-F238E27FC236}">
                <a16:creationId xmlns:a16="http://schemas.microsoft.com/office/drawing/2014/main" id="{2FFF7231-DE65-48B0-8825-48F911DC4EBA}"/>
              </a:ext>
            </a:extLst>
          </p:cNvPr>
          <p:cNvPicPr>
            <a:picLocks noChangeAspect="1"/>
          </p:cNvPicPr>
          <p:nvPr/>
        </p:nvPicPr>
        <p:blipFill>
          <a:blip r:embed="rId2"/>
          <a:stretch>
            <a:fillRect/>
          </a:stretch>
        </p:blipFill>
        <p:spPr>
          <a:xfrm>
            <a:off x="257837" y="2239392"/>
            <a:ext cx="4133651" cy="3429000"/>
          </a:xfrm>
          <a:prstGeom prst="rect">
            <a:avLst/>
          </a:prstGeom>
        </p:spPr>
      </p:pic>
      <p:sp>
        <p:nvSpPr>
          <p:cNvPr id="8" name="CaixaDeTexto 7">
            <a:extLst>
              <a:ext uri="{FF2B5EF4-FFF2-40B4-BE49-F238E27FC236}">
                <a16:creationId xmlns:a16="http://schemas.microsoft.com/office/drawing/2014/main" id="{71290AF0-6DBC-0011-1029-CC461EAA7D2A}"/>
              </a:ext>
            </a:extLst>
          </p:cNvPr>
          <p:cNvSpPr txBox="1"/>
          <p:nvPr/>
        </p:nvSpPr>
        <p:spPr>
          <a:xfrm rot="16200000">
            <a:off x="-503782" y="3684233"/>
            <a:ext cx="1523238" cy="369332"/>
          </a:xfrm>
          <a:prstGeom prst="rect">
            <a:avLst/>
          </a:prstGeom>
          <a:noFill/>
        </p:spPr>
        <p:txBody>
          <a:bodyPr wrap="none" rtlCol="0">
            <a:spAutoFit/>
          </a:bodyPr>
          <a:lstStyle/>
          <a:p>
            <a:r>
              <a:rPr lang="pt-BR" b="1" dirty="0"/>
              <a:t>Actual Values </a:t>
            </a:r>
          </a:p>
        </p:txBody>
      </p:sp>
      <p:sp>
        <p:nvSpPr>
          <p:cNvPr id="9" name="CaixaDeTexto 8">
            <a:extLst>
              <a:ext uri="{FF2B5EF4-FFF2-40B4-BE49-F238E27FC236}">
                <a16:creationId xmlns:a16="http://schemas.microsoft.com/office/drawing/2014/main" id="{A89A3E67-DDB7-B404-7C0D-E30A810C6BA1}"/>
              </a:ext>
            </a:extLst>
          </p:cNvPr>
          <p:cNvSpPr txBox="1"/>
          <p:nvPr/>
        </p:nvSpPr>
        <p:spPr>
          <a:xfrm>
            <a:off x="1255476" y="5695349"/>
            <a:ext cx="1824025" cy="369332"/>
          </a:xfrm>
          <a:prstGeom prst="rect">
            <a:avLst/>
          </a:prstGeom>
          <a:noFill/>
        </p:spPr>
        <p:txBody>
          <a:bodyPr wrap="none" rtlCol="0">
            <a:spAutoFit/>
          </a:bodyPr>
          <a:lstStyle/>
          <a:p>
            <a:r>
              <a:rPr lang="pt-BR" b="1" dirty="0"/>
              <a:t>Predicted Values </a:t>
            </a:r>
          </a:p>
        </p:txBody>
      </p:sp>
    </p:spTree>
    <p:extLst>
      <p:ext uri="{BB962C8B-B14F-4D97-AF65-F5344CB8AC3E}">
        <p14:creationId xmlns:p14="http://schemas.microsoft.com/office/powerpoint/2010/main" val="13366193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98859272-A5A7-3256-AF8E-3EF4776BBFFC}"/>
              </a:ext>
            </a:extLst>
          </p:cNvPr>
          <p:cNvSpPr txBox="1"/>
          <p:nvPr/>
        </p:nvSpPr>
        <p:spPr>
          <a:xfrm>
            <a:off x="50151" y="8158"/>
            <a:ext cx="12099721" cy="2308324"/>
          </a:xfrm>
          <a:prstGeom prst="rect">
            <a:avLst/>
          </a:prstGeom>
          <a:noFill/>
        </p:spPr>
        <p:txBody>
          <a:bodyPr wrap="square" rtlCol="0">
            <a:spAutoFit/>
          </a:bodyPr>
          <a:lstStyle/>
          <a:p>
            <a:r>
              <a:rPr lang="pt-BR" sz="1200" b="1" dirty="0">
                <a:latin typeface="Century Gothic" panose="020B0502020202020204" pitchFamily="34" charset="0"/>
              </a:rPr>
              <a:t>Rede Neural </a:t>
            </a:r>
            <a:r>
              <a:rPr lang="pt-BR" sz="1200" dirty="0">
                <a:latin typeface="Century Gothic" panose="020B0502020202020204" pitchFamily="34" charset="0"/>
              </a:rPr>
              <a:t>: A unidade simples é um neurônio, mais de um conectado é uma rede. Quantos mais neurônios existir, deve levar mais tempo de processamento porém o resultado das análises é melhor.  </a:t>
            </a:r>
          </a:p>
          <a:p>
            <a:r>
              <a:rPr lang="pt-BR" sz="1200" dirty="0">
                <a:latin typeface="Century Gothic" panose="020B0502020202020204" pitchFamily="34" charset="0"/>
              </a:rPr>
              <a:t>Arquitetura ou topologia é a forma da entrada e saída como são organizadas. </a:t>
            </a:r>
          </a:p>
          <a:p>
            <a:r>
              <a:rPr lang="pt-BR" sz="1200" dirty="0">
                <a:latin typeface="Century Gothic" panose="020B0502020202020204" pitchFamily="34" charset="0"/>
              </a:rPr>
              <a:t>Existem vários modelos de ANN ou arquiteturas de redes neurais </a:t>
            </a:r>
            <a:r>
              <a:rPr lang="pt-BR" sz="1200" dirty="0"/>
              <a:t>(</a:t>
            </a:r>
            <a:r>
              <a:rPr lang="pt-BR" sz="1200" b="0" i="0" u="none" strike="noStrike" baseline="0" dirty="0">
                <a:solidFill>
                  <a:srgbClr val="85B8E3"/>
                </a:solidFill>
                <a:latin typeface="Helvetica" panose="020B0604020202020204" pitchFamily="34" charset="0"/>
                <a:hlinkClick r:id="rId2"/>
              </a:rPr>
              <a:t>http://www.asimovinstitute.org/neural-network-zoo/</a:t>
            </a:r>
            <a:r>
              <a:rPr lang="pt-BR" sz="1200" b="0" i="0" u="none" strike="noStrike" baseline="0" dirty="0">
                <a:solidFill>
                  <a:srgbClr val="85B8E3"/>
                </a:solidFill>
                <a:latin typeface="Helvetica" panose="020B0604020202020204" pitchFamily="34" charset="0"/>
              </a:rPr>
              <a:t>). </a:t>
            </a:r>
          </a:p>
          <a:p>
            <a:endParaRPr lang="pt-BR" sz="1200" b="1" dirty="0">
              <a:latin typeface="Century Gothic" panose="020B0502020202020204" pitchFamily="34" charset="0"/>
            </a:endParaRPr>
          </a:p>
          <a:p>
            <a:r>
              <a:rPr lang="pt-BR" sz="1200" b="1" dirty="0">
                <a:latin typeface="Century Gothic" panose="020B0502020202020204" pitchFamily="34" charset="0"/>
              </a:rPr>
              <a:t>O mais popular</a:t>
            </a:r>
            <a:r>
              <a:rPr lang="pt-BR" sz="1200" dirty="0">
                <a:latin typeface="Century Gothic" panose="020B0502020202020204" pitchFamily="34" charset="0"/>
              </a:rPr>
              <a:t>:  </a:t>
            </a:r>
          </a:p>
          <a:p>
            <a:endParaRPr lang="pt-BR" sz="1200" b="1" dirty="0">
              <a:latin typeface="Century Gothic" panose="020B0502020202020204" pitchFamily="34" charset="0"/>
            </a:endParaRPr>
          </a:p>
          <a:p>
            <a:r>
              <a:rPr lang="pt-BR" sz="1200" b="1" dirty="0">
                <a:latin typeface="Century Gothic" panose="020B0502020202020204" pitchFamily="34" charset="0"/>
              </a:rPr>
              <a:t>Neurônio </a:t>
            </a:r>
            <a:r>
              <a:rPr lang="pt-BR" sz="1200" dirty="0">
                <a:latin typeface="Century Gothic" panose="020B0502020202020204" pitchFamily="34" charset="0"/>
              </a:rPr>
              <a:t>= perceptron com ativação de função </a:t>
            </a:r>
            <a:r>
              <a:rPr lang="pt-BR" sz="1200" dirty="0" err="1">
                <a:latin typeface="Century Gothic" panose="020B0502020202020204" pitchFamily="34" charset="0"/>
              </a:rPr>
              <a:t>semilinear</a:t>
            </a:r>
            <a:endParaRPr lang="pt-BR" sz="1200" dirty="0">
              <a:latin typeface="Century Gothic" panose="020B0502020202020204" pitchFamily="34" charset="0"/>
            </a:endParaRPr>
          </a:p>
          <a:p>
            <a:endParaRPr lang="pt-BR" sz="1200" dirty="0">
              <a:latin typeface="Century Gothic" panose="020B0502020202020204" pitchFamily="34" charset="0"/>
            </a:endParaRPr>
          </a:p>
          <a:p>
            <a:r>
              <a:rPr lang="pt-BR" sz="1200" b="1" dirty="0">
                <a:latin typeface="Century Gothic" panose="020B0502020202020204" pitchFamily="34" charset="0"/>
              </a:rPr>
              <a:t>Arquitetura</a:t>
            </a:r>
            <a:r>
              <a:rPr lang="pt-BR" sz="1200" dirty="0">
                <a:latin typeface="Century Gothic" panose="020B0502020202020204" pitchFamily="34" charset="0"/>
              </a:rPr>
              <a:t> = Perceptron </a:t>
            </a:r>
            <a:r>
              <a:rPr lang="pt-BR" sz="1200" dirty="0" err="1">
                <a:latin typeface="Century Gothic" panose="020B0502020202020204" pitchFamily="34" charset="0"/>
              </a:rPr>
              <a:t>Multilayer</a:t>
            </a:r>
            <a:endParaRPr lang="pt-BR" sz="1200" dirty="0">
              <a:latin typeface="Century Gothic" panose="020B0502020202020204" pitchFamily="34" charset="0"/>
            </a:endParaRPr>
          </a:p>
          <a:p>
            <a:endParaRPr lang="pt-BR" sz="1200" dirty="0">
              <a:latin typeface="Century Gothic" panose="020B0502020202020204" pitchFamily="34" charset="0"/>
            </a:endParaRPr>
          </a:p>
          <a:p>
            <a:r>
              <a:rPr lang="pt-BR" sz="1200" b="1" dirty="0">
                <a:latin typeface="Century Gothic" panose="020B0502020202020204" pitchFamily="34" charset="0"/>
              </a:rPr>
              <a:t>Treinamento</a:t>
            </a:r>
            <a:r>
              <a:rPr lang="pt-BR" sz="1200" dirty="0">
                <a:latin typeface="Century Gothic" panose="020B0502020202020204" pitchFamily="34" charset="0"/>
              </a:rPr>
              <a:t> = algorítmico Backpropagation </a:t>
            </a:r>
          </a:p>
        </p:txBody>
      </p:sp>
      <p:grpSp>
        <p:nvGrpSpPr>
          <p:cNvPr id="51" name="Agrupar 50">
            <a:extLst>
              <a:ext uri="{FF2B5EF4-FFF2-40B4-BE49-F238E27FC236}">
                <a16:creationId xmlns:a16="http://schemas.microsoft.com/office/drawing/2014/main" id="{7421F574-9AA5-E5E0-403C-8F29B8935591}"/>
              </a:ext>
            </a:extLst>
          </p:cNvPr>
          <p:cNvGrpSpPr/>
          <p:nvPr/>
        </p:nvGrpSpPr>
        <p:grpSpPr>
          <a:xfrm>
            <a:off x="2439016" y="2641135"/>
            <a:ext cx="3948660" cy="1816738"/>
            <a:chOff x="417269" y="2196519"/>
            <a:chExt cx="3948660" cy="1816738"/>
          </a:xfrm>
        </p:grpSpPr>
        <p:sp>
          <p:nvSpPr>
            <p:cNvPr id="5" name="Elipse 4">
              <a:extLst>
                <a:ext uri="{FF2B5EF4-FFF2-40B4-BE49-F238E27FC236}">
                  <a16:creationId xmlns:a16="http://schemas.microsoft.com/office/drawing/2014/main" id="{103EE80C-7CBD-4EDD-3352-8783B1AE925D}"/>
                </a:ext>
              </a:extLst>
            </p:cNvPr>
            <p:cNvSpPr/>
            <p:nvPr/>
          </p:nvSpPr>
          <p:spPr>
            <a:xfrm>
              <a:off x="1686187" y="2927758"/>
              <a:ext cx="729842" cy="73823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1F41F74E-1B9C-6BF0-36F6-C123D2633040}"/>
                </a:ext>
              </a:extLst>
            </p:cNvPr>
            <p:cNvSpPr txBox="1"/>
            <p:nvPr/>
          </p:nvSpPr>
          <p:spPr>
            <a:xfrm>
              <a:off x="1854313" y="2994870"/>
              <a:ext cx="378630" cy="523220"/>
            </a:xfrm>
            <a:prstGeom prst="rect">
              <a:avLst/>
            </a:prstGeom>
            <a:noFill/>
          </p:spPr>
          <p:txBody>
            <a:bodyPr wrap="none" rtlCol="0">
              <a:spAutoFit/>
            </a:bodyPr>
            <a:lstStyle/>
            <a:p>
              <a:r>
                <a:rPr lang="pt-BR" sz="2800" dirty="0"/>
                <a:t>∑</a:t>
              </a:r>
            </a:p>
          </p:txBody>
        </p:sp>
        <p:sp>
          <p:nvSpPr>
            <p:cNvPr id="7" name="CaixaDeTexto 6">
              <a:extLst>
                <a:ext uri="{FF2B5EF4-FFF2-40B4-BE49-F238E27FC236}">
                  <a16:creationId xmlns:a16="http://schemas.microsoft.com/office/drawing/2014/main" id="{90D3080B-3D8A-0CAE-4B32-6F5ADD6A4287}"/>
                </a:ext>
              </a:extLst>
            </p:cNvPr>
            <p:cNvSpPr txBox="1"/>
            <p:nvPr/>
          </p:nvSpPr>
          <p:spPr>
            <a:xfrm>
              <a:off x="444617" y="2496292"/>
              <a:ext cx="421910" cy="369332"/>
            </a:xfrm>
            <a:prstGeom prst="rect">
              <a:avLst/>
            </a:prstGeom>
            <a:noFill/>
          </p:spPr>
          <p:txBody>
            <a:bodyPr wrap="none" rtlCol="0">
              <a:spAutoFit/>
            </a:bodyPr>
            <a:lstStyle/>
            <a:p>
              <a:r>
                <a:rPr lang="pt-BR" dirty="0"/>
                <a:t>X1</a:t>
              </a:r>
            </a:p>
          </p:txBody>
        </p:sp>
        <p:sp>
          <p:nvSpPr>
            <p:cNvPr id="8" name="CaixaDeTexto 7">
              <a:extLst>
                <a:ext uri="{FF2B5EF4-FFF2-40B4-BE49-F238E27FC236}">
                  <a16:creationId xmlns:a16="http://schemas.microsoft.com/office/drawing/2014/main" id="{5BC2CDBF-9B64-A1B2-DE1D-0D530EFA0441}"/>
                </a:ext>
              </a:extLst>
            </p:cNvPr>
            <p:cNvSpPr txBox="1"/>
            <p:nvPr/>
          </p:nvSpPr>
          <p:spPr>
            <a:xfrm>
              <a:off x="446015" y="2799694"/>
              <a:ext cx="421910" cy="369332"/>
            </a:xfrm>
            <a:prstGeom prst="rect">
              <a:avLst/>
            </a:prstGeom>
            <a:noFill/>
          </p:spPr>
          <p:txBody>
            <a:bodyPr wrap="none" rtlCol="0">
              <a:spAutoFit/>
            </a:bodyPr>
            <a:lstStyle/>
            <a:p>
              <a:r>
                <a:rPr lang="pt-BR" dirty="0"/>
                <a:t>X2</a:t>
              </a:r>
            </a:p>
          </p:txBody>
        </p:sp>
        <p:sp>
          <p:nvSpPr>
            <p:cNvPr id="9" name="CaixaDeTexto 8">
              <a:extLst>
                <a:ext uri="{FF2B5EF4-FFF2-40B4-BE49-F238E27FC236}">
                  <a16:creationId xmlns:a16="http://schemas.microsoft.com/office/drawing/2014/main" id="{442829B5-8790-43C4-E0C6-D45092B703B3}"/>
                </a:ext>
              </a:extLst>
            </p:cNvPr>
            <p:cNvSpPr txBox="1"/>
            <p:nvPr/>
          </p:nvSpPr>
          <p:spPr>
            <a:xfrm>
              <a:off x="417269" y="3096719"/>
              <a:ext cx="421910" cy="369332"/>
            </a:xfrm>
            <a:prstGeom prst="rect">
              <a:avLst/>
            </a:prstGeom>
            <a:noFill/>
          </p:spPr>
          <p:txBody>
            <a:bodyPr wrap="none" rtlCol="0">
              <a:spAutoFit/>
            </a:bodyPr>
            <a:lstStyle/>
            <a:p>
              <a:r>
                <a:rPr lang="pt-BR" dirty="0"/>
                <a:t>X3</a:t>
              </a:r>
            </a:p>
          </p:txBody>
        </p:sp>
        <p:sp>
          <p:nvSpPr>
            <p:cNvPr id="10" name="CaixaDeTexto 9">
              <a:extLst>
                <a:ext uri="{FF2B5EF4-FFF2-40B4-BE49-F238E27FC236}">
                  <a16:creationId xmlns:a16="http://schemas.microsoft.com/office/drawing/2014/main" id="{77068E1E-05E2-6ECA-791A-954C8EAC19AB}"/>
                </a:ext>
              </a:extLst>
            </p:cNvPr>
            <p:cNvSpPr txBox="1"/>
            <p:nvPr/>
          </p:nvSpPr>
          <p:spPr>
            <a:xfrm>
              <a:off x="444617" y="3643925"/>
              <a:ext cx="426720" cy="369332"/>
            </a:xfrm>
            <a:prstGeom prst="rect">
              <a:avLst/>
            </a:prstGeom>
            <a:noFill/>
          </p:spPr>
          <p:txBody>
            <a:bodyPr wrap="none" rtlCol="0">
              <a:spAutoFit/>
            </a:bodyPr>
            <a:lstStyle/>
            <a:p>
              <a:r>
                <a:rPr lang="pt-BR" dirty="0"/>
                <a:t>Xn</a:t>
              </a:r>
            </a:p>
          </p:txBody>
        </p:sp>
        <p:sp>
          <p:nvSpPr>
            <p:cNvPr id="11" name="Elipse 10">
              <a:extLst>
                <a:ext uri="{FF2B5EF4-FFF2-40B4-BE49-F238E27FC236}">
                  <a16:creationId xmlns:a16="http://schemas.microsoft.com/office/drawing/2014/main" id="{668E20BB-F2CD-71C4-C289-9F33B3EB684F}"/>
                </a:ext>
              </a:extLst>
            </p:cNvPr>
            <p:cNvSpPr/>
            <p:nvPr/>
          </p:nvSpPr>
          <p:spPr>
            <a:xfrm>
              <a:off x="613627" y="3431097"/>
              <a:ext cx="45719" cy="497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Elipse 11">
              <a:extLst>
                <a:ext uri="{FF2B5EF4-FFF2-40B4-BE49-F238E27FC236}">
                  <a16:creationId xmlns:a16="http://schemas.microsoft.com/office/drawing/2014/main" id="{CC917B23-609B-463D-0F17-57E1C97F3CB1}"/>
                </a:ext>
              </a:extLst>
            </p:cNvPr>
            <p:cNvSpPr/>
            <p:nvPr/>
          </p:nvSpPr>
          <p:spPr>
            <a:xfrm>
              <a:off x="615025" y="3642220"/>
              <a:ext cx="45719" cy="497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Elipse 12">
              <a:extLst>
                <a:ext uri="{FF2B5EF4-FFF2-40B4-BE49-F238E27FC236}">
                  <a16:creationId xmlns:a16="http://schemas.microsoft.com/office/drawing/2014/main" id="{5A9D5DFF-7E42-03E8-2448-DEE0AAE90433}"/>
                </a:ext>
              </a:extLst>
            </p:cNvPr>
            <p:cNvSpPr/>
            <p:nvPr/>
          </p:nvSpPr>
          <p:spPr>
            <a:xfrm>
              <a:off x="616423" y="3542950"/>
              <a:ext cx="45719" cy="497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5" name="Conector reto 14">
              <a:extLst>
                <a:ext uri="{FF2B5EF4-FFF2-40B4-BE49-F238E27FC236}">
                  <a16:creationId xmlns:a16="http://schemas.microsoft.com/office/drawing/2014/main" id="{C5888004-4B40-0DAC-A71B-0DD692CA28F9}"/>
                </a:ext>
              </a:extLst>
            </p:cNvPr>
            <p:cNvCxnSpPr>
              <a:stCxn id="7" idx="3"/>
            </p:cNvCxnSpPr>
            <p:nvPr/>
          </p:nvCxnSpPr>
          <p:spPr>
            <a:xfrm>
              <a:off x="866527" y="2680958"/>
              <a:ext cx="34987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Conector reto 16">
              <a:extLst>
                <a:ext uri="{FF2B5EF4-FFF2-40B4-BE49-F238E27FC236}">
                  <a16:creationId xmlns:a16="http://schemas.microsoft.com/office/drawing/2014/main" id="{1C872567-DDFF-6318-9455-7B0A5A38C1DF}"/>
                </a:ext>
              </a:extLst>
            </p:cNvPr>
            <p:cNvCxnSpPr/>
            <p:nvPr/>
          </p:nvCxnSpPr>
          <p:spPr>
            <a:xfrm>
              <a:off x="866527" y="3014397"/>
              <a:ext cx="34987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Conector reto 17">
              <a:extLst>
                <a:ext uri="{FF2B5EF4-FFF2-40B4-BE49-F238E27FC236}">
                  <a16:creationId xmlns:a16="http://schemas.microsoft.com/office/drawing/2014/main" id="{B40716DB-829E-E118-76D1-14F33C2ADB9B}"/>
                </a:ext>
              </a:extLst>
            </p:cNvPr>
            <p:cNvCxnSpPr/>
            <p:nvPr/>
          </p:nvCxnSpPr>
          <p:spPr>
            <a:xfrm>
              <a:off x="876314" y="3301021"/>
              <a:ext cx="34987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ector reto 18">
              <a:extLst>
                <a:ext uri="{FF2B5EF4-FFF2-40B4-BE49-F238E27FC236}">
                  <a16:creationId xmlns:a16="http://schemas.microsoft.com/office/drawing/2014/main" id="{A0EFBE9A-610C-0059-439B-B3E37EC41689}"/>
                </a:ext>
              </a:extLst>
            </p:cNvPr>
            <p:cNvCxnSpPr/>
            <p:nvPr/>
          </p:nvCxnSpPr>
          <p:spPr>
            <a:xfrm>
              <a:off x="869323" y="3847704"/>
              <a:ext cx="34987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Conector reto 20">
              <a:extLst>
                <a:ext uri="{FF2B5EF4-FFF2-40B4-BE49-F238E27FC236}">
                  <a16:creationId xmlns:a16="http://schemas.microsoft.com/office/drawing/2014/main" id="{CB426C2C-8B1D-CDB5-A415-2E41CFF05B8E}"/>
                </a:ext>
              </a:extLst>
            </p:cNvPr>
            <p:cNvCxnSpPr>
              <a:endCxn id="5" idx="2"/>
            </p:cNvCxnSpPr>
            <p:nvPr/>
          </p:nvCxnSpPr>
          <p:spPr>
            <a:xfrm>
              <a:off x="1226191" y="3296873"/>
              <a:ext cx="459996"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Conector reto 22">
              <a:extLst>
                <a:ext uri="{FF2B5EF4-FFF2-40B4-BE49-F238E27FC236}">
                  <a16:creationId xmlns:a16="http://schemas.microsoft.com/office/drawing/2014/main" id="{79E28CF7-3D8A-3725-190C-042F4CEF6E70}"/>
                </a:ext>
              </a:extLst>
            </p:cNvPr>
            <p:cNvCxnSpPr>
              <a:cxnSpLocks/>
            </p:cNvCxnSpPr>
            <p:nvPr/>
          </p:nvCxnSpPr>
          <p:spPr>
            <a:xfrm>
              <a:off x="1226191" y="3014397"/>
              <a:ext cx="459996" cy="15281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Conector reto 24">
              <a:extLst>
                <a:ext uri="{FF2B5EF4-FFF2-40B4-BE49-F238E27FC236}">
                  <a16:creationId xmlns:a16="http://schemas.microsoft.com/office/drawing/2014/main" id="{DC0B7866-42FB-A64D-D58C-CB899DECC2D5}"/>
                </a:ext>
              </a:extLst>
            </p:cNvPr>
            <p:cNvCxnSpPr>
              <a:cxnSpLocks/>
              <a:endCxn id="5" idx="1"/>
            </p:cNvCxnSpPr>
            <p:nvPr/>
          </p:nvCxnSpPr>
          <p:spPr>
            <a:xfrm>
              <a:off x="1216404" y="2680958"/>
              <a:ext cx="576666" cy="3549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Conector reto 29">
              <a:extLst>
                <a:ext uri="{FF2B5EF4-FFF2-40B4-BE49-F238E27FC236}">
                  <a16:creationId xmlns:a16="http://schemas.microsoft.com/office/drawing/2014/main" id="{5FD1AE0B-DFF2-B26C-3C58-9C963E749BE3}"/>
                </a:ext>
              </a:extLst>
            </p:cNvPr>
            <p:cNvCxnSpPr>
              <a:endCxn id="5" idx="3"/>
            </p:cNvCxnSpPr>
            <p:nvPr/>
          </p:nvCxnSpPr>
          <p:spPr>
            <a:xfrm flipV="1">
              <a:off x="1226191" y="3557878"/>
              <a:ext cx="566879" cy="2898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CaixaDeTexto 30">
              <a:extLst>
                <a:ext uri="{FF2B5EF4-FFF2-40B4-BE49-F238E27FC236}">
                  <a16:creationId xmlns:a16="http://schemas.microsoft.com/office/drawing/2014/main" id="{74AE6C9C-7E2B-B0B9-EF3E-4E397B973FA4}"/>
                </a:ext>
              </a:extLst>
            </p:cNvPr>
            <p:cNvSpPr txBox="1"/>
            <p:nvPr/>
          </p:nvSpPr>
          <p:spPr>
            <a:xfrm>
              <a:off x="796053" y="2425554"/>
              <a:ext cx="470000" cy="276999"/>
            </a:xfrm>
            <a:prstGeom prst="rect">
              <a:avLst/>
            </a:prstGeom>
            <a:noFill/>
          </p:spPr>
          <p:txBody>
            <a:bodyPr wrap="none" rtlCol="0">
              <a:spAutoFit/>
            </a:bodyPr>
            <a:lstStyle/>
            <a:p>
              <a:r>
                <a:rPr lang="pt-BR" sz="1200" dirty="0"/>
                <a:t>Wk1</a:t>
              </a:r>
            </a:p>
          </p:txBody>
        </p:sp>
        <p:sp>
          <p:nvSpPr>
            <p:cNvPr id="32" name="CaixaDeTexto 31">
              <a:extLst>
                <a:ext uri="{FF2B5EF4-FFF2-40B4-BE49-F238E27FC236}">
                  <a16:creationId xmlns:a16="http://schemas.microsoft.com/office/drawing/2014/main" id="{1DDBDBF8-14A5-480F-4EBD-50D5411DF680}"/>
                </a:ext>
              </a:extLst>
            </p:cNvPr>
            <p:cNvSpPr txBox="1"/>
            <p:nvPr/>
          </p:nvSpPr>
          <p:spPr>
            <a:xfrm>
              <a:off x="797451" y="2770901"/>
              <a:ext cx="470000" cy="276999"/>
            </a:xfrm>
            <a:prstGeom prst="rect">
              <a:avLst/>
            </a:prstGeom>
            <a:noFill/>
          </p:spPr>
          <p:txBody>
            <a:bodyPr wrap="none" rtlCol="0">
              <a:spAutoFit/>
            </a:bodyPr>
            <a:lstStyle/>
            <a:p>
              <a:r>
                <a:rPr lang="pt-BR" sz="1200" dirty="0"/>
                <a:t>Wk2</a:t>
              </a:r>
            </a:p>
          </p:txBody>
        </p:sp>
        <p:sp>
          <p:nvSpPr>
            <p:cNvPr id="33" name="CaixaDeTexto 32">
              <a:extLst>
                <a:ext uri="{FF2B5EF4-FFF2-40B4-BE49-F238E27FC236}">
                  <a16:creationId xmlns:a16="http://schemas.microsoft.com/office/drawing/2014/main" id="{7AB5A357-CF0D-5144-3226-7861F3F60BE3}"/>
                </a:ext>
              </a:extLst>
            </p:cNvPr>
            <p:cNvSpPr txBox="1"/>
            <p:nvPr/>
          </p:nvSpPr>
          <p:spPr>
            <a:xfrm>
              <a:off x="807238" y="3049136"/>
              <a:ext cx="470000" cy="276999"/>
            </a:xfrm>
            <a:prstGeom prst="rect">
              <a:avLst/>
            </a:prstGeom>
            <a:noFill/>
          </p:spPr>
          <p:txBody>
            <a:bodyPr wrap="none" rtlCol="0">
              <a:spAutoFit/>
            </a:bodyPr>
            <a:lstStyle/>
            <a:p>
              <a:r>
                <a:rPr lang="pt-BR" sz="1200" dirty="0"/>
                <a:t>Wk3</a:t>
              </a:r>
            </a:p>
          </p:txBody>
        </p:sp>
        <p:sp>
          <p:nvSpPr>
            <p:cNvPr id="34" name="CaixaDeTexto 33">
              <a:extLst>
                <a:ext uri="{FF2B5EF4-FFF2-40B4-BE49-F238E27FC236}">
                  <a16:creationId xmlns:a16="http://schemas.microsoft.com/office/drawing/2014/main" id="{68FCA923-EDB7-5BBA-DC47-17DBD03156A2}"/>
                </a:ext>
              </a:extLst>
            </p:cNvPr>
            <p:cNvSpPr txBox="1"/>
            <p:nvPr/>
          </p:nvSpPr>
          <p:spPr>
            <a:xfrm>
              <a:off x="800247" y="3612597"/>
              <a:ext cx="471604" cy="276999"/>
            </a:xfrm>
            <a:prstGeom prst="rect">
              <a:avLst/>
            </a:prstGeom>
            <a:noFill/>
          </p:spPr>
          <p:txBody>
            <a:bodyPr wrap="none" rtlCol="0">
              <a:spAutoFit/>
            </a:bodyPr>
            <a:lstStyle/>
            <a:p>
              <a:r>
                <a:rPr lang="pt-BR" sz="1200" dirty="0"/>
                <a:t>Wkn</a:t>
              </a:r>
            </a:p>
          </p:txBody>
        </p:sp>
        <p:sp>
          <p:nvSpPr>
            <p:cNvPr id="36" name="CaixaDeTexto 35">
              <a:extLst>
                <a:ext uri="{FF2B5EF4-FFF2-40B4-BE49-F238E27FC236}">
                  <a16:creationId xmlns:a16="http://schemas.microsoft.com/office/drawing/2014/main" id="{D7B171EB-4367-F2D7-175B-7381FB12F249}"/>
                </a:ext>
              </a:extLst>
            </p:cNvPr>
            <p:cNvSpPr txBox="1"/>
            <p:nvPr/>
          </p:nvSpPr>
          <p:spPr>
            <a:xfrm>
              <a:off x="1489032" y="2196519"/>
              <a:ext cx="2876897" cy="615553"/>
            </a:xfrm>
            <a:prstGeom prst="rect">
              <a:avLst/>
            </a:prstGeom>
            <a:noFill/>
            <a:ln>
              <a:solidFill>
                <a:schemeClr val="tx1"/>
              </a:solidFill>
              <a:prstDash val="lgDash"/>
            </a:ln>
          </p:spPr>
          <p:txBody>
            <a:bodyPr wrap="square" rtlCol="0">
              <a:spAutoFit/>
            </a:bodyPr>
            <a:lstStyle/>
            <a:p>
              <a:r>
                <a:rPr lang="pt-BR" sz="800" dirty="0"/>
                <a:t>(</a:t>
              </a:r>
              <a:r>
                <a:rPr lang="pt-BR" dirty="0"/>
                <a:t>bias </a:t>
              </a:r>
              <a:r>
                <a:rPr lang="pt-BR" sz="800" dirty="0"/>
                <a:t>– viés que indica onde a reta passa e não depende das entradas, local do limiar de separação). Bias =1 muda peso Wk0.  </a:t>
              </a:r>
            </a:p>
          </p:txBody>
        </p:sp>
        <p:cxnSp>
          <p:nvCxnSpPr>
            <p:cNvPr id="38" name="Conector reto 37">
              <a:extLst>
                <a:ext uri="{FF2B5EF4-FFF2-40B4-BE49-F238E27FC236}">
                  <a16:creationId xmlns:a16="http://schemas.microsoft.com/office/drawing/2014/main" id="{69742EA7-D894-F88C-21EA-A99458EF10D7}"/>
                </a:ext>
              </a:extLst>
            </p:cNvPr>
            <p:cNvCxnSpPr>
              <a:cxnSpLocks/>
              <a:stCxn id="36" idx="2"/>
              <a:endCxn id="5" idx="0"/>
            </p:cNvCxnSpPr>
            <p:nvPr/>
          </p:nvCxnSpPr>
          <p:spPr>
            <a:xfrm flipH="1">
              <a:off x="2051108" y="2812072"/>
              <a:ext cx="876373" cy="1156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CaixaDeTexto 39">
              <a:extLst>
                <a:ext uri="{FF2B5EF4-FFF2-40B4-BE49-F238E27FC236}">
                  <a16:creationId xmlns:a16="http://schemas.microsoft.com/office/drawing/2014/main" id="{F5DB86B8-BA01-332F-2D27-14AC8CE756C2}"/>
                </a:ext>
              </a:extLst>
            </p:cNvPr>
            <p:cNvSpPr txBox="1"/>
            <p:nvPr/>
          </p:nvSpPr>
          <p:spPr>
            <a:xfrm>
              <a:off x="2291496" y="2836016"/>
              <a:ext cx="470000" cy="276999"/>
            </a:xfrm>
            <a:prstGeom prst="rect">
              <a:avLst/>
            </a:prstGeom>
            <a:noFill/>
          </p:spPr>
          <p:txBody>
            <a:bodyPr wrap="none" rtlCol="0">
              <a:spAutoFit/>
            </a:bodyPr>
            <a:lstStyle/>
            <a:p>
              <a:r>
                <a:rPr lang="pt-BR" sz="1200" dirty="0"/>
                <a:t>Wk0</a:t>
              </a:r>
            </a:p>
          </p:txBody>
        </p:sp>
        <p:sp>
          <p:nvSpPr>
            <p:cNvPr id="41" name="Retângulo 40">
              <a:extLst>
                <a:ext uri="{FF2B5EF4-FFF2-40B4-BE49-F238E27FC236}">
                  <a16:creationId xmlns:a16="http://schemas.microsoft.com/office/drawing/2014/main" id="{4A948843-D990-41C3-F9D0-4459E76B4904}"/>
                </a:ext>
              </a:extLst>
            </p:cNvPr>
            <p:cNvSpPr/>
            <p:nvPr/>
          </p:nvSpPr>
          <p:spPr>
            <a:xfrm>
              <a:off x="3011648" y="2994870"/>
              <a:ext cx="671119" cy="597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43" name="Conector reto 42">
              <a:extLst>
                <a:ext uri="{FF2B5EF4-FFF2-40B4-BE49-F238E27FC236}">
                  <a16:creationId xmlns:a16="http://schemas.microsoft.com/office/drawing/2014/main" id="{A711DAF9-E35C-C31D-BF2A-C53E01207F79}"/>
                </a:ext>
              </a:extLst>
            </p:cNvPr>
            <p:cNvCxnSpPr>
              <a:cxnSpLocks/>
            </p:cNvCxnSpPr>
            <p:nvPr/>
          </p:nvCxnSpPr>
          <p:spPr>
            <a:xfrm flipV="1">
              <a:off x="2416029" y="3285381"/>
              <a:ext cx="595619" cy="31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CaixaDeTexto 43">
              <a:extLst>
                <a:ext uri="{FF2B5EF4-FFF2-40B4-BE49-F238E27FC236}">
                  <a16:creationId xmlns:a16="http://schemas.microsoft.com/office/drawing/2014/main" id="{769ABA5E-1FE6-EEC3-939A-4F69A0EA052F}"/>
                </a:ext>
              </a:extLst>
            </p:cNvPr>
            <p:cNvSpPr txBox="1"/>
            <p:nvPr/>
          </p:nvSpPr>
          <p:spPr>
            <a:xfrm>
              <a:off x="2552150" y="3032358"/>
              <a:ext cx="271228" cy="276999"/>
            </a:xfrm>
            <a:prstGeom prst="rect">
              <a:avLst/>
            </a:prstGeom>
            <a:noFill/>
          </p:spPr>
          <p:txBody>
            <a:bodyPr wrap="none" rtlCol="0">
              <a:spAutoFit/>
            </a:bodyPr>
            <a:lstStyle/>
            <a:p>
              <a:r>
                <a:rPr lang="pt-BR" sz="1200" dirty="0"/>
                <a:t>V</a:t>
              </a:r>
            </a:p>
          </p:txBody>
        </p:sp>
        <p:cxnSp>
          <p:nvCxnSpPr>
            <p:cNvPr id="46" name="Conector reto 45">
              <a:extLst>
                <a:ext uri="{FF2B5EF4-FFF2-40B4-BE49-F238E27FC236}">
                  <a16:creationId xmlns:a16="http://schemas.microsoft.com/office/drawing/2014/main" id="{2CF43F15-250E-FABE-67D5-F5672CE37F97}"/>
                </a:ext>
              </a:extLst>
            </p:cNvPr>
            <p:cNvCxnSpPr/>
            <p:nvPr/>
          </p:nvCxnSpPr>
          <p:spPr>
            <a:xfrm flipV="1">
              <a:off x="3139380" y="3113497"/>
              <a:ext cx="459498" cy="3840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CaixaDeTexto 46">
              <a:extLst>
                <a:ext uri="{FF2B5EF4-FFF2-40B4-BE49-F238E27FC236}">
                  <a16:creationId xmlns:a16="http://schemas.microsoft.com/office/drawing/2014/main" id="{DE7E7E92-779B-3416-4B8B-BEC65DB3BAE7}"/>
                </a:ext>
              </a:extLst>
            </p:cNvPr>
            <p:cNvSpPr txBox="1"/>
            <p:nvPr/>
          </p:nvSpPr>
          <p:spPr>
            <a:xfrm>
              <a:off x="2988200" y="3000652"/>
              <a:ext cx="516488" cy="276999"/>
            </a:xfrm>
            <a:prstGeom prst="rect">
              <a:avLst/>
            </a:prstGeom>
            <a:noFill/>
          </p:spPr>
          <p:txBody>
            <a:bodyPr wrap="none" rtlCol="0">
              <a:spAutoFit/>
            </a:bodyPr>
            <a:lstStyle/>
            <a:p>
              <a:r>
                <a:rPr lang="pt-BR" sz="1200" dirty="0">
                  <a:solidFill>
                    <a:schemeClr val="bg1"/>
                  </a:solidFill>
                </a:rPr>
                <a:t>Y=(V)</a:t>
              </a:r>
            </a:p>
          </p:txBody>
        </p:sp>
        <p:sp>
          <p:nvSpPr>
            <p:cNvPr id="48" name="CaixaDeTexto 47">
              <a:extLst>
                <a:ext uri="{FF2B5EF4-FFF2-40B4-BE49-F238E27FC236}">
                  <a16:creationId xmlns:a16="http://schemas.microsoft.com/office/drawing/2014/main" id="{C75C4D29-F0D3-573A-9880-AD4BAF17EFE3}"/>
                </a:ext>
              </a:extLst>
            </p:cNvPr>
            <p:cNvSpPr txBox="1"/>
            <p:nvPr/>
          </p:nvSpPr>
          <p:spPr>
            <a:xfrm>
              <a:off x="4020142" y="3154079"/>
              <a:ext cx="260008" cy="276999"/>
            </a:xfrm>
            <a:prstGeom prst="rect">
              <a:avLst/>
            </a:prstGeom>
            <a:noFill/>
          </p:spPr>
          <p:txBody>
            <a:bodyPr wrap="none" rtlCol="0">
              <a:spAutoFit/>
            </a:bodyPr>
            <a:lstStyle/>
            <a:p>
              <a:r>
                <a:rPr lang="pt-BR" sz="1200" dirty="0"/>
                <a:t>Y</a:t>
              </a:r>
            </a:p>
          </p:txBody>
        </p:sp>
        <p:cxnSp>
          <p:nvCxnSpPr>
            <p:cNvPr id="50" name="Conector reto 49">
              <a:extLst>
                <a:ext uri="{FF2B5EF4-FFF2-40B4-BE49-F238E27FC236}">
                  <a16:creationId xmlns:a16="http://schemas.microsoft.com/office/drawing/2014/main" id="{8DB4BD43-28CA-41D9-D10C-C841FFBFB623}"/>
                </a:ext>
              </a:extLst>
            </p:cNvPr>
            <p:cNvCxnSpPr>
              <a:stCxn id="41" idx="3"/>
              <a:endCxn id="48" idx="1"/>
            </p:cNvCxnSpPr>
            <p:nvPr/>
          </p:nvCxnSpPr>
          <p:spPr>
            <a:xfrm flipV="1">
              <a:off x="3682767" y="3292579"/>
              <a:ext cx="337375" cy="11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2" name="CaixaDeTexto 51">
            <a:extLst>
              <a:ext uri="{FF2B5EF4-FFF2-40B4-BE49-F238E27FC236}">
                <a16:creationId xmlns:a16="http://schemas.microsoft.com/office/drawing/2014/main" id="{65E40DDD-F2BB-C051-28C2-A3D91DF326E4}"/>
              </a:ext>
            </a:extLst>
          </p:cNvPr>
          <p:cNvSpPr txBox="1"/>
          <p:nvPr/>
        </p:nvSpPr>
        <p:spPr>
          <a:xfrm>
            <a:off x="7424257" y="1968483"/>
            <a:ext cx="2942793" cy="461665"/>
          </a:xfrm>
          <a:prstGeom prst="rect">
            <a:avLst/>
          </a:prstGeom>
          <a:noFill/>
        </p:spPr>
        <p:txBody>
          <a:bodyPr wrap="none" rtlCol="0">
            <a:spAutoFit/>
          </a:bodyPr>
          <a:lstStyle/>
          <a:p>
            <a:r>
              <a:rPr lang="pt-BR" sz="1200" dirty="0"/>
              <a:t>Função de ativação = g(v)=v  (linear)</a:t>
            </a:r>
          </a:p>
          <a:p>
            <a:r>
              <a:rPr lang="pt-BR" sz="1200" dirty="0"/>
              <a:t>Derivada da Função de ativação  g’(v)=(v)’=1</a:t>
            </a:r>
          </a:p>
        </p:txBody>
      </p:sp>
      <p:pic>
        <p:nvPicPr>
          <p:cNvPr id="54" name="Imagem 53">
            <a:extLst>
              <a:ext uri="{FF2B5EF4-FFF2-40B4-BE49-F238E27FC236}">
                <a16:creationId xmlns:a16="http://schemas.microsoft.com/office/drawing/2014/main" id="{D25E1679-F459-9DBB-7762-EE6D5CB5015D}"/>
              </a:ext>
            </a:extLst>
          </p:cNvPr>
          <p:cNvPicPr>
            <a:picLocks noChangeAspect="1"/>
          </p:cNvPicPr>
          <p:nvPr/>
        </p:nvPicPr>
        <p:blipFill>
          <a:blip r:embed="rId3"/>
          <a:stretch>
            <a:fillRect/>
          </a:stretch>
        </p:blipFill>
        <p:spPr>
          <a:xfrm>
            <a:off x="7498856" y="2395292"/>
            <a:ext cx="1571625" cy="733425"/>
          </a:xfrm>
          <a:prstGeom prst="rect">
            <a:avLst/>
          </a:prstGeom>
        </p:spPr>
      </p:pic>
      <p:sp>
        <p:nvSpPr>
          <p:cNvPr id="55" name="CaixaDeTexto 54">
            <a:extLst>
              <a:ext uri="{FF2B5EF4-FFF2-40B4-BE49-F238E27FC236}">
                <a16:creationId xmlns:a16="http://schemas.microsoft.com/office/drawing/2014/main" id="{1B108AD8-5B95-AEF2-6081-9DA131838B60}"/>
              </a:ext>
            </a:extLst>
          </p:cNvPr>
          <p:cNvSpPr txBox="1"/>
          <p:nvPr/>
        </p:nvSpPr>
        <p:spPr>
          <a:xfrm>
            <a:off x="2466364" y="4752605"/>
            <a:ext cx="1203791" cy="276999"/>
          </a:xfrm>
          <a:prstGeom prst="rect">
            <a:avLst/>
          </a:prstGeom>
          <a:noFill/>
        </p:spPr>
        <p:txBody>
          <a:bodyPr wrap="none" rtlCol="0">
            <a:spAutoFit/>
          </a:bodyPr>
          <a:lstStyle/>
          <a:p>
            <a:r>
              <a:rPr lang="pt-BR" sz="1200" dirty="0"/>
              <a:t>pesos sinápticos</a:t>
            </a:r>
          </a:p>
        </p:txBody>
      </p:sp>
      <p:cxnSp>
        <p:nvCxnSpPr>
          <p:cNvPr id="57" name="Conector de Seta Reta 56">
            <a:extLst>
              <a:ext uri="{FF2B5EF4-FFF2-40B4-BE49-F238E27FC236}">
                <a16:creationId xmlns:a16="http://schemas.microsoft.com/office/drawing/2014/main" id="{3FF06B7E-933D-7F06-055C-66987DF8434B}"/>
              </a:ext>
            </a:extLst>
          </p:cNvPr>
          <p:cNvCxnSpPr>
            <a:cxnSpLocks/>
          </p:cNvCxnSpPr>
          <p:nvPr/>
        </p:nvCxnSpPr>
        <p:spPr>
          <a:xfrm flipH="1" flipV="1">
            <a:off x="3049407" y="4334212"/>
            <a:ext cx="10464" cy="418393"/>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0" name="CaixaDeTexto 59">
            <a:extLst>
              <a:ext uri="{FF2B5EF4-FFF2-40B4-BE49-F238E27FC236}">
                <a16:creationId xmlns:a16="http://schemas.microsoft.com/office/drawing/2014/main" id="{7F550CEB-F7F5-3190-1EC3-695186EC6EA9}"/>
              </a:ext>
            </a:extLst>
          </p:cNvPr>
          <p:cNvSpPr txBox="1"/>
          <p:nvPr/>
        </p:nvSpPr>
        <p:spPr>
          <a:xfrm>
            <a:off x="3461884" y="4132418"/>
            <a:ext cx="1350370" cy="276999"/>
          </a:xfrm>
          <a:prstGeom prst="rect">
            <a:avLst/>
          </a:prstGeom>
          <a:noFill/>
        </p:spPr>
        <p:txBody>
          <a:bodyPr wrap="none" rtlCol="0">
            <a:spAutoFit/>
          </a:bodyPr>
          <a:lstStyle/>
          <a:p>
            <a:r>
              <a:rPr lang="pt-BR" sz="1200" dirty="0"/>
              <a:t>Combinação linear</a:t>
            </a:r>
          </a:p>
        </p:txBody>
      </p:sp>
      <p:sp>
        <p:nvSpPr>
          <p:cNvPr id="61" name="CaixaDeTexto 60">
            <a:extLst>
              <a:ext uri="{FF2B5EF4-FFF2-40B4-BE49-F238E27FC236}">
                <a16:creationId xmlns:a16="http://schemas.microsoft.com/office/drawing/2014/main" id="{BBDDFC7E-398F-47E0-BCDE-8175FFC2FB6A}"/>
              </a:ext>
            </a:extLst>
          </p:cNvPr>
          <p:cNvSpPr txBox="1"/>
          <p:nvPr/>
        </p:nvSpPr>
        <p:spPr>
          <a:xfrm>
            <a:off x="4808836" y="4050798"/>
            <a:ext cx="2868742" cy="461665"/>
          </a:xfrm>
          <a:prstGeom prst="rect">
            <a:avLst/>
          </a:prstGeom>
          <a:noFill/>
        </p:spPr>
        <p:txBody>
          <a:bodyPr wrap="square" rtlCol="0">
            <a:spAutoFit/>
          </a:bodyPr>
          <a:lstStyle/>
          <a:p>
            <a:r>
              <a:rPr lang="pt-BR" sz="1200" dirty="0"/>
              <a:t>Função de ativação (sigmoid ou tanh(</a:t>
            </a:r>
            <a:r>
              <a:rPr lang="el-GR" sz="1200" dirty="0"/>
              <a:t>β</a:t>
            </a:r>
            <a:r>
              <a:rPr lang="pt-BR" sz="1200" dirty="0"/>
              <a:t>V, originalmente era degrau (threshold)) </a:t>
            </a:r>
          </a:p>
        </p:txBody>
      </p:sp>
      <p:sp>
        <p:nvSpPr>
          <p:cNvPr id="63" name="CaixaDeTexto 62">
            <a:extLst>
              <a:ext uri="{FF2B5EF4-FFF2-40B4-BE49-F238E27FC236}">
                <a16:creationId xmlns:a16="http://schemas.microsoft.com/office/drawing/2014/main" id="{4B153C1A-1265-3E2A-EA44-FBF167BF5AA6}"/>
              </a:ext>
            </a:extLst>
          </p:cNvPr>
          <p:cNvSpPr txBox="1"/>
          <p:nvPr/>
        </p:nvSpPr>
        <p:spPr>
          <a:xfrm>
            <a:off x="7000613" y="2953210"/>
            <a:ext cx="5191387" cy="646331"/>
          </a:xfrm>
          <a:prstGeom prst="rect">
            <a:avLst/>
          </a:prstGeom>
          <a:noFill/>
        </p:spPr>
        <p:txBody>
          <a:bodyPr wrap="square">
            <a:spAutoFit/>
          </a:bodyPr>
          <a:lstStyle/>
          <a:p>
            <a:pPr algn="l"/>
            <a:endParaRPr lang="pt-BR" sz="1200" b="0" i="0" u="none" strike="noStrike" baseline="0" dirty="0">
              <a:solidFill>
                <a:srgbClr val="000000"/>
              </a:solidFill>
              <a:latin typeface="Century Gothic" panose="020B0502020202020204" pitchFamily="34" charset="0"/>
            </a:endParaRPr>
          </a:p>
          <a:p>
            <a:r>
              <a:rPr lang="pt-BR" sz="1200" b="1" i="0" u="none" strike="noStrike" baseline="0" dirty="0">
                <a:solidFill>
                  <a:srgbClr val="FF0000"/>
                </a:solidFill>
                <a:latin typeface="Century Gothic" panose="020B0502020202020204" pitchFamily="34" charset="0"/>
              </a:rPr>
              <a:t>Backpropagation</a:t>
            </a:r>
            <a:r>
              <a:rPr lang="pt-BR" sz="1200" b="0" i="0" u="none" strike="noStrike" baseline="0" dirty="0">
                <a:solidFill>
                  <a:srgbClr val="FF0000"/>
                </a:solidFill>
                <a:latin typeface="Century Gothic" panose="020B0502020202020204" pitchFamily="34" charset="0"/>
              </a:rPr>
              <a:t>= ajusta pesos (W) e bias para diminuir fator de erros (costs). </a:t>
            </a:r>
            <a:endParaRPr lang="pt-BR" sz="1200" dirty="0">
              <a:latin typeface="Century Gothic" panose="020B0502020202020204" pitchFamily="34" charset="0"/>
            </a:endParaRPr>
          </a:p>
        </p:txBody>
      </p:sp>
      <p:sp>
        <p:nvSpPr>
          <p:cNvPr id="65" name="CaixaDeTexto 64">
            <a:extLst>
              <a:ext uri="{FF2B5EF4-FFF2-40B4-BE49-F238E27FC236}">
                <a16:creationId xmlns:a16="http://schemas.microsoft.com/office/drawing/2014/main" id="{C760C0C5-A6B4-3C85-DF0C-09A641B4C2B1}"/>
              </a:ext>
            </a:extLst>
          </p:cNvPr>
          <p:cNvSpPr txBox="1"/>
          <p:nvPr/>
        </p:nvSpPr>
        <p:spPr>
          <a:xfrm>
            <a:off x="7502534" y="3763679"/>
            <a:ext cx="4483865" cy="1938992"/>
          </a:xfrm>
          <a:prstGeom prst="rect">
            <a:avLst/>
          </a:prstGeom>
          <a:noFill/>
          <a:ln>
            <a:solidFill>
              <a:schemeClr val="tx1"/>
            </a:solidFill>
          </a:ln>
        </p:spPr>
        <p:txBody>
          <a:bodyPr wrap="square">
            <a:spAutoFit/>
          </a:bodyPr>
          <a:lstStyle/>
          <a:p>
            <a:r>
              <a:rPr lang="pt-BR" sz="1000" b="1" i="0" u="none" strike="noStrike" baseline="0" dirty="0">
                <a:solidFill>
                  <a:srgbClr val="212121"/>
                </a:solidFill>
                <a:latin typeface="Century Gothic" panose="020B0502020202020204" pitchFamily="34" charset="0"/>
              </a:rPr>
              <a:t>O ajuste dos pesos sinápticos é feito de acordo com o erro dado na saída Y: </a:t>
            </a:r>
          </a:p>
          <a:p>
            <a:r>
              <a:rPr lang="pt-BR" sz="1000" b="0" i="0" u="none" strike="noStrike" baseline="0" dirty="0" err="1">
                <a:solidFill>
                  <a:srgbClr val="212121"/>
                </a:solidFill>
                <a:latin typeface="Century Gothic" panose="020B0502020202020204" pitchFamily="34" charset="0"/>
              </a:rPr>
              <a:t>SigmoidBCE</a:t>
            </a:r>
            <a:endParaRPr lang="pt-BR" sz="1000" b="0" i="0" u="none" strike="noStrike" baseline="0" dirty="0">
              <a:solidFill>
                <a:srgbClr val="212121"/>
              </a:solidFill>
              <a:latin typeface="Century Gothic" panose="020B0502020202020204" pitchFamily="34" charset="0"/>
            </a:endParaRPr>
          </a:p>
          <a:p>
            <a:r>
              <a:rPr lang="en-US" sz="1000" b="0" i="0" u="none" strike="noStrike" baseline="0" dirty="0">
                <a:solidFill>
                  <a:srgbClr val="212121"/>
                </a:solidFill>
                <a:latin typeface="Century Gothic" panose="020B0502020202020204" pitchFamily="34" charset="0"/>
              </a:rPr>
              <a:t>Mean Squared Error (</a:t>
            </a:r>
            <a:r>
              <a:rPr lang="en-US" sz="1000" b="1" i="0" u="none" strike="noStrike" baseline="0" dirty="0">
                <a:solidFill>
                  <a:srgbClr val="000000"/>
                </a:solidFill>
                <a:latin typeface="Century Gothic" panose="020B0502020202020204" pitchFamily="34" charset="0"/>
              </a:rPr>
              <a:t>MSE</a:t>
            </a:r>
            <a:r>
              <a:rPr lang="en-US" sz="1000" b="0" i="0" u="none" strike="noStrike" baseline="0" dirty="0">
                <a:solidFill>
                  <a:srgbClr val="000000"/>
                </a:solidFill>
                <a:latin typeface="Century Gothic" panose="020B0502020202020204" pitchFamily="34" charset="0"/>
              </a:rPr>
              <a:t>)</a:t>
            </a:r>
            <a:r>
              <a:rPr lang="en-US" sz="1000" b="0" i="0" u="none" strike="noStrike" baseline="0" dirty="0">
                <a:solidFill>
                  <a:srgbClr val="212121"/>
                </a:solidFill>
                <a:latin typeface="Century Gothic" panose="020B0502020202020204" pitchFamily="34" charset="0"/>
              </a:rPr>
              <a:t>Mean Squared Logarithmic Error (MSLE)</a:t>
            </a:r>
          </a:p>
          <a:p>
            <a:r>
              <a:rPr lang="pt-BR" sz="1000" b="0" i="0" u="none" strike="noStrike" baseline="0" dirty="0">
                <a:solidFill>
                  <a:srgbClr val="212121"/>
                </a:solidFill>
                <a:latin typeface="Century Gothic" panose="020B0502020202020204" pitchFamily="34" charset="0"/>
              </a:rPr>
              <a:t>Mean Absolute Error (MAE)</a:t>
            </a:r>
          </a:p>
          <a:p>
            <a:r>
              <a:rPr lang="pt-BR" sz="1000" b="0" i="0" u="none" strike="noStrike" baseline="0" dirty="0" err="1">
                <a:solidFill>
                  <a:srgbClr val="212121"/>
                </a:solidFill>
                <a:latin typeface="Century Gothic" panose="020B0502020202020204" pitchFamily="34" charset="0"/>
              </a:rPr>
              <a:t>Binary</a:t>
            </a:r>
            <a:r>
              <a:rPr lang="pt-BR" sz="1000" b="0" i="0" u="none" strike="noStrike" baseline="0" dirty="0">
                <a:solidFill>
                  <a:srgbClr val="212121"/>
                </a:solidFill>
                <a:latin typeface="Century Gothic" panose="020B0502020202020204" pitchFamily="34" charset="0"/>
              </a:rPr>
              <a:t> </a:t>
            </a:r>
            <a:r>
              <a:rPr lang="pt-BR" sz="1000" b="0" i="0" u="none" strike="noStrike" baseline="0" dirty="0" err="1">
                <a:solidFill>
                  <a:srgbClr val="212121"/>
                </a:solidFill>
                <a:latin typeface="Century Gothic" panose="020B0502020202020204" pitchFamily="34" charset="0"/>
              </a:rPr>
              <a:t>Classification</a:t>
            </a:r>
            <a:r>
              <a:rPr lang="pt-BR" sz="1000" b="0" i="0" u="none" strike="noStrike" baseline="0" dirty="0">
                <a:solidFill>
                  <a:srgbClr val="212121"/>
                </a:solidFill>
                <a:latin typeface="Century Gothic" panose="020B0502020202020204" pitchFamily="34" charset="0"/>
              </a:rPr>
              <a:t> </a:t>
            </a:r>
          </a:p>
          <a:p>
            <a:r>
              <a:rPr lang="pt-BR" sz="1000" b="0" i="0" u="none" strike="noStrike" baseline="0" dirty="0" err="1">
                <a:solidFill>
                  <a:srgbClr val="212121"/>
                </a:solidFill>
                <a:latin typeface="Century Gothic" panose="020B0502020202020204" pitchFamily="34" charset="0"/>
              </a:rPr>
              <a:t>Binary</a:t>
            </a:r>
            <a:r>
              <a:rPr lang="pt-BR" sz="1000" b="0" i="0" u="none" strike="noStrike" baseline="0" dirty="0">
                <a:solidFill>
                  <a:srgbClr val="212121"/>
                </a:solidFill>
                <a:latin typeface="Century Gothic" panose="020B0502020202020204" pitchFamily="34" charset="0"/>
              </a:rPr>
              <a:t> Cross-</a:t>
            </a:r>
            <a:r>
              <a:rPr lang="pt-BR" sz="1000" b="0" i="0" u="none" strike="noStrike" baseline="0" dirty="0" err="1">
                <a:solidFill>
                  <a:srgbClr val="212121"/>
                </a:solidFill>
                <a:latin typeface="Century Gothic" panose="020B0502020202020204" pitchFamily="34" charset="0"/>
              </a:rPr>
              <a:t>Entropy</a:t>
            </a:r>
            <a:r>
              <a:rPr lang="pt-BR" sz="1000" b="0" i="0" u="none" strike="noStrike" baseline="0" dirty="0">
                <a:solidFill>
                  <a:srgbClr val="212121"/>
                </a:solidFill>
                <a:latin typeface="Century Gothic" panose="020B0502020202020204" pitchFamily="34" charset="0"/>
              </a:rPr>
              <a:t> </a:t>
            </a:r>
            <a:r>
              <a:rPr lang="pt-BR" sz="1000" b="0" i="0" u="none" strike="noStrike" baseline="0" dirty="0" err="1">
                <a:solidFill>
                  <a:srgbClr val="212121"/>
                </a:solidFill>
                <a:latin typeface="Century Gothic" panose="020B0502020202020204" pitchFamily="34" charset="0"/>
              </a:rPr>
              <a:t>Hinge</a:t>
            </a:r>
            <a:endParaRPr lang="pt-BR" sz="1000" b="0" i="0" u="none" strike="noStrike" baseline="0" dirty="0">
              <a:solidFill>
                <a:srgbClr val="212121"/>
              </a:solidFill>
              <a:latin typeface="Century Gothic" panose="020B0502020202020204" pitchFamily="34" charset="0"/>
            </a:endParaRPr>
          </a:p>
          <a:p>
            <a:r>
              <a:rPr lang="pt-BR" sz="1000" b="0" i="0" u="none" strike="noStrike" baseline="0" dirty="0">
                <a:solidFill>
                  <a:srgbClr val="212121"/>
                </a:solidFill>
                <a:latin typeface="Century Gothic" panose="020B0502020202020204" pitchFamily="34" charset="0"/>
              </a:rPr>
              <a:t>Squared </a:t>
            </a:r>
            <a:r>
              <a:rPr lang="pt-BR" sz="1000" b="0" i="0" u="none" strike="noStrike" baseline="0" dirty="0" err="1">
                <a:solidFill>
                  <a:srgbClr val="212121"/>
                </a:solidFill>
                <a:latin typeface="Century Gothic" panose="020B0502020202020204" pitchFamily="34" charset="0"/>
              </a:rPr>
              <a:t>Hinge</a:t>
            </a:r>
            <a:endParaRPr lang="pt-BR" sz="1000" b="0" i="0" u="none" strike="noStrike" baseline="0" dirty="0">
              <a:solidFill>
                <a:srgbClr val="212121"/>
              </a:solidFill>
              <a:latin typeface="Century Gothic" panose="020B0502020202020204" pitchFamily="34" charset="0"/>
            </a:endParaRPr>
          </a:p>
          <a:p>
            <a:r>
              <a:rPr lang="pt-BR" sz="1000" b="0" i="0" u="none" strike="noStrike" baseline="0" dirty="0" err="1">
                <a:solidFill>
                  <a:srgbClr val="212121"/>
                </a:solidFill>
                <a:latin typeface="Century Gothic" panose="020B0502020202020204" pitchFamily="34" charset="0"/>
              </a:rPr>
              <a:t>Multi-Class</a:t>
            </a:r>
            <a:r>
              <a:rPr lang="pt-BR" sz="1000" b="0" i="0" u="none" strike="noStrike" baseline="0" dirty="0">
                <a:solidFill>
                  <a:srgbClr val="212121"/>
                </a:solidFill>
                <a:latin typeface="Century Gothic" panose="020B0502020202020204" pitchFamily="34" charset="0"/>
              </a:rPr>
              <a:t> </a:t>
            </a:r>
            <a:r>
              <a:rPr lang="pt-BR" sz="1000" b="0" i="0" u="none" strike="noStrike" baseline="0" dirty="0" err="1">
                <a:solidFill>
                  <a:srgbClr val="212121"/>
                </a:solidFill>
                <a:latin typeface="Century Gothic" panose="020B0502020202020204" pitchFamily="34" charset="0"/>
              </a:rPr>
              <a:t>Classification</a:t>
            </a:r>
            <a:endParaRPr lang="pt-BR" sz="1000" b="0" i="0" u="none" strike="noStrike" baseline="0" dirty="0">
              <a:solidFill>
                <a:srgbClr val="212121"/>
              </a:solidFill>
              <a:latin typeface="Century Gothic" panose="020B0502020202020204" pitchFamily="34" charset="0"/>
            </a:endParaRPr>
          </a:p>
          <a:p>
            <a:r>
              <a:rPr lang="pt-BR" sz="1000" b="0" i="0" u="none" strike="noStrike" baseline="0" dirty="0" err="1">
                <a:solidFill>
                  <a:srgbClr val="212121"/>
                </a:solidFill>
                <a:latin typeface="Century Gothic" panose="020B0502020202020204" pitchFamily="34" charset="0"/>
              </a:rPr>
              <a:t>Multi-Class</a:t>
            </a:r>
            <a:r>
              <a:rPr lang="pt-BR" sz="1000" b="0" i="0" u="none" strike="noStrike" baseline="0" dirty="0">
                <a:solidFill>
                  <a:srgbClr val="212121"/>
                </a:solidFill>
                <a:latin typeface="Century Gothic" panose="020B0502020202020204" pitchFamily="34" charset="0"/>
              </a:rPr>
              <a:t> Cross-</a:t>
            </a:r>
            <a:r>
              <a:rPr lang="pt-BR" sz="1000" b="0" i="0" u="none" strike="noStrike" baseline="0" dirty="0" err="1">
                <a:solidFill>
                  <a:srgbClr val="212121"/>
                </a:solidFill>
                <a:latin typeface="Century Gothic" panose="020B0502020202020204" pitchFamily="34" charset="0"/>
              </a:rPr>
              <a:t>Entropy</a:t>
            </a:r>
            <a:endParaRPr lang="pt-BR" sz="1000" b="0" i="0" u="none" strike="noStrike" baseline="0" dirty="0">
              <a:solidFill>
                <a:srgbClr val="212121"/>
              </a:solidFill>
              <a:latin typeface="Century Gothic" panose="020B0502020202020204" pitchFamily="34" charset="0"/>
            </a:endParaRPr>
          </a:p>
          <a:p>
            <a:r>
              <a:rPr lang="pt-BR" sz="1000" b="0" i="0" u="none" strike="noStrike" baseline="0" dirty="0" err="1">
                <a:solidFill>
                  <a:srgbClr val="212121"/>
                </a:solidFill>
                <a:latin typeface="Century Gothic" panose="020B0502020202020204" pitchFamily="34" charset="0"/>
              </a:rPr>
              <a:t>Sparse</a:t>
            </a:r>
            <a:r>
              <a:rPr lang="pt-BR" sz="1000" b="0" i="0" u="none" strike="noStrike" baseline="0" dirty="0">
                <a:solidFill>
                  <a:srgbClr val="212121"/>
                </a:solidFill>
                <a:latin typeface="Century Gothic" panose="020B0502020202020204" pitchFamily="34" charset="0"/>
              </a:rPr>
              <a:t> </a:t>
            </a:r>
            <a:r>
              <a:rPr lang="pt-BR" sz="1000" b="0" i="0" u="none" strike="noStrike" baseline="0" dirty="0" err="1">
                <a:solidFill>
                  <a:srgbClr val="212121"/>
                </a:solidFill>
                <a:latin typeface="Century Gothic" panose="020B0502020202020204" pitchFamily="34" charset="0"/>
              </a:rPr>
              <a:t>Multiclass</a:t>
            </a:r>
            <a:r>
              <a:rPr lang="pt-BR" sz="1000" b="0" i="0" u="none" strike="noStrike" baseline="0" dirty="0">
                <a:solidFill>
                  <a:srgbClr val="212121"/>
                </a:solidFill>
                <a:latin typeface="Century Gothic" panose="020B0502020202020204" pitchFamily="34" charset="0"/>
              </a:rPr>
              <a:t> Cross-</a:t>
            </a:r>
            <a:r>
              <a:rPr lang="pt-BR" sz="1000" b="0" i="0" u="none" strike="noStrike" baseline="0" dirty="0" err="1">
                <a:solidFill>
                  <a:srgbClr val="212121"/>
                </a:solidFill>
                <a:latin typeface="Century Gothic" panose="020B0502020202020204" pitchFamily="34" charset="0"/>
              </a:rPr>
              <a:t>Entropy</a:t>
            </a:r>
            <a:endParaRPr lang="pt-BR" sz="1000" b="0" i="0" u="none" strike="noStrike" baseline="0" dirty="0">
              <a:solidFill>
                <a:srgbClr val="212121"/>
              </a:solidFill>
              <a:latin typeface="Century Gothic" panose="020B0502020202020204" pitchFamily="34" charset="0"/>
            </a:endParaRPr>
          </a:p>
          <a:p>
            <a:r>
              <a:rPr lang="pt-BR" sz="1000" b="0" i="0" u="none" strike="noStrike" baseline="0" dirty="0" err="1">
                <a:solidFill>
                  <a:srgbClr val="212121"/>
                </a:solidFill>
                <a:latin typeface="Century Gothic" panose="020B0502020202020204" pitchFamily="34" charset="0"/>
              </a:rPr>
              <a:t>Kullback</a:t>
            </a:r>
            <a:r>
              <a:rPr lang="pt-BR" sz="1000" b="0" i="0" u="none" strike="noStrike" baseline="0" dirty="0">
                <a:solidFill>
                  <a:srgbClr val="212121"/>
                </a:solidFill>
                <a:latin typeface="Century Gothic" panose="020B0502020202020204" pitchFamily="34" charset="0"/>
              </a:rPr>
              <a:t> </a:t>
            </a:r>
            <a:r>
              <a:rPr lang="pt-BR" sz="1000" b="0" i="0" u="none" strike="noStrike" baseline="0" dirty="0" err="1">
                <a:solidFill>
                  <a:srgbClr val="212121"/>
                </a:solidFill>
                <a:latin typeface="Century Gothic" panose="020B0502020202020204" pitchFamily="34" charset="0"/>
              </a:rPr>
              <a:t>Leibler</a:t>
            </a:r>
            <a:r>
              <a:rPr lang="pt-BR" sz="1000" b="0" i="0" u="none" strike="noStrike" baseline="0" dirty="0">
                <a:solidFill>
                  <a:srgbClr val="212121"/>
                </a:solidFill>
                <a:latin typeface="Century Gothic" panose="020B0502020202020204" pitchFamily="34" charset="0"/>
              </a:rPr>
              <a:t> </a:t>
            </a:r>
            <a:r>
              <a:rPr lang="pt-BR" sz="1000" b="0" i="0" u="none" strike="noStrike" baseline="0" dirty="0" err="1">
                <a:solidFill>
                  <a:srgbClr val="212121"/>
                </a:solidFill>
                <a:latin typeface="Century Gothic" panose="020B0502020202020204" pitchFamily="34" charset="0"/>
              </a:rPr>
              <a:t>Divergence</a:t>
            </a:r>
            <a:endParaRPr lang="pt-BR" sz="1000" dirty="0">
              <a:latin typeface="Century Gothic" panose="020B0502020202020204" pitchFamily="34" charset="0"/>
            </a:endParaRPr>
          </a:p>
        </p:txBody>
      </p:sp>
      <p:sp>
        <p:nvSpPr>
          <p:cNvPr id="66" name="CaixaDeTexto 65">
            <a:extLst>
              <a:ext uri="{FF2B5EF4-FFF2-40B4-BE49-F238E27FC236}">
                <a16:creationId xmlns:a16="http://schemas.microsoft.com/office/drawing/2014/main" id="{B595FE25-5AD1-7373-7907-B3855286E05E}"/>
              </a:ext>
            </a:extLst>
          </p:cNvPr>
          <p:cNvSpPr txBox="1"/>
          <p:nvPr/>
        </p:nvSpPr>
        <p:spPr>
          <a:xfrm>
            <a:off x="9982899" y="4733175"/>
            <a:ext cx="1462836" cy="276999"/>
          </a:xfrm>
          <a:prstGeom prst="rect">
            <a:avLst/>
          </a:prstGeom>
          <a:solidFill>
            <a:schemeClr val="accent2"/>
          </a:solidFill>
        </p:spPr>
        <p:txBody>
          <a:bodyPr wrap="none" rtlCol="0">
            <a:spAutoFit/>
          </a:bodyPr>
          <a:lstStyle/>
          <a:p>
            <a:r>
              <a:rPr lang="pt-BR" sz="1200" dirty="0"/>
              <a:t>Erros = </a:t>
            </a:r>
            <a:r>
              <a:rPr lang="pt-BR" sz="1200" dirty="0" err="1"/>
              <a:t>Cost</a:t>
            </a:r>
            <a:r>
              <a:rPr lang="pt-BR" sz="1200" dirty="0"/>
              <a:t> ou </a:t>
            </a:r>
            <a:r>
              <a:rPr lang="pt-BR" sz="1200" dirty="0" err="1"/>
              <a:t>Loss</a:t>
            </a:r>
            <a:r>
              <a:rPr lang="pt-BR" sz="1200" dirty="0"/>
              <a:t> </a:t>
            </a:r>
          </a:p>
        </p:txBody>
      </p:sp>
      <p:cxnSp>
        <p:nvCxnSpPr>
          <p:cNvPr id="68" name="Conector de Seta Reta 67">
            <a:extLst>
              <a:ext uri="{FF2B5EF4-FFF2-40B4-BE49-F238E27FC236}">
                <a16:creationId xmlns:a16="http://schemas.microsoft.com/office/drawing/2014/main" id="{66F6B26E-A117-757A-06BE-7AFC331389DD}"/>
              </a:ext>
            </a:extLst>
          </p:cNvPr>
          <p:cNvCxnSpPr/>
          <p:nvPr/>
        </p:nvCxnSpPr>
        <p:spPr>
          <a:xfrm flipH="1">
            <a:off x="6602136" y="3125574"/>
            <a:ext cx="64595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Conector de Seta Reta 69">
            <a:extLst>
              <a:ext uri="{FF2B5EF4-FFF2-40B4-BE49-F238E27FC236}">
                <a16:creationId xmlns:a16="http://schemas.microsoft.com/office/drawing/2014/main" id="{45F9EF45-CCA5-BA9C-576D-A4614BEF9F49}"/>
              </a:ext>
            </a:extLst>
          </p:cNvPr>
          <p:cNvCxnSpPr/>
          <p:nvPr/>
        </p:nvCxnSpPr>
        <p:spPr>
          <a:xfrm>
            <a:off x="6627303" y="3611828"/>
            <a:ext cx="67111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1" name="CaixaDeTexto 70">
            <a:extLst>
              <a:ext uri="{FF2B5EF4-FFF2-40B4-BE49-F238E27FC236}">
                <a16:creationId xmlns:a16="http://schemas.microsoft.com/office/drawing/2014/main" id="{3765FD98-7ABA-C040-BC03-4F66534FD045}"/>
              </a:ext>
            </a:extLst>
          </p:cNvPr>
          <p:cNvSpPr txBox="1"/>
          <p:nvPr/>
        </p:nvSpPr>
        <p:spPr>
          <a:xfrm>
            <a:off x="6582060" y="3430768"/>
            <a:ext cx="920474" cy="461665"/>
          </a:xfrm>
          <a:prstGeom prst="rect">
            <a:avLst/>
          </a:prstGeom>
          <a:noFill/>
        </p:spPr>
        <p:txBody>
          <a:bodyPr wrap="square">
            <a:spAutoFit/>
          </a:bodyPr>
          <a:lstStyle/>
          <a:p>
            <a:pPr algn="l"/>
            <a:endParaRPr lang="pt-BR" sz="1200" b="0" i="0" u="none" strike="noStrike" baseline="0" dirty="0">
              <a:solidFill>
                <a:srgbClr val="000000"/>
              </a:solidFill>
              <a:latin typeface="Century Gothic" panose="020B0502020202020204" pitchFamily="34" charset="0"/>
            </a:endParaRPr>
          </a:p>
          <a:p>
            <a:r>
              <a:rPr lang="pt-BR" sz="1200" b="1" i="0" u="none" strike="noStrike" baseline="0" dirty="0">
                <a:solidFill>
                  <a:srgbClr val="FF0000"/>
                </a:solidFill>
                <a:latin typeface="Century Gothic" panose="020B0502020202020204" pitchFamily="34" charset="0"/>
              </a:rPr>
              <a:t>Forward</a:t>
            </a:r>
            <a:endParaRPr lang="pt-BR" sz="1200" dirty="0">
              <a:latin typeface="Century Gothic" panose="020B0502020202020204" pitchFamily="34" charset="0"/>
            </a:endParaRPr>
          </a:p>
        </p:txBody>
      </p:sp>
      <p:sp>
        <p:nvSpPr>
          <p:cNvPr id="72" name="CaixaDeTexto 71">
            <a:extLst>
              <a:ext uri="{FF2B5EF4-FFF2-40B4-BE49-F238E27FC236}">
                <a16:creationId xmlns:a16="http://schemas.microsoft.com/office/drawing/2014/main" id="{8BA4DED6-799B-EE03-1B75-566D9DA6B5A2}"/>
              </a:ext>
            </a:extLst>
          </p:cNvPr>
          <p:cNvSpPr txBox="1"/>
          <p:nvPr/>
        </p:nvSpPr>
        <p:spPr>
          <a:xfrm>
            <a:off x="4199961" y="1948629"/>
            <a:ext cx="2187715" cy="553998"/>
          </a:xfrm>
          <a:prstGeom prst="rect">
            <a:avLst/>
          </a:prstGeom>
          <a:noFill/>
        </p:spPr>
        <p:txBody>
          <a:bodyPr wrap="none" rtlCol="0">
            <a:spAutoFit/>
          </a:bodyPr>
          <a:lstStyle/>
          <a:p>
            <a:r>
              <a:rPr lang="pt-BR" b="1" u="sng" dirty="0"/>
              <a:t>Neurônio Perceptron</a:t>
            </a:r>
          </a:p>
          <a:p>
            <a:pPr algn="ctr"/>
            <a:r>
              <a:rPr lang="pt-BR" sz="1200" u="sng" dirty="0"/>
              <a:t>(</a:t>
            </a:r>
            <a:r>
              <a:rPr lang="pt-BR" sz="1200" u="sng" dirty="0" err="1"/>
              <a:t>Rosemblatt</a:t>
            </a:r>
            <a:r>
              <a:rPr lang="pt-BR" sz="1200" u="sng" dirty="0"/>
              <a:t> - 1958)</a:t>
            </a:r>
          </a:p>
        </p:txBody>
      </p:sp>
      <p:sp>
        <p:nvSpPr>
          <p:cNvPr id="4" name="CaixaDeTexto 3">
            <a:extLst>
              <a:ext uri="{FF2B5EF4-FFF2-40B4-BE49-F238E27FC236}">
                <a16:creationId xmlns:a16="http://schemas.microsoft.com/office/drawing/2014/main" id="{52D008C1-D3CA-C474-3E2B-E20FDFD64EA7}"/>
              </a:ext>
            </a:extLst>
          </p:cNvPr>
          <p:cNvSpPr txBox="1"/>
          <p:nvPr/>
        </p:nvSpPr>
        <p:spPr>
          <a:xfrm>
            <a:off x="360727" y="5100946"/>
            <a:ext cx="6098796" cy="1569660"/>
          </a:xfrm>
          <a:prstGeom prst="rect">
            <a:avLst/>
          </a:prstGeom>
          <a:noFill/>
        </p:spPr>
        <p:txBody>
          <a:bodyPr wrap="square">
            <a:spAutoFit/>
          </a:bodyPr>
          <a:lstStyle/>
          <a:p>
            <a:r>
              <a:rPr lang="pt-BR" sz="1200" b="1" i="0" dirty="0">
                <a:solidFill>
                  <a:srgbClr val="212121"/>
                </a:solidFill>
                <a:effectLst/>
                <a:highlight>
                  <a:srgbClr val="FFFFFF"/>
                </a:highlight>
                <a:latin typeface="Century Gothic" panose="020B0502020202020204" pitchFamily="34" charset="0"/>
              </a:rPr>
              <a:t>Epochs – </a:t>
            </a:r>
            <a:r>
              <a:rPr lang="pt-BR" sz="1200" i="0" dirty="0">
                <a:solidFill>
                  <a:srgbClr val="212121"/>
                </a:solidFill>
                <a:effectLst/>
                <a:highlight>
                  <a:srgbClr val="FFFFFF"/>
                </a:highlight>
                <a:latin typeface="Century Gothic" panose="020B0502020202020204" pitchFamily="34" charset="0"/>
              </a:rPr>
              <a:t>1 passada dataset completo, quando retorna para ajustar seus pesos sinápticos e depois continua neste loop de Epochs até aprender  ou o erro chegar próximo de zero e não alterar mais seus valores, ou parar por algum motivo definido. </a:t>
            </a:r>
          </a:p>
          <a:p>
            <a:endParaRPr lang="pt-BR" sz="1200" dirty="0">
              <a:solidFill>
                <a:srgbClr val="212121"/>
              </a:solidFill>
              <a:highlight>
                <a:srgbClr val="FFFFFF"/>
              </a:highlight>
              <a:latin typeface="Century Gothic" panose="020B0502020202020204" pitchFamily="34" charset="0"/>
            </a:endParaRPr>
          </a:p>
          <a:p>
            <a:r>
              <a:rPr lang="pt-BR" sz="1200" b="1" i="0" dirty="0">
                <a:solidFill>
                  <a:srgbClr val="212121"/>
                </a:solidFill>
                <a:effectLst/>
                <a:highlight>
                  <a:srgbClr val="FFFFFF"/>
                </a:highlight>
                <a:latin typeface="Century Gothic" panose="020B0502020202020204" pitchFamily="34" charset="0"/>
              </a:rPr>
              <a:t>Batch</a:t>
            </a:r>
            <a:r>
              <a:rPr lang="pt-BR" sz="1200" i="0" dirty="0">
                <a:solidFill>
                  <a:srgbClr val="212121"/>
                </a:solidFill>
                <a:effectLst/>
                <a:highlight>
                  <a:srgbClr val="FFFFFF"/>
                </a:highlight>
                <a:latin typeface="Century Gothic" panose="020B0502020202020204" pitchFamily="34" charset="0"/>
              </a:rPr>
              <a:t> – São parciais da Epochs. </a:t>
            </a:r>
          </a:p>
          <a:p>
            <a:endParaRPr lang="pt-BR" sz="1200" b="0" dirty="0">
              <a:solidFill>
                <a:srgbClr val="212121"/>
              </a:solidFill>
              <a:highlight>
                <a:srgbClr val="FFFFFF"/>
              </a:highlight>
              <a:latin typeface="Century Gothic" panose="020B0502020202020204" pitchFamily="34" charset="0"/>
            </a:endParaRPr>
          </a:p>
          <a:p>
            <a:r>
              <a:rPr lang="pt-BR" sz="1200" b="0" i="0" dirty="0">
                <a:solidFill>
                  <a:srgbClr val="212121"/>
                </a:solidFill>
                <a:effectLst/>
                <a:highlight>
                  <a:srgbClr val="FFFFFF"/>
                </a:highlight>
                <a:latin typeface="Century Gothic" panose="020B0502020202020204" pitchFamily="34" charset="0"/>
              </a:rPr>
              <a:t> </a:t>
            </a:r>
            <a:endParaRPr lang="pt-BR" sz="1200" dirty="0">
              <a:latin typeface="Century Gothic" panose="020B0502020202020204" pitchFamily="34" charset="0"/>
            </a:endParaRPr>
          </a:p>
        </p:txBody>
      </p:sp>
      <p:sp>
        <p:nvSpPr>
          <p:cNvPr id="16" name="CaixaDeTexto 15">
            <a:extLst>
              <a:ext uri="{FF2B5EF4-FFF2-40B4-BE49-F238E27FC236}">
                <a16:creationId xmlns:a16="http://schemas.microsoft.com/office/drawing/2014/main" id="{885A41D4-8C55-1029-0B72-7A088DBA7941}"/>
              </a:ext>
            </a:extLst>
          </p:cNvPr>
          <p:cNvSpPr txBox="1"/>
          <p:nvPr/>
        </p:nvSpPr>
        <p:spPr>
          <a:xfrm>
            <a:off x="9221571" y="270125"/>
            <a:ext cx="2764828" cy="1631216"/>
          </a:xfrm>
          <a:prstGeom prst="rect">
            <a:avLst/>
          </a:prstGeom>
          <a:noFill/>
          <a:ln>
            <a:solidFill>
              <a:schemeClr val="tx1"/>
            </a:solidFill>
          </a:ln>
        </p:spPr>
        <p:txBody>
          <a:bodyPr wrap="square" rtlCol="0">
            <a:spAutoFit/>
          </a:bodyPr>
          <a:lstStyle/>
          <a:p>
            <a:r>
              <a:rPr lang="pt-BR" sz="1000" dirty="0">
                <a:latin typeface="Century Gothic" panose="020B0502020202020204" pitchFamily="34" charset="0"/>
              </a:rPr>
              <a:t>Cérebro humano ~ 86 bilhões de neurônios</a:t>
            </a:r>
          </a:p>
          <a:p>
            <a:r>
              <a:rPr lang="pt-BR" sz="1000" dirty="0">
                <a:latin typeface="Century Gothic" panose="020B0502020202020204" pitchFamily="34" charset="0"/>
              </a:rPr>
              <a:t> Sinapses ~10</a:t>
            </a:r>
            <a:r>
              <a:rPr lang="pt-BR" sz="1000" baseline="30000" dirty="0">
                <a:latin typeface="Century Gothic" panose="020B0502020202020204" pitchFamily="34" charset="0"/>
              </a:rPr>
              <a:t>15</a:t>
            </a:r>
            <a:r>
              <a:rPr lang="pt-BR" sz="1000" dirty="0">
                <a:latin typeface="Century Gothic" panose="020B0502020202020204" pitchFamily="34" charset="0"/>
              </a:rPr>
              <a:t>  - nome que se dá para conectar em outros neurônios.</a:t>
            </a:r>
          </a:p>
          <a:p>
            <a:r>
              <a:rPr lang="pt-BR" sz="1000" dirty="0">
                <a:latin typeface="Century Gothic" panose="020B0502020202020204" pitchFamily="34" charset="0"/>
              </a:rPr>
              <a:t>Cada neurônio tem entre 1.000 e 10.000 sinapses.  </a:t>
            </a:r>
          </a:p>
          <a:p>
            <a:r>
              <a:rPr lang="pt-BR" sz="1000" dirty="0">
                <a:latin typeface="Century Gothic" panose="020B0502020202020204" pitchFamily="34" charset="0"/>
              </a:rPr>
              <a:t>Neurônio computador é inspirado usando matemática simples, para  representar um neurônio do cérebro humano, mas muito longe da realidade. </a:t>
            </a:r>
          </a:p>
        </p:txBody>
      </p:sp>
      <p:sp>
        <p:nvSpPr>
          <p:cNvPr id="27" name="CaixaDeTexto 26">
            <a:extLst>
              <a:ext uri="{FF2B5EF4-FFF2-40B4-BE49-F238E27FC236}">
                <a16:creationId xmlns:a16="http://schemas.microsoft.com/office/drawing/2014/main" id="{72F1A08B-A9E7-083E-9576-64102B79E10C}"/>
              </a:ext>
            </a:extLst>
          </p:cNvPr>
          <p:cNvSpPr txBox="1"/>
          <p:nvPr/>
        </p:nvSpPr>
        <p:spPr>
          <a:xfrm>
            <a:off x="3117318" y="6085082"/>
            <a:ext cx="8770432" cy="707886"/>
          </a:xfrm>
          <a:prstGeom prst="rect">
            <a:avLst/>
          </a:prstGeom>
          <a:noFill/>
        </p:spPr>
        <p:txBody>
          <a:bodyPr wrap="square" rtlCol="0">
            <a:spAutoFit/>
          </a:bodyPr>
          <a:lstStyle/>
          <a:p>
            <a:r>
              <a:rPr lang="pt-BR" sz="1000" b="1" dirty="0"/>
              <a:t>Perceptron e Adaline :  Primeiro Inverno </a:t>
            </a:r>
            <a:r>
              <a:rPr lang="pt-BR" sz="1000" dirty="0"/>
              <a:t>– 1960 a 1970 – Neurônio resolve apenas portas AND e OR mas não OR exclusivo.</a:t>
            </a:r>
          </a:p>
          <a:p>
            <a:r>
              <a:rPr lang="pt-BR" sz="1000" dirty="0"/>
              <a:t>Rumelhart, Hilton e Willians introduz </a:t>
            </a:r>
            <a:r>
              <a:rPr lang="pt-BR" sz="1000" b="1" dirty="0"/>
              <a:t>Backpropagation</a:t>
            </a:r>
            <a:r>
              <a:rPr lang="pt-BR" sz="1000" dirty="0"/>
              <a:t> em 1986.</a:t>
            </a:r>
            <a:br>
              <a:rPr lang="pt-BR" sz="1000" dirty="0"/>
            </a:br>
            <a:r>
              <a:rPr lang="pt-BR" sz="1000" dirty="0"/>
              <a:t>O </a:t>
            </a:r>
            <a:r>
              <a:rPr lang="pt-BR" sz="1000" b="1" dirty="0"/>
              <a:t>Adaline</a:t>
            </a:r>
            <a:r>
              <a:rPr lang="pt-BR" sz="1000" dirty="0"/>
              <a:t> (widrow e Hoff)  o perceptron era função degrau e Adaptive Linear Element (Adaline) função ativação linear minimizando os erros e o ajuste dos erros é realizado através do gradiente descendente (encontrar o mínimo). O gradiente dá direção, para saber o quanto ou passo a seguir, aplica a </a:t>
            </a:r>
            <a:r>
              <a:rPr lang="pt-BR" sz="1000" b="1" dirty="0"/>
              <a:t>taxa de aprendizagem</a:t>
            </a:r>
            <a:r>
              <a:rPr lang="pt-BR" sz="1000" dirty="0"/>
              <a:t>.     </a:t>
            </a:r>
          </a:p>
        </p:txBody>
      </p:sp>
    </p:spTree>
    <p:extLst>
      <p:ext uri="{BB962C8B-B14F-4D97-AF65-F5344CB8AC3E}">
        <p14:creationId xmlns:p14="http://schemas.microsoft.com/office/powerpoint/2010/main" val="7900669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C5CDC4DB-766A-C357-A7FF-31D49AE0F659}"/>
              </a:ext>
            </a:extLst>
          </p:cNvPr>
          <p:cNvPicPr>
            <a:picLocks noChangeAspect="1"/>
          </p:cNvPicPr>
          <p:nvPr/>
        </p:nvPicPr>
        <p:blipFill>
          <a:blip r:embed="rId2"/>
          <a:stretch>
            <a:fillRect/>
          </a:stretch>
        </p:blipFill>
        <p:spPr>
          <a:xfrm>
            <a:off x="279111" y="175491"/>
            <a:ext cx="3115094" cy="1875414"/>
          </a:xfrm>
          <a:prstGeom prst="rect">
            <a:avLst/>
          </a:prstGeom>
        </p:spPr>
      </p:pic>
      <p:pic>
        <p:nvPicPr>
          <p:cNvPr id="5" name="Imagem 4">
            <a:extLst>
              <a:ext uri="{FF2B5EF4-FFF2-40B4-BE49-F238E27FC236}">
                <a16:creationId xmlns:a16="http://schemas.microsoft.com/office/drawing/2014/main" id="{6E25CA8C-7350-90AA-516B-D09C4C2E8331}"/>
              </a:ext>
            </a:extLst>
          </p:cNvPr>
          <p:cNvPicPr>
            <a:picLocks noChangeAspect="1"/>
          </p:cNvPicPr>
          <p:nvPr/>
        </p:nvPicPr>
        <p:blipFill>
          <a:blip r:embed="rId3"/>
          <a:stretch>
            <a:fillRect/>
          </a:stretch>
        </p:blipFill>
        <p:spPr>
          <a:xfrm>
            <a:off x="3875809" y="14125"/>
            <a:ext cx="4440382" cy="2406889"/>
          </a:xfrm>
          <a:prstGeom prst="rect">
            <a:avLst/>
          </a:prstGeom>
        </p:spPr>
      </p:pic>
    </p:spTree>
    <p:extLst>
      <p:ext uri="{BB962C8B-B14F-4D97-AF65-F5344CB8AC3E}">
        <p14:creationId xmlns:p14="http://schemas.microsoft.com/office/powerpoint/2010/main" val="32070116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m 36">
            <a:extLst>
              <a:ext uri="{FF2B5EF4-FFF2-40B4-BE49-F238E27FC236}">
                <a16:creationId xmlns:a16="http://schemas.microsoft.com/office/drawing/2014/main" id="{469170B6-26D8-DA71-8392-3D5E19B35833}"/>
              </a:ext>
            </a:extLst>
          </p:cNvPr>
          <p:cNvPicPr>
            <a:picLocks noChangeAspect="1"/>
          </p:cNvPicPr>
          <p:nvPr/>
        </p:nvPicPr>
        <p:blipFill>
          <a:blip r:embed="rId2"/>
          <a:stretch>
            <a:fillRect/>
          </a:stretch>
        </p:blipFill>
        <p:spPr>
          <a:xfrm>
            <a:off x="306302" y="562504"/>
            <a:ext cx="1125980" cy="448561"/>
          </a:xfrm>
          <a:prstGeom prst="rect">
            <a:avLst/>
          </a:prstGeom>
        </p:spPr>
      </p:pic>
      <p:sp>
        <p:nvSpPr>
          <p:cNvPr id="2" name="CaixaDeTexto 1">
            <a:extLst>
              <a:ext uri="{FF2B5EF4-FFF2-40B4-BE49-F238E27FC236}">
                <a16:creationId xmlns:a16="http://schemas.microsoft.com/office/drawing/2014/main" id="{5D330B81-1A8A-DA8A-017F-BD53E4E21CD5}"/>
              </a:ext>
            </a:extLst>
          </p:cNvPr>
          <p:cNvSpPr txBox="1"/>
          <p:nvPr/>
        </p:nvSpPr>
        <p:spPr>
          <a:xfrm>
            <a:off x="1559537" y="486702"/>
            <a:ext cx="5078634" cy="600164"/>
          </a:xfrm>
          <a:prstGeom prst="rect">
            <a:avLst/>
          </a:prstGeom>
          <a:noFill/>
        </p:spPr>
        <p:txBody>
          <a:bodyPr wrap="none" rtlCol="0">
            <a:spAutoFit/>
          </a:bodyPr>
          <a:lstStyle/>
          <a:p>
            <a:r>
              <a:rPr lang="pt-BR" sz="1100" dirty="0">
                <a:latin typeface="Century Gothic" panose="020B0502020202020204" pitchFamily="34" charset="0"/>
              </a:rPr>
              <a:t>WIJ = É o peso específico para o neurônio pós sináptico I da entrada J. </a:t>
            </a:r>
          </a:p>
          <a:p>
            <a:r>
              <a:rPr lang="pt-BR" sz="1100" dirty="0">
                <a:latin typeface="Century Gothic" panose="020B0502020202020204" pitchFamily="34" charset="0"/>
              </a:rPr>
              <a:t> = taxa de aprendizagem </a:t>
            </a:r>
          </a:p>
          <a:p>
            <a:r>
              <a:rPr lang="pt-BR" sz="1100" dirty="0">
                <a:latin typeface="Century Gothic" panose="020B0502020202020204" pitchFamily="34" charset="0"/>
              </a:rPr>
              <a:t>∂E/ ∂WIJ = Gradiente descendente</a:t>
            </a:r>
          </a:p>
        </p:txBody>
      </p:sp>
      <p:sp>
        <p:nvSpPr>
          <p:cNvPr id="3" name="CaixaDeTexto 2">
            <a:extLst>
              <a:ext uri="{FF2B5EF4-FFF2-40B4-BE49-F238E27FC236}">
                <a16:creationId xmlns:a16="http://schemas.microsoft.com/office/drawing/2014/main" id="{58C7A0FA-6958-C38B-7C5E-9CC7D2C9840C}"/>
              </a:ext>
            </a:extLst>
          </p:cNvPr>
          <p:cNvSpPr txBox="1"/>
          <p:nvPr/>
        </p:nvSpPr>
        <p:spPr>
          <a:xfrm>
            <a:off x="194452" y="117370"/>
            <a:ext cx="5307415" cy="276999"/>
          </a:xfrm>
          <a:prstGeom prst="rect">
            <a:avLst/>
          </a:prstGeom>
          <a:noFill/>
        </p:spPr>
        <p:txBody>
          <a:bodyPr wrap="none" rtlCol="0">
            <a:spAutoFit/>
          </a:bodyPr>
          <a:lstStyle/>
          <a:p>
            <a:r>
              <a:rPr lang="pt-BR" sz="1200" dirty="0"/>
              <a:t>O erro dos pesos é reduzido ajustando os pesos da rede de acordo com a fórmula:</a:t>
            </a:r>
          </a:p>
        </p:txBody>
      </p:sp>
      <p:pic>
        <p:nvPicPr>
          <p:cNvPr id="5" name="Imagem 4">
            <a:extLst>
              <a:ext uri="{FF2B5EF4-FFF2-40B4-BE49-F238E27FC236}">
                <a16:creationId xmlns:a16="http://schemas.microsoft.com/office/drawing/2014/main" id="{98D3A00F-5A08-A01F-6D98-0B500ECB5E72}"/>
              </a:ext>
            </a:extLst>
          </p:cNvPr>
          <p:cNvPicPr>
            <a:picLocks noChangeAspect="1"/>
          </p:cNvPicPr>
          <p:nvPr/>
        </p:nvPicPr>
        <p:blipFill>
          <a:blip r:embed="rId3"/>
          <a:stretch>
            <a:fillRect/>
          </a:stretch>
        </p:blipFill>
        <p:spPr>
          <a:xfrm>
            <a:off x="306302" y="3251246"/>
            <a:ext cx="4419522" cy="2035845"/>
          </a:xfrm>
          <a:prstGeom prst="rect">
            <a:avLst/>
          </a:prstGeom>
        </p:spPr>
      </p:pic>
      <p:pic>
        <p:nvPicPr>
          <p:cNvPr id="7" name="Imagem 6">
            <a:extLst>
              <a:ext uri="{FF2B5EF4-FFF2-40B4-BE49-F238E27FC236}">
                <a16:creationId xmlns:a16="http://schemas.microsoft.com/office/drawing/2014/main" id="{9B1AD345-D1A0-98F3-0FF0-5D5364BCA85E}"/>
              </a:ext>
            </a:extLst>
          </p:cNvPr>
          <p:cNvPicPr>
            <a:picLocks noChangeAspect="1"/>
          </p:cNvPicPr>
          <p:nvPr/>
        </p:nvPicPr>
        <p:blipFill>
          <a:blip r:embed="rId4"/>
          <a:stretch>
            <a:fillRect/>
          </a:stretch>
        </p:blipFill>
        <p:spPr>
          <a:xfrm>
            <a:off x="306302" y="1272467"/>
            <a:ext cx="2530902" cy="780454"/>
          </a:xfrm>
          <a:prstGeom prst="rect">
            <a:avLst/>
          </a:prstGeom>
        </p:spPr>
      </p:pic>
      <p:pic>
        <p:nvPicPr>
          <p:cNvPr id="9" name="Imagem 8">
            <a:extLst>
              <a:ext uri="{FF2B5EF4-FFF2-40B4-BE49-F238E27FC236}">
                <a16:creationId xmlns:a16="http://schemas.microsoft.com/office/drawing/2014/main" id="{55BBF83F-8D49-C8BF-76DF-651AC3009F1E}"/>
              </a:ext>
            </a:extLst>
          </p:cNvPr>
          <p:cNvPicPr>
            <a:picLocks noChangeAspect="1"/>
          </p:cNvPicPr>
          <p:nvPr/>
        </p:nvPicPr>
        <p:blipFill>
          <a:blip r:embed="rId5"/>
          <a:stretch>
            <a:fillRect/>
          </a:stretch>
        </p:blipFill>
        <p:spPr>
          <a:xfrm>
            <a:off x="2848159" y="1338844"/>
            <a:ext cx="2233613" cy="647700"/>
          </a:xfrm>
          <a:prstGeom prst="rect">
            <a:avLst/>
          </a:prstGeom>
        </p:spPr>
      </p:pic>
      <p:sp>
        <p:nvSpPr>
          <p:cNvPr id="10" name="CaixaDeTexto 9">
            <a:extLst>
              <a:ext uri="{FF2B5EF4-FFF2-40B4-BE49-F238E27FC236}">
                <a16:creationId xmlns:a16="http://schemas.microsoft.com/office/drawing/2014/main" id="{03037677-D3B4-03F0-8AD6-8100AFF61531}"/>
              </a:ext>
            </a:extLst>
          </p:cNvPr>
          <p:cNvSpPr txBox="1"/>
          <p:nvPr/>
        </p:nvSpPr>
        <p:spPr>
          <a:xfrm>
            <a:off x="1288314" y="2948708"/>
            <a:ext cx="2145139" cy="261610"/>
          </a:xfrm>
          <a:prstGeom prst="rect">
            <a:avLst/>
          </a:prstGeom>
          <a:noFill/>
        </p:spPr>
        <p:txBody>
          <a:bodyPr wrap="none" rtlCol="0">
            <a:spAutoFit/>
          </a:bodyPr>
          <a:lstStyle/>
          <a:p>
            <a:r>
              <a:rPr lang="pt-BR" sz="1100" dirty="0"/>
              <a:t>Diferença do Perceptron x Adaline</a:t>
            </a:r>
          </a:p>
        </p:txBody>
      </p:sp>
      <p:sp>
        <p:nvSpPr>
          <p:cNvPr id="11" name="CaixaDeTexto 10">
            <a:extLst>
              <a:ext uri="{FF2B5EF4-FFF2-40B4-BE49-F238E27FC236}">
                <a16:creationId xmlns:a16="http://schemas.microsoft.com/office/drawing/2014/main" id="{8CA04BB9-3DE3-F48F-630D-FEB61678FE6A}"/>
              </a:ext>
            </a:extLst>
          </p:cNvPr>
          <p:cNvSpPr txBox="1"/>
          <p:nvPr/>
        </p:nvSpPr>
        <p:spPr>
          <a:xfrm>
            <a:off x="306301" y="5328019"/>
            <a:ext cx="2633451" cy="600164"/>
          </a:xfrm>
          <a:prstGeom prst="rect">
            <a:avLst/>
          </a:prstGeom>
          <a:noFill/>
        </p:spPr>
        <p:txBody>
          <a:bodyPr wrap="square" rtlCol="0">
            <a:spAutoFit/>
          </a:bodyPr>
          <a:lstStyle/>
          <a:p>
            <a:r>
              <a:rPr lang="pt-BR" sz="1100" dirty="0"/>
              <a:t>Encontrou uma reta de separação correta, ela para e pode ser uma reta, boa ou não tão boa de separação. </a:t>
            </a:r>
          </a:p>
        </p:txBody>
      </p:sp>
      <p:sp>
        <p:nvSpPr>
          <p:cNvPr id="12" name="CaixaDeTexto 11">
            <a:extLst>
              <a:ext uri="{FF2B5EF4-FFF2-40B4-BE49-F238E27FC236}">
                <a16:creationId xmlns:a16="http://schemas.microsoft.com/office/drawing/2014/main" id="{C05CDF2F-7E98-4141-6EE2-9BAD15F5BEA7}"/>
              </a:ext>
            </a:extLst>
          </p:cNvPr>
          <p:cNvSpPr txBox="1"/>
          <p:nvPr/>
        </p:nvSpPr>
        <p:spPr>
          <a:xfrm>
            <a:off x="2939752" y="5303712"/>
            <a:ext cx="2633451" cy="430887"/>
          </a:xfrm>
          <a:prstGeom prst="rect">
            <a:avLst/>
          </a:prstGeom>
          <a:noFill/>
        </p:spPr>
        <p:txBody>
          <a:bodyPr wrap="square" rtlCol="0">
            <a:spAutoFit/>
          </a:bodyPr>
          <a:lstStyle/>
          <a:p>
            <a:r>
              <a:rPr lang="pt-BR" sz="1100" dirty="0"/>
              <a:t>Encontra a única e melhor reta de separação. </a:t>
            </a:r>
          </a:p>
        </p:txBody>
      </p:sp>
      <p:sp>
        <p:nvSpPr>
          <p:cNvPr id="14" name="CaixaDeTexto 13">
            <a:extLst>
              <a:ext uri="{FF2B5EF4-FFF2-40B4-BE49-F238E27FC236}">
                <a16:creationId xmlns:a16="http://schemas.microsoft.com/office/drawing/2014/main" id="{0646053E-A5FD-B957-F413-427B97187688}"/>
              </a:ext>
            </a:extLst>
          </p:cNvPr>
          <p:cNvSpPr txBox="1"/>
          <p:nvPr/>
        </p:nvSpPr>
        <p:spPr>
          <a:xfrm>
            <a:off x="6607016" y="5940467"/>
            <a:ext cx="6097424" cy="430887"/>
          </a:xfrm>
          <a:prstGeom prst="rect">
            <a:avLst/>
          </a:prstGeom>
          <a:noFill/>
        </p:spPr>
        <p:txBody>
          <a:bodyPr wrap="square">
            <a:spAutoFit/>
          </a:bodyPr>
          <a:lstStyle/>
          <a:p>
            <a:r>
              <a:rPr lang="pt-BR" sz="1100" dirty="0">
                <a:hlinkClick r:id="rId6"/>
              </a:rPr>
              <a:t>Algoritmo da retropropagação de erros (Backpropagation) para redes </a:t>
            </a:r>
            <a:r>
              <a:rPr lang="pt-BR" sz="1100" dirty="0" err="1">
                <a:hlinkClick r:id="rId6"/>
              </a:rPr>
              <a:t>multi-layer</a:t>
            </a:r>
            <a:r>
              <a:rPr lang="pt-BR" sz="1100" dirty="0">
                <a:hlinkClick r:id="rId6"/>
              </a:rPr>
              <a:t> perceptron (youtube.com)</a:t>
            </a:r>
            <a:endParaRPr lang="pt-BR" sz="1100" dirty="0"/>
          </a:p>
        </p:txBody>
      </p:sp>
      <p:sp>
        <p:nvSpPr>
          <p:cNvPr id="22" name="CaixaDeTexto 21">
            <a:extLst>
              <a:ext uri="{FF2B5EF4-FFF2-40B4-BE49-F238E27FC236}">
                <a16:creationId xmlns:a16="http://schemas.microsoft.com/office/drawing/2014/main" id="{FBF0F725-E730-6965-A389-6B9A16C77E09}"/>
              </a:ext>
            </a:extLst>
          </p:cNvPr>
          <p:cNvSpPr txBox="1"/>
          <p:nvPr/>
        </p:nvSpPr>
        <p:spPr>
          <a:xfrm>
            <a:off x="8206654" y="5661502"/>
            <a:ext cx="2305322" cy="246221"/>
          </a:xfrm>
          <a:prstGeom prst="rect">
            <a:avLst/>
          </a:prstGeom>
          <a:noFill/>
        </p:spPr>
        <p:txBody>
          <a:bodyPr wrap="square">
            <a:spAutoFit/>
          </a:bodyPr>
          <a:lstStyle/>
          <a:p>
            <a:r>
              <a:rPr lang="pt-BR" sz="1000" dirty="0">
                <a:hlinkClick r:id="rId7"/>
              </a:rPr>
              <a:t>https://youtu.be/6yYUc6nU3Cw?t=772</a:t>
            </a:r>
            <a:r>
              <a:rPr lang="pt-BR" sz="1000" dirty="0"/>
              <a:t> </a:t>
            </a:r>
          </a:p>
        </p:txBody>
      </p:sp>
      <p:sp>
        <p:nvSpPr>
          <p:cNvPr id="17" name="CaixaDeTexto 16">
            <a:extLst>
              <a:ext uri="{FF2B5EF4-FFF2-40B4-BE49-F238E27FC236}">
                <a16:creationId xmlns:a16="http://schemas.microsoft.com/office/drawing/2014/main" id="{0147A046-45E4-0EE8-F61A-D54931BBAAAB}"/>
              </a:ext>
            </a:extLst>
          </p:cNvPr>
          <p:cNvSpPr txBox="1"/>
          <p:nvPr/>
        </p:nvSpPr>
        <p:spPr>
          <a:xfrm>
            <a:off x="7189365" y="117370"/>
            <a:ext cx="4932727" cy="1754326"/>
          </a:xfrm>
          <a:prstGeom prst="rect">
            <a:avLst/>
          </a:prstGeom>
          <a:noFill/>
        </p:spPr>
        <p:txBody>
          <a:bodyPr wrap="square" rtlCol="0">
            <a:spAutoFit/>
          </a:bodyPr>
          <a:lstStyle/>
          <a:p>
            <a:r>
              <a:rPr lang="pt-BR" sz="1200" b="1" dirty="0"/>
              <a:t>Backpropagation </a:t>
            </a:r>
            <a:r>
              <a:rPr lang="pt-BR" sz="1200" dirty="0"/>
              <a:t> é um método que nos permite atualizar os pesos de uma rede neural multicamadas. Usa-se a regra da cadeia com o gradiente descendente (derivada de função de uma função) para otimizar a função da rede.  </a:t>
            </a:r>
          </a:p>
          <a:p>
            <a:r>
              <a:rPr lang="pt-BR" sz="1200" dirty="0"/>
              <a:t>Usa- se apenas 2 camadas neste conceito, porque mais camadas não ajudaria em nada, não daria para derivar, porque a derivada de um ponto de mínimo é uma reta e seria zero, para tudo.  </a:t>
            </a:r>
            <a:br>
              <a:rPr lang="pt-BR" sz="1200" dirty="0"/>
            </a:br>
            <a:r>
              <a:rPr lang="pt-BR" sz="1200" dirty="0"/>
              <a:t>Seria o efeito de uma função sigmoide em cascada, não existindo inclinação detectável. </a:t>
            </a:r>
          </a:p>
        </p:txBody>
      </p:sp>
      <p:pic>
        <p:nvPicPr>
          <p:cNvPr id="19" name="Imagem 18">
            <a:extLst>
              <a:ext uri="{FF2B5EF4-FFF2-40B4-BE49-F238E27FC236}">
                <a16:creationId xmlns:a16="http://schemas.microsoft.com/office/drawing/2014/main" id="{1EF740F0-CA0B-0DF4-E08A-A40473E24887}"/>
              </a:ext>
            </a:extLst>
          </p:cNvPr>
          <p:cNvPicPr>
            <a:picLocks noChangeAspect="1"/>
          </p:cNvPicPr>
          <p:nvPr/>
        </p:nvPicPr>
        <p:blipFill>
          <a:blip r:embed="rId8"/>
          <a:stretch>
            <a:fillRect/>
          </a:stretch>
        </p:blipFill>
        <p:spPr>
          <a:xfrm>
            <a:off x="8459161" y="1691668"/>
            <a:ext cx="1800308" cy="1387845"/>
          </a:xfrm>
          <a:prstGeom prst="rect">
            <a:avLst/>
          </a:prstGeom>
        </p:spPr>
      </p:pic>
      <p:sp>
        <p:nvSpPr>
          <p:cNvPr id="20" name="CaixaDeTexto 19">
            <a:extLst>
              <a:ext uri="{FF2B5EF4-FFF2-40B4-BE49-F238E27FC236}">
                <a16:creationId xmlns:a16="http://schemas.microsoft.com/office/drawing/2014/main" id="{5EB4CBB5-23D6-0AA3-A83B-A34893C0CDBA}"/>
              </a:ext>
            </a:extLst>
          </p:cNvPr>
          <p:cNvSpPr txBox="1"/>
          <p:nvPr/>
        </p:nvSpPr>
        <p:spPr>
          <a:xfrm>
            <a:off x="8538197" y="3103897"/>
            <a:ext cx="1760418" cy="261610"/>
          </a:xfrm>
          <a:prstGeom prst="rect">
            <a:avLst/>
          </a:prstGeom>
          <a:noFill/>
        </p:spPr>
        <p:txBody>
          <a:bodyPr wrap="none" rtlCol="0">
            <a:spAutoFit/>
          </a:bodyPr>
          <a:lstStyle/>
          <a:p>
            <a:r>
              <a:rPr lang="pt-BR" sz="1100" dirty="0"/>
              <a:t>Função sigmoide em cadeia</a:t>
            </a:r>
          </a:p>
        </p:txBody>
      </p:sp>
    </p:spTree>
    <p:extLst>
      <p:ext uri="{BB962C8B-B14F-4D97-AF65-F5344CB8AC3E}">
        <p14:creationId xmlns:p14="http://schemas.microsoft.com/office/powerpoint/2010/main" val="4958602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F238037C-B00F-267F-13AF-38CFEE4393EF}"/>
              </a:ext>
            </a:extLst>
          </p:cNvPr>
          <p:cNvSpPr txBox="1"/>
          <p:nvPr/>
        </p:nvSpPr>
        <p:spPr>
          <a:xfrm>
            <a:off x="3048712" y="3259289"/>
            <a:ext cx="6097424" cy="369332"/>
          </a:xfrm>
          <a:prstGeom prst="rect">
            <a:avLst/>
          </a:prstGeom>
          <a:noFill/>
        </p:spPr>
        <p:txBody>
          <a:bodyPr wrap="square">
            <a:spAutoFit/>
          </a:bodyPr>
          <a:lstStyle/>
          <a:p>
            <a:r>
              <a:rPr lang="pt-BR" dirty="0">
                <a:hlinkClick r:id="rId2"/>
              </a:rPr>
              <a:t>ALMOÇO DE NEGÓCIOS - 17/04/2024 (youtube.com)</a:t>
            </a:r>
            <a:endParaRPr lang="pt-BR" dirty="0"/>
          </a:p>
        </p:txBody>
      </p:sp>
      <p:sp>
        <p:nvSpPr>
          <p:cNvPr id="4" name="CaixaDeTexto 3">
            <a:extLst>
              <a:ext uri="{FF2B5EF4-FFF2-40B4-BE49-F238E27FC236}">
                <a16:creationId xmlns:a16="http://schemas.microsoft.com/office/drawing/2014/main" id="{5B7E1F34-3D1B-9FC3-9FAC-771826C6F75D}"/>
              </a:ext>
            </a:extLst>
          </p:cNvPr>
          <p:cNvSpPr txBox="1"/>
          <p:nvPr/>
        </p:nvSpPr>
        <p:spPr>
          <a:xfrm>
            <a:off x="3048712" y="2820112"/>
            <a:ext cx="916918" cy="369332"/>
          </a:xfrm>
          <a:prstGeom prst="rect">
            <a:avLst/>
          </a:prstGeom>
          <a:noFill/>
        </p:spPr>
        <p:txBody>
          <a:bodyPr wrap="none" rtlCol="0">
            <a:spAutoFit/>
          </a:bodyPr>
          <a:lstStyle/>
          <a:p>
            <a:r>
              <a:rPr lang="pt-BR" dirty="0"/>
              <a:t>Positivo</a:t>
            </a:r>
          </a:p>
        </p:txBody>
      </p:sp>
    </p:spTree>
    <p:extLst>
      <p:ext uri="{BB962C8B-B14F-4D97-AF65-F5344CB8AC3E}">
        <p14:creationId xmlns:p14="http://schemas.microsoft.com/office/powerpoint/2010/main" val="12391459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CaixaDeTexto 73">
            <a:extLst>
              <a:ext uri="{FF2B5EF4-FFF2-40B4-BE49-F238E27FC236}">
                <a16:creationId xmlns:a16="http://schemas.microsoft.com/office/drawing/2014/main" id="{7FD89439-3160-E78A-970F-F089DCFFE04A}"/>
              </a:ext>
            </a:extLst>
          </p:cNvPr>
          <p:cNvSpPr txBox="1"/>
          <p:nvPr/>
        </p:nvSpPr>
        <p:spPr>
          <a:xfrm>
            <a:off x="202607" y="103634"/>
            <a:ext cx="3882832" cy="646331"/>
          </a:xfrm>
          <a:prstGeom prst="rect">
            <a:avLst/>
          </a:prstGeom>
          <a:solidFill>
            <a:srgbClr val="FFFF00"/>
          </a:solidFill>
          <a:ln>
            <a:solidFill>
              <a:schemeClr val="tx1"/>
            </a:solidFill>
          </a:ln>
        </p:spPr>
        <p:txBody>
          <a:bodyPr wrap="square">
            <a:spAutoFit/>
          </a:bodyPr>
          <a:lstStyle/>
          <a:p>
            <a:r>
              <a:rPr lang="pt-BR" sz="1200" dirty="0">
                <a:latin typeface="Century Gothic" panose="020B0502020202020204" pitchFamily="34" charset="0"/>
              </a:rPr>
              <a:t>Um MLP com um número suficiente de neurônios em 2 camadas ocultas, por exemplo, podem aprender qualquer função.</a:t>
            </a:r>
          </a:p>
        </p:txBody>
      </p:sp>
      <p:sp>
        <p:nvSpPr>
          <p:cNvPr id="3" name="CaixaDeTexto 2">
            <a:extLst>
              <a:ext uri="{FF2B5EF4-FFF2-40B4-BE49-F238E27FC236}">
                <a16:creationId xmlns:a16="http://schemas.microsoft.com/office/drawing/2014/main" id="{22B5B6C2-15A4-53DB-54CD-08165A6CD246}"/>
              </a:ext>
            </a:extLst>
          </p:cNvPr>
          <p:cNvSpPr txBox="1"/>
          <p:nvPr/>
        </p:nvSpPr>
        <p:spPr>
          <a:xfrm>
            <a:off x="4576194" y="103634"/>
            <a:ext cx="6098796" cy="1569660"/>
          </a:xfrm>
          <a:prstGeom prst="rect">
            <a:avLst/>
          </a:prstGeom>
          <a:noFill/>
          <a:ln w="19050">
            <a:solidFill>
              <a:schemeClr val="tx1"/>
            </a:solidFill>
          </a:ln>
        </p:spPr>
        <p:txBody>
          <a:bodyPr wrap="square">
            <a:spAutoFit/>
          </a:bodyPr>
          <a:lstStyle/>
          <a:p>
            <a:r>
              <a:rPr lang="pt-BR" sz="1200" b="1" dirty="0">
                <a:latin typeface="Century Gothic" panose="020B0502020202020204" pitchFamily="34" charset="0"/>
              </a:rPr>
              <a:t>Classificação:</a:t>
            </a:r>
            <a:r>
              <a:rPr lang="pt-BR" sz="1200" dirty="0">
                <a:latin typeface="Century Gothic" panose="020B0502020202020204" pitchFamily="34" charset="0"/>
              </a:rPr>
              <a:t> (reconhecimento de padrões)</a:t>
            </a:r>
            <a:r>
              <a:rPr lang="pt-BR" sz="1200" dirty="0" err="1">
                <a:latin typeface="Century Gothic" panose="020B0502020202020204" pitchFamily="34" charset="0"/>
              </a:rPr>
              <a:t>Ex</a:t>
            </a:r>
            <a:r>
              <a:rPr lang="pt-BR" sz="1200" dirty="0">
                <a:latin typeface="Century Gothic" panose="020B0502020202020204" pitchFamily="34" charset="0"/>
              </a:rPr>
              <a:t>: XOR, classificação de cores, reconhecimento de imagens, reconhecimento rostos.</a:t>
            </a:r>
          </a:p>
          <a:p>
            <a:endParaRPr lang="pt-BR" sz="1200" dirty="0">
              <a:latin typeface="Century Gothic" panose="020B0502020202020204" pitchFamily="34" charset="0"/>
            </a:endParaRPr>
          </a:p>
          <a:p>
            <a:r>
              <a:rPr lang="pt-BR" sz="1200" b="1" dirty="0">
                <a:latin typeface="Century Gothic" panose="020B0502020202020204" pitchFamily="34" charset="0"/>
              </a:rPr>
              <a:t>Função de Aproximação</a:t>
            </a:r>
            <a:r>
              <a:rPr lang="pt-BR" sz="1200" dirty="0">
                <a:latin typeface="Century Gothic" panose="020B0502020202020204" pitchFamily="34" charset="0"/>
              </a:rPr>
              <a:t>:  </a:t>
            </a:r>
            <a:r>
              <a:rPr lang="pt-BR" sz="1200" dirty="0" err="1">
                <a:latin typeface="Century Gothic" panose="020B0502020202020204" pitchFamily="34" charset="0"/>
              </a:rPr>
              <a:t>Ex</a:t>
            </a:r>
            <a:r>
              <a:rPr lang="pt-BR" sz="1200" dirty="0">
                <a:latin typeface="Century Gothic" panose="020B0502020202020204" pitchFamily="34" charset="0"/>
              </a:rPr>
              <a:t>: mapeamento de processos desconhecidos ou difíceis modelagem matemática. </a:t>
            </a:r>
          </a:p>
          <a:p>
            <a:endParaRPr lang="pt-BR" sz="1200" dirty="0">
              <a:latin typeface="Century Gothic" panose="020B0502020202020204" pitchFamily="34" charset="0"/>
            </a:endParaRPr>
          </a:p>
          <a:p>
            <a:r>
              <a:rPr lang="pt-BR" sz="1200" b="1" dirty="0">
                <a:latin typeface="Century Gothic" panose="020B0502020202020204" pitchFamily="34" charset="0"/>
              </a:rPr>
              <a:t>Previsão de valores de tempo para sistemas variantes no tempo: </a:t>
            </a:r>
            <a:r>
              <a:rPr lang="pt-BR" sz="1200" dirty="0" err="1">
                <a:latin typeface="Century Gothic" panose="020B0502020202020204" pitchFamily="34" charset="0"/>
              </a:rPr>
              <a:t>Ex</a:t>
            </a:r>
            <a:r>
              <a:rPr lang="pt-BR" sz="1200" dirty="0">
                <a:latin typeface="Century Gothic" panose="020B0502020202020204" pitchFamily="34" charset="0"/>
              </a:rPr>
              <a:t>: Previsão em bolsa de valores, posição dos robôs em um domínio.</a:t>
            </a:r>
          </a:p>
        </p:txBody>
      </p:sp>
      <p:sp>
        <p:nvSpPr>
          <p:cNvPr id="4" name="Seta: para a Direita 3">
            <a:extLst>
              <a:ext uri="{FF2B5EF4-FFF2-40B4-BE49-F238E27FC236}">
                <a16:creationId xmlns:a16="http://schemas.microsoft.com/office/drawing/2014/main" id="{2ED5C17C-9D44-7DBE-D9B8-29461E6E595A}"/>
              </a:ext>
            </a:extLst>
          </p:cNvPr>
          <p:cNvSpPr/>
          <p:nvPr/>
        </p:nvSpPr>
        <p:spPr>
          <a:xfrm>
            <a:off x="4085439" y="293615"/>
            <a:ext cx="490755" cy="38589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Imagem 5">
            <a:extLst>
              <a:ext uri="{FF2B5EF4-FFF2-40B4-BE49-F238E27FC236}">
                <a16:creationId xmlns:a16="http://schemas.microsoft.com/office/drawing/2014/main" id="{1600F979-CC53-0BB7-0164-800EAA15CBC3}"/>
              </a:ext>
            </a:extLst>
          </p:cNvPr>
          <p:cNvPicPr>
            <a:picLocks noChangeAspect="1"/>
          </p:cNvPicPr>
          <p:nvPr/>
        </p:nvPicPr>
        <p:blipFill>
          <a:blip r:embed="rId2"/>
          <a:stretch>
            <a:fillRect/>
          </a:stretch>
        </p:blipFill>
        <p:spPr>
          <a:xfrm>
            <a:off x="540260" y="1779776"/>
            <a:ext cx="3343275" cy="1771650"/>
          </a:xfrm>
          <a:prstGeom prst="rect">
            <a:avLst/>
          </a:prstGeom>
        </p:spPr>
      </p:pic>
      <p:sp>
        <p:nvSpPr>
          <p:cNvPr id="7" name="Retângulo 6">
            <a:extLst>
              <a:ext uri="{FF2B5EF4-FFF2-40B4-BE49-F238E27FC236}">
                <a16:creationId xmlns:a16="http://schemas.microsoft.com/office/drawing/2014/main" id="{4B0C3B1E-D827-EF09-6C3B-56B827C3DFB1}"/>
              </a:ext>
            </a:extLst>
          </p:cNvPr>
          <p:cNvSpPr/>
          <p:nvPr/>
        </p:nvSpPr>
        <p:spPr>
          <a:xfrm>
            <a:off x="1342239" y="1673294"/>
            <a:ext cx="1526796" cy="1984306"/>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CaixaDeTexto 7">
            <a:extLst>
              <a:ext uri="{FF2B5EF4-FFF2-40B4-BE49-F238E27FC236}">
                <a16:creationId xmlns:a16="http://schemas.microsoft.com/office/drawing/2014/main" id="{883FB579-A8A5-1807-7AD7-F42C81A90AA5}"/>
              </a:ext>
            </a:extLst>
          </p:cNvPr>
          <p:cNvSpPr txBox="1"/>
          <p:nvPr/>
        </p:nvSpPr>
        <p:spPr>
          <a:xfrm>
            <a:off x="1383238" y="3706411"/>
            <a:ext cx="1521570" cy="276999"/>
          </a:xfrm>
          <a:prstGeom prst="rect">
            <a:avLst/>
          </a:prstGeom>
          <a:noFill/>
        </p:spPr>
        <p:txBody>
          <a:bodyPr wrap="none" rtlCol="0">
            <a:spAutoFit/>
          </a:bodyPr>
          <a:lstStyle/>
          <a:p>
            <a:r>
              <a:rPr lang="pt-BR" sz="1200" dirty="0">
                <a:latin typeface="Century Gothic" panose="020B0502020202020204" pitchFamily="34" charset="0"/>
              </a:rPr>
              <a:t>Camadas ocultas</a:t>
            </a:r>
          </a:p>
        </p:txBody>
      </p:sp>
      <p:sp>
        <p:nvSpPr>
          <p:cNvPr id="9" name="CaixaDeTexto 8">
            <a:extLst>
              <a:ext uri="{FF2B5EF4-FFF2-40B4-BE49-F238E27FC236}">
                <a16:creationId xmlns:a16="http://schemas.microsoft.com/office/drawing/2014/main" id="{8868FD47-BBA6-2D67-DFB4-C548DC84F403}"/>
              </a:ext>
            </a:extLst>
          </p:cNvPr>
          <p:cNvSpPr txBox="1"/>
          <p:nvPr/>
        </p:nvSpPr>
        <p:spPr>
          <a:xfrm>
            <a:off x="327739" y="1673294"/>
            <a:ext cx="837089" cy="276999"/>
          </a:xfrm>
          <a:prstGeom prst="rect">
            <a:avLst/>
          </a:prstGeom>
          <a:noFill/>
        </p:spPr>
        <p:txBody>
          <a:bodyPr wrap="none" rtlCol="0">
            <a:spAutoFit/>
          </a:bodyPr>
          <a:lstStyle/>
          <a:p>
            <a:r>
              <a:rPr lang="pt-BR" sz="1200" dirty="0">
                <a:latin typeface="Century Gothic" panose="020B0502020202020204" pitchFamily="34" charset="0"/>
              </a:rPr>
              <a:t>Entradas</a:t>
            </a:r>
          </a:p>
        </p:txBody>
      </p:sp>
      <p:sp>
        <p:nvSpPr>
          <p:cNvPr id="10" name="CaixaDeTexto 9">
            <a:extLst>
              <a:ext uri="{FF2B5EF4-FFF2-40B4-BE49-F238E27FC236}">
                <a16:creationId xmlns:a16="http://schemas.microsoft.com/office/drawing/2014/main" id="{D4C22603-DC0A-A2D9-4B81-B2E8B46CBFEA}"/>
              </a:ext>
            </a:extLst>
          </p:cNvPr>
          <p:cNvSpPr txBox="1"/>
          <p:nvPr/>
        </p:nvSpPr>
        <p:spPr>
          <a:xfrm>
            <a:off x="3327657" y="1673294"/>
            <a:ext cx="668773" cy="276999"/>
          </a:xfrm>
          <a:prstGeom prst="rect">
            <a:avLst/>
          </a:prstGeom>
          <a:noFill/>
        </p:spPr>
        <p:txBody>
          <a:bodyPr wrap="none" rtlCol="0">
            <a:spAutoFit/>
          </a:bodyPr>
          <a:lstStyle/>
          <a:p>
            <a:r>
              <a:rPr lang="pt-BR" sz="1200" dirty="0">
                <a:latin typeface="Century Gothic" panose="020B0502020202020204" pitchFamily="34" charset="0"/>
              </a:rPr>
              <a:t>Saídas</a:t>
            </a:r>
          </a:p>
        </p:txBody>
      </p:sp>
      <p:sp>
        <p:nvSpPr>
          <p:cNvPr id="11" name="CaixaDeTexto 10">
            <a:extLst>
              <a:ext uri="{FF2B5EF4-FFF2-40B4-BE49-F238E27FC236}">
                <a16:creationId xmlns:a16="http://schemas.microsoft.com/office/drawing/2014/main" id="{5B845ED0-EA1D-FB9E-9B06-6DE395116CF7}"/>
              </a:ext>
            </a:extLst>
          </p:cNvPr>
          <p:cNvSpPr txBox="1"/>
          <p:nvPr/>
        </p:nvSpPr>
        <p:spPr>
          <a:xfrm>
            <a:off x="4455052" y="1749316"/>
            <a:ext cx="7691307" cy="646331"/>
          </a:xfrm>
          <a:prstGeom prst="rect">
            <a:avLst/>
          </a:prstGeom>
          <a:noFill/>
        </p:spPr>
        <p:txBody>
          <a:bodyPr wrap="square" rtlCol="0">
            <a:spAutoFit/>
          </a:bodyPr>
          <a:lstStyle/>
          <a:p>
            <a:r>
              <a:rPr lang="pt-BR" sz="1200" b="1" dirty="0">
                <a:latin typeface="Century Gothic" panose="020B0502020202020204" pitchFamily="34" charset="0"/>
              </a:rPr>
              <a:t>Overfitting</a:t>
            </a:r>
            <a:r>
              <a:rPr lang="pt-BR" sz="1200" dirty="0">
                <a:latin typeface="Century Gothic" panose="020B0502020202020204" pitchFamily="34" charset="0"/>
              </a:rPr>
              <a:t> = Especialista apenas nos dados de treinamento (erro baixo), não </a:t>
            </a:r>
            <a:r>
              <a:rPr lang="pt-BR" sz="1200" b="1" dirty="0">
                <a:latin typeface="Century Gothic" panose="020B0502020202020204" pitchFamily="34" charset="0"/>
              </a:rPr>
              <a:t>generaliza</a:t>
            </a:r>
            <a:r>
              <a:rPr lang="pt-BR" sz="1200" dirty="0">
                <a:latin typeface="Century Gothic" panose="020B0502020202020204" pitchFamily="34" charset="0"/>
              </a:rPr>
              <a:t>, alto erro de validação (curva verde)</a:t>
            </a:r>
            <a:br>
              <a:rPr lang="pt-BR" sz="1200" dirty="0">
                <a:latin typeface="Century Gothic" panose="020B0502020202020204" pitchFamily="34" charset="0"/>
              </a:rPr>
            </a:br>
            <a:r>
              <a:rPr lang="pt-BR" sz="1200" dirty="0">
                <a:latin typeface="Century Gothic" panose="020B0502020202020204" pitchFamily="34" charset="0"/>
              </a:rPr>
              <a:t>Generalizar é a capacidade de predizer valores para dados não usados.   </a:t>
            </a:r>
          </a:p>
        </p:txBody>
      </p:sp>
      <p:sp>
        <p:nvSpPr>
          <p:cNvPr id="12" name="CaixaDeTexto 11">
            <a:extLst>
              <a:ext uri="{FF2B5EF4-FFF2-40B4-BE49-F238E27FC236}">
                <a16:creationId xmlns:a16="http://schemas.microsoft.com/office/drawing/2014/main" id="{CE0DBA41-54B0-5C0B-5C97-8B967838238D}"/>
              </a:ext>
            </a:extLst>
          </p:cNvPr>
          <p:cNvSpPr txBox="1"/>
          <p:nvPr/>
        </p:nvSpPr>
        <p:spPr>
          <a:xfrm>
            <a:off x="4500692" y="2417838"/>
            <a:ext cx="6639888" cy="461665"/>
          </a:xfrm>
          <a:prstGeom prst="rect">
            <a:avLst/>
          </a:prstGeom>
          <a:noFill/>
        </p:spPr>
        <p:txBody>
          <a:bodyPr wrap="square" rtlCol="0">
            <a:spAutoFit/>
          </a:bodyPr>
          <a:lstStyle/>
          <a:p>
            <a:r>
              <a:rPr lang="pt-BR" sz="1200" b="1" dirty="0">
                <a:latin typeface="Century Gothic" panose="020B0502020202020204" pitchFamily="34" charset="0"/>
              </a:rPr>
              <a:t>Underfitting</a:t>
            </a:r>
            <a:r>
              <a:rPr lang="pt-BR" sz="1200" dirty="0">
                <a:latin typeface="Century Gothic" panose="020B0502020202020204" pitchFamily="34" charset="0"/>
              </a:rPr>
              <a:t> = Não consegue representar os dados. Pode ter erros de treinamento alto (curva azul não chega próximo de zero)   </a:t>
            </a:r>
          </a:p>
        </p:txBody>
      </p:sp>
      <p:pic>
        <p:nvPicPr>
          <p:cNvPr id="14" name="Imagem 13">
            <a:extLst>
              <a:ext uri="{FF2B5EF4-FFF2-40B4-BE49-F238E27FC236}">
                <a16:creationId xmlns:a16="http://schemas.microsoft.com/office/drawing/2014/main" id="{5CF25A83-9138-EF8C-8044-B608D94001CC}"/>
              </a:ext>
            </a:extLst>
          </p:cNvPr>
          <p:cNvPicPr>
            <a:picLocks noChangeAspect="1"/>
          </p:cNvPicPr>
          <p:nvPr/>
        </p:nvPicPr>
        <p:blipFill>
          <a:blip r:embed="rId3"/>
          <a:stretch>
            <a:fillRect/>
          </a:stretch>
        </p:blipFill>
        <p:spPr>
          <a:xfrm>
            <a:off x="4500692" y="2898085"/>
            <a:ext cx="2543395" cy="1766450"/>
          </a:xfrm>
          <a:prstGeom prst="rect">
            <a:avLst/>
          </a:prstGeom>
        </p:spPr>
      </p:pic>
      <p:sp>
        <p:nvSpPr>
          <p:cNvPr id="15" name="CaixaDeTexto 14">
            <a:extLst>
              <a:ext uri="{FF2B5EF4-FFF2-40B4-BE49-F238E27FC236}">
                <a16:creationId xmlns:a16="http://schemas.microsoft.com/office/drawing/2014/main" id="{E90D4539-F87B-18D5-F5E7-FEE461CBEE3F}"/>
              </a:ext>
            </a:extLst>
          </p:cNvPr>
          <p:cNvSpPr txBox="1"/>
          <p:nvPr/>
        </p:nvSpPr>
        <p:spPr>
          <a:xfrm>
            <a:off x="7482827" y="3043594"/>
            <a:ext cx="4597167" cy="1323439"/>
          </a:xfrm>
          <a:prstGeom prst="rect">
            <a:avLst/>
          </a:prstGeom>
          <a:solidFill>
            <a:srgbClr val="FFFF00"/>
          </a:solidFill>
          <a:ln>
            <a:solidFill>
              <a:schemeClr val="tx1"/>
            </a:solidFill>
          </a:ln>
        </p:spPr>
        <p:txBody>
          <a:bodyPr wrap="square" rtlCol="0">
            <a:spAutoFit/>
          </a:bodyPr>
          <a:lstStyle/>
          <a:p>
            <a:r>
              <a:rPr lang="pt-BR" sz="1000" dirty="0">
                <a:latin typeface="Century Gothic" panose="020B0502020202020204" pitchFamily="34" charset="0"/>
              </a:rPr>
              <a:t>Para evitar </a:t>
            </a:r>
            <a:r>
              <a:rPr lang="pt-BR" sz="1000" b="1" dirty="0">
                <a:latin typeface="Century Gothic" panose="020B0502020202020204" pitchFamily="34" charset="0"/>
              </a:rPr>
              <a:t>Overfitting</a:t>
            </a:r>
            <a:r>
              <a:rPr lang="pt-BR" sz="1000" dirty="0">
                <a:latin typeface="Century Gothic" panose="020B0502020202020204" pitchFamily="34" charset="0"/>
              </a:rPr>
              <a:t> e </a:t>
            </a:r>
            <a:r>
              <a:rPr lang="pt-BR" sz="1000" b="1" dirty="0">
                <a:latin typeface="Century Gothic" panose="020B0502020202020204" pitchFamily="34" charset="0"/>
              </a:rPr>
              <a:t>Underfitting</a:t>
            </a:r>
            <a:r>
              <a:rPr lang="pt-BR" sz="1000" dirty="0">
                <a:latin typeface="Century Gothic" panose="020B0502020202020204" pitchFamily="34" charset="0"/>
              </a:rPr>
              <a:t> devemos parar o treinamento onde o erro pode estar diminuindo mas a validação estará piorando (data holdout=early stop) ou quando depois de um determinado </a:t>
            </a:r>
            <a:r>
              <a:rPr lang="pt-BR" sz="1000" dirty="0" err="1">
                <a:latin typeface="Century Gothic" panose="020B0502020202020204" pitchFamily="34" charset="0"/>
              </a:rPr>
              <a:t>epochs</a:t>
            </a:r>
            <a:r>
              <a:rPr lang="pt-BR" sz="1000" dirty="0">
                <a:latin typeface="Century Gothic" panose="020B0502020202020204" pitchFamily="34" charset="0"/>
              </a:rPr>
              <a:t> o erro fica constante mesmo não piorando a validação.  </a:t>
            </a:r>
          </a:p>
          <a:p>
            <a:r>
              <a:rPr lang="pt-BR" sz="1000" dirty="0">
                <a:latin typeface="Century Gothic" panose="020B0502020202020204" pitchFamily="34" charset="0"/>
              </a:rPr>
              <a:t>Por isso os dados devem ser divididos em 3 partes, </a:t>
            </a:r>
            <a:r>
              <a:rPr lang="pt-BR" sz="1000" b="1" dirty="0">
                <a:latin typeface="Century Gothic" panose="020B0502020202020204" pitchFamily="34" charset="0"/>
              </a:rPr>
              <a:t>Treinamento-Validação-</a:t>
            </a:r>
            <a:r>
              <a:rPr lang="pt-BR" sz="1000" b="1" dirty="0">
                <a:solidFill>
                  <a:srgbClr val="0070C0"/>
                </a:solidFill>
                <a:latin typeface="Century Gothic" panose="020B0502020202020204" pitchFamily="34" charset="0"/>
              </a:rPr>
              <a:t>Testes</a:t>
            </a:r>
            <a:r>
              <a:rPr lang="pt-BR" sz="1000" dirty="0">
                <a:latin typeface="Century Gothic" panose="020B0502020202020204" pitchFamily="34" charset="0"/>
              </a:rPr>
              <a:t>.  Treinamento e validação ocorrem simultaneamente para controlar o aprendizado ou early stop. </a:t>
            </a:r>
          </a:p>
          <a:p>
            <a:r>
              <a:rPr lang="pt-BR" sz="1000" dirty="0">
                <a:latin typeface="Century Gothic" panose="020B0502020202020204" pitchFamily="34" charset="0"/>
              </a:rPr>
              <a:t>Testes depois que conseguiu o </a:t>
            </a:r>
            <a:r>
              <a:rPr lang="pt-BR" sz="1000" b="1" dirty="0">
                <a:latin typeface="Century Gothic" panose="020B0502020202020204" pitchFamily="34" charset="0"/>
              </a:rPr>
              <a:t>modelo final. </a:t>
            </a:r>
            <a:r>
              <a:rPr lang="pt-BR" sz="1000" dirty="0">
                <a:latin typeface="Century Gothic" panose="020B0502020202020204" pitchFamily="34" charset="0"/>
              </a:rPr>
              <a:t> </a:t>
            </a:r>
          </a:p>
        </p:txBody>
      </p:sp>
      <p:pic>
        <p:nvPicPr>
          <p:cNvPr id="17" name="Imagem 16">
            <a:extLst>
              <a:ext uri="{FF2B5EF4-FFF2-40B4-BE49-F238E27FC236}">
                <a16:creationId xmlns:a16="http://schemas.microsoft.com/office/drawing/2014/main" id="{C0860F60-46C3-36FB-C187-5B16CEFD3D83}"/>
              </a:ext>
            </a:extLst>
          </p:cNvPr>
          <p:cNvPicPr>
            <a:picLocks noChangeAspect="1"/>
          </p:cNvPicPr>
          <p:nvPr/>
        </p:nvPicPr>
        <p:blipFill>
          <a:blip r:embed="rId4"/>
          <a:stretch>
            <a:fillRect/>
          </a:stretch>
        </p:blipFill>
        <p:spPr>
          <a:xfrm>
            <a:off x="4471942" y="4698090"/>
            <a:ext cx="3705225" cy="1914525"/>
          </a:xfrm>
          <a:prstGeom prst="rect">
            <a:avLst/>
          </a:prstGeom>
        </p:spPr>
      </p:pic>
      <p:sp>
        <p:nvSpPr>
          <p:cNvPr id="19" name="CaixaDeTexto 18">
            <a:extLst>
              <a:ext uri="{FF2B5EF4-FFF2-40B4-BE49-F238E27FC236}">
                <a16:creationId xmlns:a16="http://schemas.microsoft.com/office/drawing/2014/main" id="{43F9AE0B-ACE9-B0A5-9B76-AD9BB08560DA}"/>
              </a:ext>
            </a:extLst>
          </p:cNvPr>
          <p:cNvSpPr txBox="1"/>
          <p:nvPr/>
        </p:nvSpPr>
        <p:spPr>
          <a:xfrm>
            <a:off x="6090407" y="5914238"/>
            <a:ext cx="1244251" cy="246221"/>
          </a:xfrm>
          <a:prstGeom prst="rect">
            <a:avLst/>
          </a:prstGeom>
          <a:noFill/>
        </p:spPr>
        <p:txBody>
          <a:bodyPr wrap="none" rtlCol="0">
            <a:spAutoFit/>
          </a:bodyPr>
          <a:lstStyle/>
          <a:p>
            <a:r>
              <a:rPr lang="pt-BR" sz="1000" dirty="0"/>
              <a:t>Data holdout/K-</a:t>
            </a:r>
            <a:r>
              <a:rPr lang="pt-BR" sz="1000" dirty="0" err="1"/>
              <a:t>Fold</a:t>
            </a:r>
            <a:endParaRPr lang="pt-BR" sz="1000" dirty="0"/>
          </a:p>
        </p:txBody>
      </p:sp>
      <p:pic>
        <p:nvPicPr>
          <p:cNvPr id="21" name="Imagem 20">
            <a:extLst>
              <a:ext uri="{FF2B5EF4-FFF2-40B4-BE49-F238E27FC236}">
                <a16:creationId xmlns:a16="http://schemas.microsoft.com/office/drawing/2014/main" id="{6EB0DC55-FF86-39F1-20E5-17E8ABE19712}"/>
              </a:ext>
            </a:extLst>
          </p:cNvPr>
          <p:cNvPicPr>
            <a:picLocks noChangeAspect="1"/>
          </p:cNvPicPr>
          <p:nvPr/>
        </p:nvPicPr>
        <p:blipFill>
          <a:blip r:embed="rId5"/>
          <a:stretch>
            <a:fillRect/>
          </a:stretch>
        </p:blipFill>
        <p:spPr>
          <a:xfrm>
            <a:off x="8587408" y="4907560"/>
            <a:ext cx="3266235" cy="1636570"/>
          </a:xfrm>
          <a:prstGeom prst="rect">
            <a:avLst/>
          </a:prstGeom>
        </p:spPr>
      </p:pic>
      <p:sp>
        <p:nvSpPr>
          <p:cNvPr id="22" name="CaixaDeTexto 21">
            <a:extLst>
              <a:ext uri="{FF2B5EF4-FFF2-40B4-BE49-F238E27FC236}">
                <a16:creationId xmlns:a16="http://schemas.microsoft.com/office/drawing/2014/main" id="{6EDECE63-55A3-407C-A3E3-63EACA6A07CC}"/>
              </a:ext>
            </a:extLst>
          </p:cNvPr>
          <p:cNvSpPr txBox="1"/>
          <p:nvPr/>
        </p:nvSpPr>
        <p:spPr>
          <a:xfrm>
            <a:off x="8503519" y="4433702"/>
            <a:ext cx="3174267" cy="461665"/>
          </a:xfrm>
          <a:prstGeom prst="rect">
            <a:avLst/>
          </a:prstGeom>
          <a:noFill/>
        </p:spPr>
        <p:txBody>
          <a:bodyPr wrap="none" rtlCol="0">
            <a:spAutoFit/>
          </a:bodyPr>
          <a:lstStyle/>
          <a:p>
            <a:r>
              <a:rPr lang="pt-BR" sz="1200" b="1" dirty="0">
                <a:latin typeface="Century Gothic" panose="020B0502020202020204" pitchFamily="34" charset="0"/>
              </a:rPr>
              <a:t>Existem várias estratégias de validação,</a:t>
            </a:r>
          </a:p>
          <a:p>
            <a:r>
              <a:rPr lang="pt-BR" sz="1200" b="1" dirty="0">
                <a:latin typeface="Century Gothic" panose="020B0502020202020204" pitchFamily="34" charset="0"/>
              </a:rPr>
              <a:t>Durante o treinamento. </a:t>
            </a:r>
          </a:p>
        </p:txBody>
      </p:sp>
      <p:sp>
        <p:nvSpPr>
          <p:cNvPr id="23" name="CaixaDeTexto 22">
            <a:extLst>
              <a:ext uri="{FF2B5EF4-FFF2-40B4-BE49-F238E27FC236}">
                <a16:creationId xmlns:a16="http://schemas.microsoft.com/office/drawing/2014/main" id="{E0F20B5D-3591-AFC6-BEA6-045C6755BFAF}"/>
              </a:ext>
            </a:extLst>
          </p:cNvPr>
          <p:cNvSpPr txBox="1"/>
          <p:nvPr/>
        </p:nvSpPr>
        <p:spPr>
          <a:xfrm>
            <a:off x="25103" y="4070092"/>
            <a:ext cx="4373587" cy="1754326"/>
          </a:xfrm>
          <a:prstGeom prst="rect">
            <a:avLst/>
          </a:prstGeom>
          <a:noFill/>
        </p:spPr>
        <p:txBody>
          <a:bodyPr wrap="square" rtlCol="0">
            <a:spAutoFit/>
          </a:bodyPr>
          <a:lstStyle/>
          <a:p>
            <a:r>
              <a:rPr lang="pt-BR" sz="1200" b="1" dirty="0">
                <a:latin typeface="Century Gothic" panose="020B0502020202020204" pitchFamily="34" charset="0"/>
              </a:rPr>
              <a:t>OBS</a:t>
            </a:r>
            <a:r>
              <a:rPr lang="pt-BR" sz="1200" dirty="0">
                <a:latin typeface="Century Gothic" panose="020B0502020202020204" pitchFamily="34" charset="0"/>
              </a:rPr>
              <a:t>.: É boa prática </a:t>
            </a:r>
            <a:r>
              <a:rPr lang="pt-BR" sz="1200" b="1" dirty="0">
                <a:latin typeface="Century Gothic" panose="020B0502020202020204" pitchFamily="34" charset="0"/>
              </a:rPr>
              <a:t>normalizar</a:t>
            </a:r>
            <a:r>
              <a:rPr lang="pt-BR" sz="1200" dirty="0">
                <a:latin typeface="Century Gothic" panose="020B0502020202020204" pitchFamily="34" charset="0"/>
              </a:rPr>
              <a:t>, centrar os dados no eixo zero e a quantidade de dados a ser treinado depende da quantidade de dados que existe.  </a:t>
            </a:r>
          </a:p>
          <a:p>
            <a:r>
              <a:rPr lang="pt-BR" sz="1200" dirty="0">
                <a:latin typeface="Century Gothic" panose="020B0502020202020204" pitchFamily="34" charset="0"/>
              </a:rPr>
              <a:t>Se existir 3 classes com quantidades diferentes de amostras, devo pegar proporcional.</a:t>
            </a:r>
            <a:br>
              <a:rPr lang="pt-BR" sz="1200" dirty="0">
                <a:latin typeface="Century Gothic" panose="020B0502020202020204" pitchFamily="34" charset="0"/>
              </a:rPr>
            </a:br>
            <a:r>
              <a:rPr lang="pt-BR" sz="1200" dirty="0">
                <a:latin typeface="Century Gothic" panose="020B0502020202020204" pitchFamily="34" charset="0"/>
              </a:rPr>
              <a:t>Exemplo:  uma classe =100 amostras, outra=300 amostras e outra =50 amostras. </a:t>
            </a:r>
            <a:br>
              <a:rPr lang="pt-BR" sz="1200" dirty="0">
                <a:latin typeface="Century Gothic" panose="020B0502020202020204" pitchFamily="34" charset="0"/>
              </a:rPr>
            </a:br>
            <a:r>
              <a:rPr lang="pt-BR" sz="1200" dirty="0">
                <a:latin typeface="Century Gothic" panose="020B0502020202020204" pitchFamily="34" charset="0"/>
              </a:rPr>
              <a:t>Não posso pegar validação igual, por exemplo 10%, ficaria 10-30-5, proporcional. </a:t>
            </a:r>
          </a:p>
        </p:txBody>
      </p:sp>
      <p:sp>
        <p:nvSpPr>
          <p:cNvPr id="25" name="CaixaDeTexto 24">
            <a:extLst>
              <a:ext uri="{FF2B5EF4-FFF2-40B4-BE49-F238E27FC236}">
                <a16:creationId xmlns:a16="http://schemas.microsoft.com/office/drawing/2014/main" id="{A2BB3B23-B53D-56B3-CBB7-4D023A758E59}"/>
              </a:ext>
            </a:extLst>
          </p:cNvPr>
          <p:cNvSpPr txBox="1"/>
          <p:nvPr/>
        </p:nvSpPr>
        <p:spPr>
          <a:xfrm>
            <a:off x="5900343" y="5041136"/>
            <a:ext cx="1582484" cy="215444"/>
          </a:xfrm>
          <a:prstGeom prst="rect">
            <a:avLst/>
          </a:prstGeom>
          <a:noFill/>
        </p:spPr>
        <p:txBody>
          <a:bodyPr wrap="none" rtlCol="0">
            <a:spAutoFit/>
          </a:bodyPr>
          <a:lstStyle/>
          <a:p>
            <a:r>
              <a:rPr lang="pt-BR" sz="800" b="1" dirty="0"/>
              <a:t>(50-25-25) – (60-20-20) – (90-5-5)</a:t>
            </a:r>
          </a:p>
        </p:txBody>
      </p:sp>
      <p:sp>
        <p:nvSpPr>
          <p:cNvPr id="26" name="CaixaDeTexto 25">
            <a:extLst>
              <a:ext uri="{FF2B5EF4-FFF2-40B4-BE49-F238E27FC236}">
                <a16:creationId xmlns:a16="http://schemas.microsoft.com/office/drawing/2014/main" id="{ED052EB1-35CA-C509-83B7-AD932A931D30}"/>
              </a:ext>
            </a:extLst>
          </p:cNvPr>
          <p:cNvSpPr txBox="1"/>
          <p:nvPr/>
        </p:nvSpPr>
        <p:spPr>
          <a:xfrm>
            <a:off x="-10495" y="5911100"/>
            <a:ext cx="4156085" cy="646331"/>
          </a:xfrm>
          <a:prstGeom prst="rect">
            <a:avLst/>
          </a:prstGeom>
          <a:noFill/>
        </p:spPr>
        <p:txBody>
          <a:bodyPr wrap="square" rtlCol="0">
            <a:spAutoFit/>
          </a:bodyPr>
          <a:lstStyle/>
          <a:p>
            <a:r>
              <a:rPr lang="pt-BR" sz="1200" b="1" dirty="0">
                <a:latin typeface="Century Gothic" panose="020B0502020202020204" pitchFamily="34" charset="0"/>
              </a:rPr>
              <a:t>Muda resultados</a:t>
            </a:r>
            <a:r>
              <a:rPr lang="pt-BR" sz="1200" dirty="0">
                <a:latin typeface="Century Gothic" panose="020B0502020202020204" pitchFamily="34" charset="0"/>
              </a:rPr>
              <a:t>:  pesos sinápticos, bias, número de neurônios,  de camadas ocultas, quantidade validação, números de exemplos insuficientes.</a:t>
            </a:r>
          </a:p>
        </p:txBody>
      </p:sp>
      <p:sp>
        <p:nvSpPr>
          <p:cNvPr id="2" name="Seta: para Baixo 1">
            <a:extLst>
              <a:ext uri="{FF2B5EF4-FFF2-40B4-BE49-F238E27FC236}">
                <a16:creationId xmlns:a16="http://schemas.microsoft.com/office/drawing/2014/main" id="{365BC355-2871-A694-C536-E1A03A2A6954}"/>
              </a:ext>
            </a:extLst>
          </p:cNvPr>
          <p:cNvSpPr/>
          <p:nvPr/>
        </p:nvSpPr>
        <p:spPr>
          <a:xfrm>
            <a:off x="1895912" y="749965"/>
            <a:ext cx="453005" cy="87451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Cantos Arredondados 4">
            <a:extLst>
              <a:ext uri="{FF2B5EF4-FFF2-40B4-BE49-F238E27FC236}">
                <a16:creationId xmlns:a16="http://schemas.microsoft.com/office/drawing/2014/main" id="{C76878FE-5DA5-4259-E5B7-1728028FC6E4}"/>
              </a:ext>
            </a:extLst>
          </p:cNvPr>
          <p:cNvSpPr/>
          <p:nvPr/>
        </p:nvSpPr>
        <p:spPr>
          <a:xfrm rot="19472684">
            <a:off x="5222039" y="3352805"/>
            <a:ext cx="66952" cy="802152"/>
          </a:xfrm>
          <a:prstGeom prst="round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CaixaDeTexto 17">
            <a:extLst>
              <a:ext uri="{FF2B5EF4-FFF2-40B4-BE49-F238E27FC236}">
                <a16:creationId xmlns:a16="http://schemas.microsoft.com/office/drawing/2014/main" id="{0BCC73A6-00A8-C61E-B96B-9D63073E1C4A}"/>
              </a:ext>
            </a:extLst>
          </p:cNvPr>
          <p:cNvSpPr txBox="1"/>
          <p:nvPr/>
        </p:nvSpPr>
        <p:spPr>
          <a:xfrm>
            <a:off x="4844514" y="3781310"/>
            <a:ext cx="579005" cy="276999"/>
          </a:xfrm>
          <a:prstGeom prst="rect">
            <a:avLst/>
          </a:prstGeom>
          <a:noFill/>
        </p:spPr>
        <p:txBody>
          <a:bodyPr wrap="none" rtlCol="0">
            <a:spAutoFit/>
          </a:bodyPr>
          <a:lstStyle/>
          <a:p>
            <a:r>
              <a:rPr lang="pt-BR" sz="600" b="1" dirty="0"/>
              <a:t>Região de </a:t>
            </a:r>
          </a:p>
          <a:p>
            <a:r>
              <a:rPr lang="pt-BR" sz="600" b="1" dirty="0"/>
              <a:t>Underfitting</a:t>
            </a:r>
          </a:p>
        </p:txBody>
      </p:sp>
      <p:sp>
        <p:nvSpPr>
          <p:cNvPr id="20" name="Retângulo: Cantos Arredondados 19">
            <a:extLst>
              <a:ext uri="{FF2B5EF4-FFF2-40B4-BE49-F238E27FC236}">
                <a16:creationId xmlns:a16="http://schemas.microsoft.com/office/drawing/2014/main" id="{EADDB8B7-6ABE-F560-A1D3-56A1C0C73FF2}"/>
              </a:ext>
            </a:extLst>
          </p:cNvPr>
          <p:cNvSpPr/>
          <p:nvPr/>
        </p:nvSpPr>
        <p:spPr>
          <a:xfrm rot="14497480">
            <a:off x="6003893" y="3400867"/>
            <a:ext cx="123807" cy="770902"/>
          </a:xfrm>
          <a:prstGeom prst="round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4" name="CaixaDeTexto 23">
            <a:extLst>
              <a:ext uri="{FF2B5EF4-FFF2-40B4-BE49-F238E27FC236}">
                <a16:creationId xmlns:a16="http://schemas.microsoft.com/office/drawing/2014/main" id="{47D045A0-A1CA-2223-BB1F-65D142C80D2E}"/>
              </a:ext>
            </a:extLst>
          </p:cNvPr>
          <p:cNvSpPr txBox="1"/>
          <p:nvPr/>
        </p:nvSpPr>
        <p:spPr>
          <a:xfrm>
            <a:off x="5743277" y="3369050"/>
            <a:ext cx="534121" cy="276999"/>
          </a:xfrm>
          <a:prstGeom prst="rect">
            <a:avLst/>
          </a:prstGeom>
          <a:noFill/>
        </p:spPr>
        <p:txBody>
          <a:bodyPr wrap="none" rtlCol="0">
            <a:spAutoFit/>
          </a:bodyPr>
          <a:lstStyle/>
          <a:p>
            <a:r>
              <a:rPr lang="pt-BR" sz="600" b="1" dirty="0"/>
              <a:t>Região de </a:t>
            </a:r>
          </a:p>
          <a:p>
            <a:r>
              <a:rPr lang="pt-BR" sz="600" b="1" dirty="0"/>
              <a:t>Overfitting</a:t>
            </a:r>
          </a:p>
        </p:txBody>
      </p:sp>
      <p:pic>
        <p:nvPicPr>
          <p:cNvPr id="16" name="Imagem 15">
            <a:extLst>
              <a:ext uri="{FF2B5EF4-FFF2-40B4-BE49-F238E27FC236}">
                <a16:creationId xmlns:a16="http://schemas.microsoft.com/office/drawing/2014/main" id="{98B3E0EF-839D-3A5C-DB8F-968AA4BF74DE}"/>
              </a:ext>
            </a:extLst>
          </p:cNvPr>
          <p:cNvPicPr>
            <a:picLocks noChangeAspect="1"/>
          </p:cNvPicPr>
          <p:nvPr/>
        </p:nvPicPr>
        <p:blipFill>
          <a:blip r:embed="rId6"/>
          <a:stretch>
            <a:fillRect/>
          </a:stretch>
        </p:blipFill>
        <p:spPr>
          <a:xfrm>
            <a:off x="5996254" y="6576494"/>
            <a:ext cx="876206" cy="270992"/>
          </a:xfrm>
          <a:prstGeom prst="rect">
            <a:avLst/>
          </a:prstGeom>
        </p:spPr>
      </p:pic>
    </p:spTree>
    <p:extLst>
      <p:ext uri="{BB962C8B-B14F-4D97-AF65-F5344CB8AC3E}">
        <p14:creationId xmlns:p14="http://schemas.microsoft.com/office/powerpoint/2010/main" val="1957445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CaixaDeTexto 45">
            <a:extLst>
              <a:ext uri="{FF2B5EF4-FFF2-40B4-BE49-F238E27FC236}">
                <a16:creationId xmlns:a16="http://schemas.microsoft.com/office/drawing/2014/main" id="{65537268-5F1D-7A5D-5991-71A1EC1F8808}"/>
              </a:ext>
            </a:extLst>
          </p:cNvPr>
          <p:cNvSpPr txBox="1"/>
          <p:nvPr/>
        </p:nvSpPr>
        <p:spPr>
          <a:xfrm>
            <a:off x="130837" y="4539539"/>
            <a:ext cx="4051496" cy="523220"/>
          </a:xfrm>
          <a:prstGeom prst="rect">
            <a:avLst/>
          </a:prstGeom>
          <a:noFill/>
        </p:spPr>
        <p:txBody>
          <a:bodyPr wrap="square">
            <a:spAutoFit/>
          </a:bodyPr>
          <a:lstStyle/>
          <a:p>
            <a:r>
              <a:rPr lang="en-US" sz="1200" b="1" dirty="0"/>
              <a:t>synaptic weights: </a:t>
            </a:r>
            <a:r>
              <a:rPr lang="en-US" sz="800" dirty="0"/>
              <a:t>are numbers, positive or negative, giving the strength, or effectiveness, of the synaptic coupling between a neuron that sends the signal and the neuron that receives it</a:t>
            </a:r>
            <a:endParaRPr lang="pt-BR" sz="800" dirty="0"/>
          </a:p>
        </p:txBody>
      </p:sp>
      <p:sp>
        <p:nvSpPr>
          <p:cNvPr id="56" name="CaixaDeTexto 55">
            <a:extLst>
              <a:ext uri="{FF2B5EF4-FFF2-40B4-BE49-F238E27FC236}">
                <a16:creationId xmlns:a16="http://schemas.microsoft.com/office/drawing/2014/main" id="{D32D257D-498C-923D-0F04-28D9192D35AB}"/>
              </a:ext>
            </a:extLst>
          </p:cNvPr>
          <p:cNvSpPr txBox="1"/>
          <p:nvPr/>
        </p:nvSpPr>
        <p:spPr>
          <a:xfrm>
            <a:off x="130837" y="5113018"/>
            <a:ext cx="6097424" cy="677108"/>
          </a:xfrm>
          <a:prstGeom prst="rect">
            <a:avLst/>
          </a:prstGeom>
          <a:noFill/>
        </p:spPr>
        <p:txBody>
          <a:bodyPr wrap="square">
            <a:spAutoFit/>
          </a:bodyPr>
          <a:lstStyle/>
          <a:p>
            <a:r>
              <a:rPr lang="pt-BR" sz="1400" b="1" dirty="0">
                <a:latin typeface="Century Gothic" panose="020B0502020202020204" pitchFamily="34" charset="0"/>
              </a:rPr>
              <a:t>Epochs – </a:t>
            </a:r>
            <a:r>
              <a:rPr lang="pt-BR" sz="1200" dirty="0"/>
              <a:t>1 pass complete dataset, when it returns to adjust its synaptic weights and then continues in this Epochs loop until learning or the error reaches close to zero and no longer changes its values, or stops for some defined reason.</a:t>
            </a:r>
          </a:p>
        </p:txBody>
      </p:sp>
      <p:sp>
        <p:nvSpPr>
          <p:cNvPr id="57" name="CaixaDeTexto 56">
            <a:extLst>
              <a:ext uri="{FF2B5EF4-FFF2-40B4-BE49-F238E27FC236}">
                <a16:creationId xmlns:a16="http://schemas.microsoft.com/office/drawing/2014/main" id="{ACC45614-0CC4-A0B7-00E9-F05BF3A42CD7}"/>
              </a:ext>
            </a:extLst>
          </p:cNvPr>
          <p:cNvSpPr txBox="1"/>
          <p:nvPr/>
        </p:nvSpPr>
        <p:spPr>
          <a:xfrm>
            <a:off x="3583205" y="681781"/>
            <a:ext cx="2187715" cy="553998"/>
          </a:xfrm>
          <a:prstGeom prst="rect">
            <a:avLst/>
          </a:prstGeom>
          <a:noFill/>
        </p:spPr>
        <p:txBody>
          <a:bodyPr wrap="none" rtlCol="0">
            <a:spAutoFit/>
          </a:bodyPr>
          <a:lstStyle/>
          <a:p>
            <a:r>
              <a:rPr lang="pt-BR" b="1" u="sng" dirty="0"/>
              <a:t>Neurônio Perceptron</a:t>
            </a:r>
          </a:p>
          <a:p>
            <a:pPr algn="ctr"/>
            <a:r>
              <a:rPr lang="pt-BR" sz="1200" u="sng" dirty="0"/>
              <a:t>(</a:t>
            </a:r>
            <a:r>
              <a:rPr lang="pt-BR" sz="1200" u="sng" dirty="0" err="1"/>
              <a:t>Rosemblatt</a:t>
            </a:r>
            <a:r>
              <a:rPr lang="pt-BR" sz="1200" u="sng" dirty="0"/>
              <a:t> - 1958)</a:t>
            </a:r>
          </a:p>
        </p:txBody>
      </p:sp>
      <p:grpSp>
        <p:nvGrpSpPr>
          <p:cNvPr id="83" name="Agrupar 82">
            <a:extLst>
              <a:ext uri="{FF2B5EF4-FFF2-40B4-BE49-F238E27FC236}">
                <a16:creationId xmlns:a16="http://schemas.microsoft.com/office/drawing/2014/main" id="{440FE309-056B-FB93-CDFE-84552A0A6F14}"/>
              </a:ext>
            </a:extLst>
          </p:cNvPr>
          <p:cNvGrpSpPr/>
          <p:nvPr/>
        </p:nvGrpSpPr>
        <p:grpSpPr>
          <a:xfrm>
            <a:off x="238640" y="2060334"/>
            <a:ext cx="9746666" cy="2874019"/>
            <a:chOff x="1682879" y="2175840"/>
            <a:chExt cx="9746666" cy="2874019"/>
          </a:xfrm>
        </p:grpSpPr>
        <p:grpSp>
          <p:nvGrpSpPr>
            <p:cNvPr id="2" name="Agrupar 1">
              <a:extLst>
                <a:ext uri="{FF2B5EF4-FFF2-40B4-BE49-F238E27FC236}">
                  <a16:creationId xmlns:a16="http://schemas.microsoft.com/office/drawing/2014/main" id="{136DFB57-4F72-1901-E3EE-148629139079}"/>
                </a:ext>
              </a:extLst>
            </p:cNvPr>
            <p:cNvGrpSpPr/>
            <p:nvPr/>
          </p:nvGrpSpPr>
          <p:grpSpPr>
            <a:xfrm>
              <a:off x="2474531" y="2175840"/>
              <a:ext cx="3925952" cy="1901080"/>
              <a:chOff x="417269" y="2112177"/>
              <a:chExt cx="3925952" cy="1901080"/>
            </a:xfrm>
          </p:grpSpPr>
          <p:sp>
            <p:nvSpPr>
              <p:cNvPr id="3" name="Elipse 2">
                <a:extLst>
                  <a:ext uri="{FF2B5EF4-FFF2-40B4-BE49-F238E27FC236}">
                    <a16:creationId xmlns:a16="http://schemas.microsoft.com/office/drawing/2014/main" id="{F310C637-3FEA-CB98-AB5F-7D1848E9E35C}"/>
                  </a:ext>
                </a:extLst>
              </p:cNvPr>
              <p:cNvSpPr/>
              <p:nvPr/>
            </p:nvSpPr>
            <p:spPr>
              <a:xfrm>
                <a:off x="1686187" y="2927758"/>
                <a:ext cx="729842" cy="73823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CaixaDeTexto 3">
                <a:extLst>
                  <a:ext uri="{FF2B5EF4-FFF2-40B4-BE49-F238E27FC236}">
                    <a16:creationId xmlns:a16="http://schemas.microsoft.com/office/drawing/2014/main" id="{B73064D5-E337-BA83-6C79-B778439F865B}"/>
                  </a:ext>
                </a:extLst>
              </p:cNvPr>
              <p:cNvSpPr txBox="1"/>
              <p:nvPr/>
            </p:nvSpPr>
            <p:spPr>
              <a:xfrm>
                <a:off x="1854313" y="2994870"/>
                <a:ext cx="378630" cy="523220"/>
              </a:xfrm>
              <a:prstGeom prst="rect">
                <a:avLst/>
              </a:prstGeom>
              <a:noFill/>
            </p:spPr>
            <p:txBody>
              <a:bodyPr wrap="none" rtlCol="0">
                <a:spAutoFit/>
              </a:bodyPr>
              <a:lstStyle/>
              <a:p>
                <a:r>
                  <a:rPr lang="pt-BR" sz="2800" dirty="0"/>
                  <a:t>∑</a:t>
                </a:r>
              </a:p>
            </p:txBody>
          </p:sp>
          <p:sp>
            <p:nvSpPr>
              <p:cNvPr id="5" name="CaixaDeTexto 4">
                <a:extLst>
                  <a:ext uri="{FF2B5EF4-FFF2-40B4-BE49-F238E27FC236}">
                    <a16:creationId xmlns:a16="http://schemas.microsoft.com/office/drawing/2014/main" id="{00CB9C52-9065-DE28-2E6B-AE69CDC08E79}"/>
                  </a:ext>
                </a:extLst>
              </p:cNvPr>
              <p:cNvSpPr txBox="1"/>
              <p:nvPr/>
            </p:nvSpPr>
            <p:spPr>
              <a:xfrm>
                <a:off x="444617" y="2496292"/>
                <a:ext cx="421910" cy="369332"/>
              </a:xfrm>
              <a:prstGeom prst="rect">
                <a:avLst/>
              </a:prstGeom>
              <a:noFill/>
            </p:spPr>
            <p:txBody>
              <a:bodyPr wrap="none" rtlCol="0">
                <a:spAutoFit/>
              </a:bodyPr>
              <a:lstStyle/>
              <a:p>
                <a:r>
                  <a:rPr lang="pt-BR" dirty="0"/>
                  <a:t>X1</a:t>
                </a:r>
              </a:p>
            </p:txBody>
          </p:sp>
          <p:sp>
            <p:nvSpPr>
              <p:cNvPr id="6" name="CaixaDeTexto 5">
                <a:extLst>
                  <a:ext uri="{FF2B5EF4-FFF2-40B4-BE49-F238E27FC236}">
                    <a16:creationId xmlns:a16="http://schemas.microsoft.com/office/drawing/2014/main" id="{36BDEE31-72FF-0528-ECC2-C0E9CDD5A4AE}"/>
                  </a:ext>
                </a:extLst>
              </p:cNvPr>
              <p:cNvSpPr txBox="1"/>
              <p:nvPr/>
            </p:nvSpPr>
            <p:spPr>
              <a:xfrm>
                <a:off x="446015" y="2799694"/>
                <a:ext cx="421910" cy="369332"/>
              </a:xfrm>
              <a:prstGeom prst="rect">
                <a:avLst/>
              </a:prstGeom>
              <a:noFill/>
            </p:spPr>
            <p:txBody>
              <a:bodyPr wrap="none" rtlCol="0">
                <a:spAutoFit/>
              </a:bodyPr>
              <a:lstStyle/>
              <a:p>
                <a:r>
                  <a:rPr lang="pt-BR" dirty="0"/>
                  <a:t>X2</a:t>
                </a:r>
              </a:p>
            </p:txBody>
          </p:sp>
          <p:sp>
            <p:nvSpPr>
              <p:cNvPr id="7" name="CaixaDeTexto 6">
                <a:extLst>
                  <a:ext uri="{FF2B5EF4-FFF2-40B4-BE49-F238E27FC236}">
                    <a16:creationId xmlns:a16="http://schemas.microsoft.com/office/drawing/2014/main" id="{BE2E6BF0-EC9F-2EB3-D577-66FAAD78C449}"/>
                  </a:ext>
                </a:extLst>
              </p:cNvPr>
              <p:cNvSpPr txBox="1"/>
              <p:nvPr/>
            </p:nvSpPr>
            <p:spPr>
              <a:xfrm>
                <a:off x="417269" y="3096719"/>
                <a:ext cx="421910" cy="369332"/>
              </a:xfrm>
              <a:prstGeom prst="rect">
                <a:avLst/>
              </a:prstGeom>
              <a:noFill/>
            </p:spPr>
            <p:txBody>
              <a:bodyPr wrap="none" rtlCol="0">
                <a:spAutoFit/>
              </a:bodyPr>
              <a:lstStyle/>
              <a:p>
                <a:r>
                  <a:rPr lang="pt-BR" dirty="0"/>
                  <a:t>X3</a:t>
                </a:r>
              </a:p>
            </p:txBody>
          </p:sp>
          <p:sp>
            <p:nvSpPr>
              <p:cNvPr id="8" name="CaixaDeTexto 7">
                <a:extLst>
                  <a:ext uri="{FF2B5EF4-FFF2-40B4-BE49-F238E27FC236}">
                    <a16:creationId xmlns:a16="http://schemas.microsoft.com/office/drawing/2014/main" id="{1FEF22C2-6944-E2D5-3AC9-C03561580499}"/>
                  </a:ext>
                </a:extLst>
              </p:cNvPr>
              <p:cNvSpPr txBox="1"/>
              <p:nvPr/>
            </p:nvSpPr>
            <p:spPr>
              <a:xfrm>
                <a:off x="444617" y="3643925"/>
                <a:ext cx="426720" cy="369332"/>
              </a:xfrm>
              <a:prstGeom prst="rect">
                <a:avLst/>
              </a:prstGeom>
              <a:noFill/>
            </p:spPr>
            <p:txBody>
              <a:bodyPr wrap="none" rtlCol="0">
                <a:spAutoFit/>
              </a:bodyPr>
              <a:lstStyle/>
              <a:p>
                <a:r>
                  <a:rPr lang="pt-BR" dirty="0"/>
                  <a:t>Xn</a:t>
                </a:r>
              </a:p>
            </p:txBody>
          </p:sp>
          <p:sp>
            <p:nvSpPr>
              <p:cNvPr id="9" name="Elipse 8">
                <a:extLst>
                  <a:ext uri="{FF2B5EF4-FFF2-40B4-BE49-F238E27FC236}">
                    <a16:creationId xmlns:a16="http://schemas.microsoft.com/office/drawing/2014/main" id="{43165222-FFBC-8C65-6A66-AF74135F8E6D}"/>
                  </a:ext>
                </a:extLst>
              </p:cNvPr>
              <p:cNvSpPr/>
              <p:nvPr/>
            </p:nvSpPr>
            <p:spPr>
              <a:xfrm>
                <a:off x="613627" y="3431097"/>
                <a:ext cx="45719" cy="497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Elipse 9">
                <a:extLst>
                  <a:ext uri="{FF2B5EF4-FFF2-40B4-BE49-F238E27FC236}">
                    <a16:creationId xmlns:a16="http://schemas.microsoft.com/office/drawing/2014/main" id="{9A7844E8-6783-148A-1D2D-AA07C3130527}"/>
                  </a:ext>
                </a:extLst>
              </p:cNvPr>
              <p:cNvSpPr/>
              <p:nvPr/>
            </p:nvSpPr>
            <p:spPr>
              <a:xfrm>
                <a:off x="615025" y="3642220"/>
                <a:ext cx="45719" cy="497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Elipse 10">
                <a:extLst>
                  <a:ext uri="{FF2B5EF4-FFF2-40B4-BE49-F238E27FC236}">
                    <a16:creationId xmlns:a16="http://schemas.microsoft.com/office/drawing/2014/main" id="{CE5629BB-7814-F95B-CC2E-A2B3D42D635B}"/>
                  </a:ext>
                </a:extLst>
              </p:cNvPr>
              <p:cNvSpPr/>
              <p:nvPr/>
            </p:nvSpPr>
            <p:spPr>
              <a:xfrm>
                <a:off x="616423" y="3542950"/>
                <a:ext cx="45719" cy="497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2" name="Conector reto 11">
                <a:extLst>
                  <a:ext uri="{FF2B5EF4-FFF2-40B4-BE49-F238E27FC236}">
                    <a16:creationId xmlns:a16="http://schemas.microsoft.com/office/drawing/2014/main" id="{35DC17F2-FF70-A94D-4840-20A7E4F721E4}"/>
                  </a:ext>
                </a:extLst>
              </p:cNvPr>
              <p:cNvCxnSpPr>
                <a:stCxn id="5" idx="3"/>
              </p:cNvCxnSpPr>
              <p:nvPr/>
            </p:nvCxnSpPr>
            <p:spPr>
              <a:xfrm>
                <a:off x="866527" y="2680958"/>
                <a:ext cx="34987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to 12">
                <a:extLst>
                  <a:ext uri="{FF2B5EF4-FFF2-40B4-BE49-F238E27FC236}">
                    <a16:creationId xmlns:a16="http://schemas.microsoft.com/office/drawing/2014/main" id="{E19D2123-6B4F-EBEE-A686-B8965367260A}"/>
                  </a:ext>
                </a:extLst>
              </p:cNvPr>
              <p:cNvCxnSpPr/>
              <p:nvPr/>
            </p:nvCxnSpPr>
            <p:spPr>
              <a:xfrm>
                <a:off x="866527" y="3014397"/>
                <a:ext cx="34987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Conector reto 13">
                <a:extLst>
                  <a:ext uri="{FF2B5EF4-FFF2-40B4-BE49-F238E27FC236}">
                    <a16:creationId xmlns:a16="http://schemas.microsoft.com/office/drawing/2014/main" id="{47A32AA0-F8AB-158D-3DAA-C4B85D7B9C7B}"/>
                  </a:ext>
                </a:extLst>
              </p:cNvPr>
              <p:cNvCxnSpPr/>
              <p:nvPr/>
            </p:nvCxnSpPr>
            <p:spPr>
              <a:xfrm>
                <a:off x="876314" y="3301021"/>
                <a:ext cx="34987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ctor reto 14">
                <a:extLst>
                  <a:ext uri="{FF2B5EF4-FFF2-40B4-BE49-F238E27FC236}">
                    <a16:creationId xmlns:a16="http://schemas.microsoft.com/office/drawing/2014/main" id="{09A25505-3A7F-8BF3-1430-858AB3BC79CF}"/>
                  </a:ext>
                </a:extLst>
              </p:cNvPr>
              <p:cNvCxnSpPr/>
              <p:nvPr/>
            </p:nvCxnSpPr>
            <p:spPr>
              <a:xfrm>
                <a:off x="869323" y="3847704"/>
                <a:ext cx="34987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Conector reto 15">
                <a:extLst>
                  <a:ext uri="{FF2B5EF4-FFF2-40B4-BE49-F238E27FC236}">
                    <a16:creationId xmlns:a16="http://schemas.microsoft.com/office/drawing/2014/main" id="{78C1CB0E-2A25-F742-6EEE-9E6CE767D190}"/>
                  </a:ext>
                </a:extLst>
              </p:cNvPr>
              <p:cNvCxnSpPr>
                <a:endCxn id="3" idx="2"/>
              </p:cNvCxnSpPr>
              <p:nvPr/>
            </p:nvCxnSpPr>
            <p:spPr>
              <a:xfrm>
                <a:off x="1226191" y="3296873"/>
                <a:ext cx="459996"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Conector reto 16">
                <a:extLst>
                  <a:ext uri="{FF2B5EF4-FFF2-40B4-BE49-F238E27FC236}">
                    <a16:creationId xmlns:a16="http://schemas.microsoft.com/office/drawing/2014/main" id="{5CE9B8F3-0BD4-94AD-654A-27369FB7BA23}"/>
                  </a:ext>
                </a:extLst>
              </p:cNvPr>
              <p:cNvCxnSpPr>
                <a:cxnSpLocks/>
              </p:cNvCxnSpPr>
              <p:nvPr/>
            </p:nvCxnSpPr>
            <p:spPr>
              <a:xfrm>
                <a:off x="1226191" y="3014397"/>
                <a:ext cx="459996" cy="15281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Conector reto 17">
                <a:extLst>
                  <a:ext uri="{FF2B5EF4-FFF2-40B4-BE49-F238E27FC236}">
                    <a16:creationId xmlns:a16="http://schemas.microsoft.com/office/drawing/2014/main" id="{45DAFDEB-9332-8D8B-B393-D0B742DA711D}"/>
                  </a:ext>
                </a:extLst>
              </p:cNvPr>
              <p:cNvCxnSpPr>
                <a:cxnSpLocks/>
                <a:endCxn id="3" idx="1"/>
              </p:cNvCxnSpPr>
              <p:nvPr/>
            </p:nvCxnSpPr>
            <p:spPr>
              <a:xfrm>
                <a:off x="1216404" y="2680958"/>
                <a:ext cx="576666" cy="3549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ector reto 18">
                <a:extLst>
                  <a:ext uri="{FF2B5EF4-FFF2-40B4-BE49-F238E27FC236}">
                    <a16:creationId xmlns:a16="http://schemas.microsoft.com/office/drawing/2014/main" id="{663C304B-C7B4-94E2-0F6B-3D641FB3C76C}"/>
                  </a:ext>
                </a:extLst>
              </p:cNvPr>
              <p:cNvCxnSpPr>
                <a:endCxn id="3" idx="3"/>
              </p:cNvCxnSpPr>
              <p:nvPr/>
            </p:nvCxnSpPr>
            <p:spPr>
              <a:xfrm flipV="1">
                <a:off x="1226191" y="3557878"/>
                <a:ext cx="566879" cy="2898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CaixaDeTexto 19">
                <a:extLst>
                  <a:ext uri="{FF2B5EF4-FFF2-40B4-BE49-F238E27FC236}">
                    <a16:creationId xmlns:a16="http://schemas.microsoft.com/office/drawing/2014/main" id="{79197A05-CE18-673A-412D-1F48A552117B}"/>
                  </a:ext>
                </a:extLst>
              </p:cNvPr>
              <p:cNvSpPr txBox="1"/>
              <p:nvPr/>
            </p:nvSpPr>
            <p:spPr>
              <a:xfrm>
                <a:off x="796053" y="2425554"/>
                <a:ext cx="418704" cy="276999"/>
              </a:xfrm>
              <a:prstGeom prst="rect">
                <a:avLst/>
              </a:prstGeom>
              <a:noFill/>
            </p:spPr>
            <p:txBody>
              <a:bodyPr wrap="none" rtlCol="0">
                <a:spAutoFit/>
              </a:bodyPr>
              <a:lstStyle/>
              <a:p>
                <a:r>
                  <a:rPr lang="pt-BR" sz="1200" dirty="0"/>
                  <a:t>W</a:t>
                </a:r>
                <a:r>
                  <a:rPr lang="pt-BR" sz="1200" baseline="-25000" dirty="0"/>
                  <a:t>k1</a:t>
                </a:r>
              </a:p>
            </p:txBody>
          </p:sp>
          <p:sp>
            <p:nvSpPr>
              <p:cNvPr id="21" name="CaixaDeTexto 20">
                <a:extLst>
                  <a:ext uri="{FF2B5EF4-FFF2-40B4-BE49-F238E27FC236}">
                    <a16:creationId xmlns:a16="http://schemas.microsoft.com/office/drawing/2014/main" id="{41C9F6FB-C681-9C04-06DA-F38E656385E6}"/>
                  </a:ext>
                </a:extLst>
              </p:cNvPr>
              <p:cNvSpPr txBox="1"/>
              <p:nvPr/>
            </p:nvSpPr>
            <p:spPr>
              <a:xfrm>
                <a:off x="797451" y="2770901"/>
                <a:ext cx="418704" cy="276999"/>
              </a:xfrm>
              <a:prstGeom prst="rect">
                <a:avLst/>
              </a:prstGeom>
              <a:noFill/>
            </p:spPr>
            <p:txBody>
              <a:bodyPr wrap="none" rtlCol="0">
                <a:spAutoFit/>
              </a:bodyPr>
              <a:lstStyle/>
              <a:p>
                <a:r>
                  <a:rPr lang="pt-BR" sz="1200" dirty="0"/>
                  <a:t>W</a:t>
                </a:r>
                <a:r>
                  <a:rPr lang="pt-BR" sz="1200" baseline="-25000" dirty="0"/>
                  <a:t>k2</a:t>
                </a:r>
              </a:p>
            </p:txBody>
          </p:sp>
          <p:sp>
            <p:nvSpPr>
              <p:cNvPr id="22" name="CaixaDeTexto 21">
                <a:extLst>
                  <a:ext uri="{FF2B5EF4-FFF2-40B4-BE49-F238E27FC236}">
                    <a16:creationId xmlns:a16="http://schemas.microsoft.com/office/drawing/2014/main" id="{2EFF3B92-EE23-7BED-64DD-AAF0FDFC5345}"/>
                  </a:ext>
                </a:extLst>
              </p:cNvPr>
              <p:cNvSpPr txBox="1"/>
              <p:nvPr/>
            </p:nvSpPr>
            <p:spPr>
              <a:xfrm>
                <a:off x="807238" y="3049136"/>
                <a:ext cx="418704" cy="276999"/>
              </a:xfrm>
              <a:prstGeom prst="rect">
                <a:avLst/>
              </a:prstGeom>
              <a:noFill/>
            </p:spPr>
            <p:txBody>
              <a:bodyPr wrap="none" rtlCol="0">
                <a:spAutoFit/>
              </a:bodyPr>
              <a:lstStyle/>
              <a:p>
                <a:r>
                  <a:rPr lang="pt-BR" sz="1200" dirty="0"/>
                  <a:t>W</a:t>
                </a:r>
                <a:r>
                  <a:rPr lang="pt-BR" sz="1200" baseline="-25000" dirty="0"/>
                  <a:t>k3</a:t>
                </a:r>
              </a:p>
            </p:txBody>
          </p:sp>
          <p:sp>
            <p:nvSpPr>
              <p:cNvPr id="23" name="CaixaDeTexto 22">
                <a:extLst>
                  <a:ext uri="{FF2B5EF4-FFF2-40B4-BE49-F238E27FC236}">
                    <a16:creationId xmlns:a16="http://schemas.microsoft.com/office/drawing/2014/main" id="{A3E19197-0C67-7B95-5A4A-3818C51E3EDA}"/>
                  </a:ext>
                </a:extLst>
              </p:cNvPr>
              <p:cNvSpPr txBox="1"/>
              <p:nvPr/>
            </p:nvSpPr>
            <p:spPr>
              <a:xfrm>
                <a:off x="800247" y="3612597"/>
                <a:ext cx="421910" cy="276999"/>
              </a:xfrm>
              <a:prstGeom prst="rect">
                <a:avLst/>
              </a:prstGeom>
              <a:noFill/>
            </p:spPr>
            <p:txBody>
              <a:bodyPr wrap="none" rtlCol="0">
                <a:spAutoFit/>
              </a:bodyPr>
              <a:lstStyle/>
              <a:p>
                <a:r>
                  <a:rPr lang="pt-BR" sz="1200" dirty="0"/>
                  <a:t>W</a:t>
                </a:r>
                <a:r>
                  <a:rPr lang="pt-BR" sz="1200" baseline="-25000" dirty="0"/>
                  <a:t>kn</a:t>
                </a:r>
              </a:p>
            </p:txBody>
          </p:sp>
          <p:sp>
            <p:nvSpPr>
              <p:cNvPr id="24" name="CaixaDeTexto 23">
                <a:extLst>
                  <a:ext uri="{FF2B5EF4-FFF2-40B4-BE49-F238E27FC236}">
                    <a16:creationId xmlns:a16="http://schemas.microsoft.com/office/drawing/2014/main" id="{4C79C92B-3F21-276D-CE50-794AEA1E3D4E}"/>
                  </a:ext>
                </a:extLst>
              </p:cNvPr>
              <p:cNvSpPr txBox="1"/>
              <p:nvPr/>
            </p:nvSpPr>
            <p:spPr>
              <a:xfrm>
                <a:off x="1466324" y="2112177"/>
                <a:ext cx="2876897" cy="615553"/>
              </a:xfrm>
              <a:prstGeom prst="rect">
                <a:avLst/>
              </a:prstGeom>
              <a:noFill/>
              <a:ln>
                <a:solidFill>
                  <a:schemeClr val="tx1"/>
                </a:solidFill>
                <a:prstDash val="lgDash"/>
              </a:ln>
            </p:spPr>
            <p:txBody>
              <a:bodyPr wrap="square" rtlCol="0">
                <a:spAutoFit/>
              </a:bodyPr>
              <a:lstStyle/>
              <a:p>
                <a:r>
                  <a:rPr lang="pt-BR" dirty="0"/>
                  <a:t>Bias </a:t>
                </a:r>
                <a:r>
                  <a:rPr lang="pt-BR" sz="1400" dirty="0"/>
                  <a:t>(W</a:t>
                </a:r>
                <a:r>
                  <a:rPr lang="pt-BR" sz="1400" baseline="-25000" dirty="0"/>
                  <a:t>K0</a:t>
                </a:r>
                <a:r>
                  <a:rPr lang="pt-BR" sz="1400" dirty="0"/>
                  <a:t>) </a:t>
                </a:r>
                <a:r>
                  <a:rPr lang="pt-BR" sz="800" dirty="0"/>
                  <a:t>– </a:t>
                </a:r>
                <a:r>
                  <a:rPr lang="en-US" sz="800" dirty="0"/>
                  <a:t>bias that indicates where the straight line passes and does not depend on the inputs, location of the separation threshold). Bias =1 changes weight.</a:t>
                </a:r>
                <a:endParaRPr lang="pt-BR" sz="800" dirty="0"/>
              </a:p>
            </p:txBody>
          </p:sp>
          <p:cxnSp>
            <p:nvCxnSpPr>
              <p:cNvPr id="25" name="Conector reto 24">
                <a:extLst>
                  <a:ext uri="{FF2B5EF4-FFF2-40B4-BE49-F238E27FC236}">
                    <a16:creationId xmlns:a16="http://schemas.microsoft.com/office/drawing/2014/main" id="{D1AEDB06-8028-C56B-F96F-887B665EADAD}"/>
                  </a:ext>
                </a:extLst>
              </p:cNvPr>
              <p:cNvCxnSpPr>
                <a:cxnSpLocks/>
                <a:stCxn id="24" idx="2"/>
                <a:endCxn id="3" idx="0"/>
              </p:cNvCxnSpPr>
              <p:nvPr/>
            </p:nvCxnSpPr>
            <p:spPr>
              <a:xfrm flipH="1">
                <a:off x="2051108" y="2727730"/>
                <a:ext cx="853665" cy="200028"/>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Retângulo 26">
                <a:extLst>
                  <a:ext uri="{FF2B5EF4-FFF2-40B4-BE49-F238E27FC236}">
                    <a16:creationId xmlns:a16="http://schemas.microsoft.com/office/drawing/2014/main" id="{F6115507-45D3-1225-8C46-BB4618ADA405}"/>
                  </a:ext>
                </a:extLst>
              </p:cNvPr>
              <p:cNvSpPr/>
              <p:nvPr/>
            </p:nvSpPr>
            <p:spPr>
              <a:xfrm>
                <a:off x="3011648" y="2994870"/>
                <a:ext cx="671119" cy="597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28" name="Conector reto 27">
                <a:extLst>
                  <a:ext uri="{FF2B5EF4-FFF2-40B4-BE49-F238E27FC236}">
                    <a16:creationId xmlns:a16="http://schemas.microsoft.com/office/drawing/2014/main" id="{ADA24D76-7969-ED52-1B2E-534EFF7AC131}"/>
                  </a:ext>
                </a:extLst>
              </p:cNvPr>
              <p:cNvCxnSpPr>
                <a:cxnSpLocks/>
              </p:cNvCxnSpPr>
              <p:nvPr/>
            </p:nvCxnSpPr>
            <p:spPr>
              <a:xfrm flipV="1">
                <a:off x="2416029" y="3285381"/>
                <a:ext cx="595619" cy="31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CaixaDeTexto 28">
                <a:extLst>
                  <a:ext uri="{FF2B5EF4-FFF2-40B4-BE49-F238E27FC236}">
                    <a16:creationId xmlns:a16="http://schemas.microsoft.com/office/drawing/2014/main" id="{4A29CEFE-8211-3572-30E2-780F72E7A3D1}"/>
                  </a:ext>
                </a:extLst>
              </p:cNvPr>
              <p:cNvSpPr txBox="1"/>
              <p:nvPr/>
            </p:nvSpPr>
            <p:spPr>
              <a:xfrm>
                <a:off x="2552150" y="3032358"/>
                <a:ext cx="256802" cy="276999"/>
              </a:xfrm>
              <a:prstGeom prst="rect">
                <a:avLst/>
              </a:prstGeom>
              <a:noFill/>
            </p:spPr>
            <p:txBody>
              <a:bodyPr wrap="none" rtlCol="0">
                <a:spAutoFit/>
              </a:bodyPr>
              <a:lstStyle/>
              <a:p>
                <a:r>
                  <a:rPr lang="pt-BR" sz="1200" b="1" dirty="0"/>
                  <a:t>v</a:t>
                </a:r>
              </a:p>
            </p:txBody>
          </p:sp>
          <p:cxnSp>
            <p:nvCxnSpPr>
              <p:cNvPr id="30" name="Conector reto 29">
                <a:extLst>
                  <a:ext uri="{FF2B5EF4-FFF2-40B4-BE49-F238E27FC236}">
                    <a16:creationId xmlns:a16="http://schemas.microsoft.com/office/drawing/2014/main" id="{54FDD61A-7340-EEFA-670B-CBC4178C4B21}"/>
                  </a:ext>
                </a:extLst>
              </p:cNvPr>
              <p:cNvCxnSpPr/>
              <p:nvPr/>
            </p:nvCxnSpPr>
            <p:spPr>
              <a:xfrm flipV="1">
                <a:off x="3139380" y="3113497"/>
                <a:ext cx="459498" cy="3840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CaixaDeTexto 30">
                <a:extLst>
                  <a:ext uri="{FF2B5EF4-FFF2-40B4-BE49-F238E27FC236}">
                    <a16:creationId xmlns:a16="http://schemas.microsoft.com/office/drawing/2014/main" id="{7721FF57-E455-7EC7-03C5-90B79B6B1A8C}"/>
                  </a:ext>
                </a:extLst>
              </p:cNvPr>
              <p:cNvSpPr txBox="1"/>
              <p:nvPr/>
            </p:nvSpPr>
            <p:spPr>
              <a:xfrm>
                <a:off x="2988200" y="3000652"/>
                <a:ext cx="494046" cy="276999"/>
              </a:xfrm>
              <a:prstGeom prst="rect">
                <a:avLst/>
              </a:prstGeom>
              <a:noFill/>
            </p:spPr>
            <p:txBody>
              <a:bodyPr wrap="none" rtlCol="0">
                <a:spAutoFit/>
              </a:bodyPr>
              <a:lstStyle/>
              <a:p>
                <a:r>
                  <a:rPr lang="pt-BR" sz="1200" dirty="0">
                    <a:solidFill>
                      <a:schemeClr val="bg1"/>
                    </a:solidFill>
                  </a:rPr>
                  <a:t>g=(x)</a:t>
                </a:r>
              </a:p>
            </p:txBody>
          </p:sp>
          <p:sp>
            <p:nvSpPr>
              <p:cNvPr id="32" name="CaixaDeTexto 31">
                <a:extLst>
                  <a:ext uri="{FF2B5EF4-FFF2-40B4-BE49-F238E27FC236}">
                    <a16:creationId xmlns:a16="http://schemas.microsoft.com/office/drawing/2014/main" id="{1067105A-E3DB-512A-5CA3-4C578E38E8F1}"/>
                  </a:ext>
                </a:extLst>
              </p:cNvPr>
              <p:cNvSpPr txBox="1"/>
              <p:nvPr/>
            </p:nvSpPr>
            <p:spPr>
              <a:xfrm>
                <a:off x="4001708" y="3111485"/>
                <a:ext cx="296876" cy="369332"/>
              </a:xfrm>
              <a:prstGeom prst="rect">
                <a:avLst/>
              </a:prstGeom>
              <a:noFill/>
            </p:spPr>
            <p:txBody>
              <a:bodyPr wrap="none" rtlCol="0">
                <a:spAutoFit/>
              </a:bodyPr>
              <a:lstStyle/>
              <a:p>
                <a:r>
                  <a:rPr lang="pt-BR" dirty="0"/>
                  <a:t>Y</a:t>
                </a:r>
              </a:p>
            </p:txBody>
          </p:sp>
          <p:cxnSp>
            <p:nvCxnSpPr>
              <p:cNvPr id="33" name="Conector reto 32">
                <a:extLst>
                  <a:ext uri="{FF2B5EF4-FFF2-40B4-BE49-F238E27FC236}">
                    <a16:creationId xmlns:a16="http://schemas.microsoft.com/office/drawing/2014/main" id="{B58549CA-1A6E-D255-9023-0E52DC749C66}"/>
                  </a:ext>
                </a:extLst>
              </p:cNvPr>
              <p:cNvCxnSpPr>
                <a:stCxn id="27" idx="3"/>
                <a:endCxn id="32" idx="1"/>
              </p:cNvCxnSpPr>
              <p:nvPr/>
            </p:nvCxnSpPr>
            <p:spPr>
              <a:xfrm>
                <a:off x="3682767" y="3293770"/>
                <a:ext cx="318941" cy="238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5" name="Conector de Seta Reta 34">
              <a:extLst>
                <a:ext uri="{FF2B5EF4-FFF2-40B4-BE49-F238E27FC236}">
                  <a16:creationId xmlns:a16="http://schemas.microsoft.com/office/drawing/2014/main" id="{264C1E97-63E4-8598-66EA-39B0D5FD2637}"/>
                </a:ext>
              </a:extLst>
            </p:cNvPr>
            <p:cNvCxnSpPr>
              <a:cxnSpLocks/>
            </p:cNvCxnSpPr>
            <p:nvPr/>
          </p:nvCxnSpPr>
          <p:spPr>
            <a:xfrm flipV="1">
              <a:off x="3114579" y="4108362"/>
              <a:ext cx="30365" cy="550727"/>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6" name="CaixaDeTexto 35">
              <a:extLst>
                <a:ext uri="{FF2B5EF4-FFF2-40B4-BE49-F238E27FC236}">
                  <a16:creationId xmlns:a16="http://schemas.microsoft.com/office/drawing/2014/main" id="{72513401-0C3C-87FF-0C01-23C4AE503F72}"/>
                </a:ext>
              </a:extLst>
            </p:cNvPr>
            <p:cNvSpPr txBox="1"/>
            <p:nvPr/>
          </p:nvSpPr>
          <p:spPr>
            <a:xfrm>
              <a:off x="3565312" y="3978784"/>
              <a:ext cx="1389035" cy="276999"/>
            </a:xfrm>
            <a:prstGeom prst="rect">
              <a:avLst/>
            </a:prstGeom>
            <a:noFill/>
          </p:spPr>
          <p:txBody>
            <a:bodyPr wrap="none" rtlCol="0">
              <a:spAutoFit/>
            </a:bodyPr>
            <a:lstStyle/>
            <a:p>
              <a:r>
                <a:rPr lang="pt-BR" sz="1200" dirty="0"/>
                <a:t>Linear combination</a:t>
              </a:r>
            </a:p>
          </p:txBody>
        </p:sp>
        <p:sp>
          <p:nvSpPr>
            <p:cNvPr id="37" name="CaixaDeTexto 36">
              <a:extLst>
                <a:ext uri="{FF2B5EF4-FFF2-40B4-BE49-F238E27FC236}">
                  <a16:creationId xmlns:a16="http://schemas.microsoft.com/office/drawing/2014/main" id="{50C765BF-46E4-05F1-FA30-0564F3C3549A}"/>
                </a:ext>
              </a:extLst>
            </p:cNvPr>
            <p:cNvSpPr txBox="1"/>
            <p:nvPr/>
          </p:nvSpPr>
          <p:spPr>
            <a:xfrm>
              <a:off x="5303706" y="4024832"/>
              <a:ext cx="2868742" cy="276999"/>
            </a:xfrm>
            <a:prstGeom prst="rect">
              <a:avLst/>
            </a:prstGeom>
            <a:noFill/>
          </p:spPr>
          <p:txBody>
            <a:bodyPr wrap="square" rtlCol="0">
              <a:spAutoFit/>
            </a:bodyPr>
            <a:lstStyle/>
            <a:p>
              <a:r>
                <a:rPr lang="en-US" sz="1200" dirty="0"/>
                <a:t>Activation function sigmoid or tanh(β)</a:t>
              </a:r>
              <a:endParaRPr lang="pt-BR" sz="1200" dirty="0"/>
            </a:p>
          </p:txBody>
        </p:sp>
        <p:cxnSp>
          <p:nvCxnSpPr>
            <p:cNvPr id="39" name="Conector de Seta Reta 38">
              <a:extLst>
                <a:ext uri="{FF2B5EF4-FFF2-40B4-BE49-F238E27FC236}">
                  <a16:creationId xmlns:a16="http://schemas.microsoft.com/office/drawing/2014/main" id="{EC14EEF7-1033-9B9F-9491-4ED93AE9EE65}"/>
                </a:ext>
              </a:extLst>
            </p:cNvPr>
            <p:cNvCxnSpPr/>
            <p:nvPr/>
          </p:nvCxnSpPr>
          <p:spPr>
            <a:xfrm flipH="1">
              <a:off x="6602136" y="3125574"/>
              <a:ext cx="64595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Conector de Seta Reta 39">
              <a:extLst>
                <a:ext uri="{FF2B5EF4-FFF2-40B4-BE49-F238E27FC236}">
                  <a16:creationId xmlns:a16="http://schemas.microsoft.com/office/drawing/2014/main" id="{67DC4CC4-69CE-D68E-487E-237EC545CD69}"/>
                </a:ext>
              </a:extLst>
            </p:cNvPr>
            <p:cNvCxnSpPr/>
            <p:nvPr/>
          </p:nvCxnSpPr>
          <p:spPr>
            <a:xfrm>
              <a:off x="6627303" y="3611828"/>
              <a:ext cx="67111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CaixaDeTexto 40">
              <a:extLst>
                <a:ext uri="{FF2B5EF4-FFF2-40B4-BE49-F238E27FC236}">
                  <a16:creationId xmlns:a16="http://schemas.microsoft.com/office/drawing/2014/main" id="{97D5B861-E959-99F7-165B-3438CDFA5F0A}"/>
                </a:ext>
              </a:extLst>
            </p:cNvPr>
            <p:cNvSpPr txBox="1"/>
            <p:nvPr/>
          </p:nvSpPr>
          <p:spPr>
            <a:xfrm>
              <a:off x="6582060" y="3430768"/>
              <a:ext cx="920474" cy="461665"/>
            </a:xfrm>
            <a:prstGeom prst="rect">
              <a:avLst/>
            </a:prstGeom>
            <a:noFill/>
          </p:spPr>
          <p:txBody>
            <a:bodyPr wrap="square">
              <a:spAutoFit/>
            </a:bodyPr>
            <a:lstStyle/>
            <a:p>
              <a:pPr algn="l"/>
              <a:endParaRPr lang="pt-BR" sz="1200" b="0" i="0" u="none" strike="noStrike" baseline="0" dirty="0">
                <a:solidFill>
                  <a:srgbClr val="000000"/>
                </a:solidFill>
                <a:latin typeface="Century Gothic" panose="020B0502020202020204" pitchFamily="34" charset="0"/>
              </a:endParaRPr>
            </a:p>
            <a:p>
              <a:r>
                <a:rPr lang="pt-BR" sz="1200" b="1" i="0" u="none" strike="noStrike" baseline="0" dirty="0">
                  <a:solidFill>
                    <a:srgbClr val="FF0000"/>
                  </a:solidFill>
                  <a:latin typeface="Century Gothic" panose="020B0502020202020204" pitchFamily="34" charset="0"/>
                </a:rPr>
                <a:t>Forward</a:t>
              </a:r>
              <a:endParaRPr lang="pt-BR" sz="1200" dirty="0">
                <a:latin typeface="Century Gothic" panose="020B0502020202020204" pitchFamily="34" charset="0"/>
              </a:endParaRPr>
            </a:p>
          </p:txBody>
        </p:sp>
        <p:cxnSp>
          <p:nvCxnSpPr>
            <p:cNvPr id="43" name="Conector de Seta Reta 42">
              <a:extLst>
                <a:ext uri="{FF2B5EF4-FFF2-40B4-BE49-F238E27FC236}">
                  <a16:creationId xmlns:a16="http://schemas.microsoft.com/office/drawing/2014/main" id="{927E85F8-18F7-874D-D5AC-FF2AB6BB1FAC}"/>
                </a:ext>
              </a:extLst>
            </p:cNvPr>
            <p:cNvCxnSpPr>
              <a:stCxn id="27" idx="2"/>
              <a:endCxn id="37" idx="0"/>
            </p:cNvCxnSpPr>
            <p:nvPr/>
          </p:nvCxnSpPr>
          <p:spPr>
            <a:xfrm>
              <a:off x="5404470" y="3656333"/>
              <a:ext cx="1333607" cy="3684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CaixaDeTexto 50">
              <a:extLst>
                <a:ext uri="{FF2B5EF4-FFF2-40B4-BE49-F238E27FC236}">
                  <a16:creationId xmlns:a16="http://schemas.microsoft.com/office/drawing/2014/main" id="{4BC2F4AC-B86B-A0DE-79A3-091D7519A9CE}"/>
                </a:ext>
              </a:extLst>
            </p:cNvPr>
            <p:cNvSpPr txBox="1"/>
            <p:nvPr/>
          </p:nvSpPr>
          <p:spPr>
            <a:xfrm>
              <a:off x="1682879" y="3125574"/>
              <a:ext cx="737702" cy="369332"/>
            </a:xfrm>
            <a:prstGeom prst="rect">
              <a:avLst/>
            </a:prstGeom>
            <a:noFill/>
          </p:spPr>
          <p:txBody>
            <a:bodyPr wrap="none" rtlCol="0">
              <a:spAutoFit/>
            </a:bodyPr>
            <a:lstStyle/>
            <a:p>
              <a:r>
                <a:rPr lang="pt-BR" dirty="0"/>
                <a:t>Input </a:t>
              </a:r>
            </a:p>
          </p:txBody>
        </p:sp>
        <p:sp>
          <p:nvSpPr>
            <p:cNvPr id="52" name="CaixaDeTexto 51">
              <a:extLst>
                <a:ext uri="{FF2B5EF4-FFF2-40B4-BE49-F238E27FC236}">
                  <a16:creationId xmlns:a16="http://schemas.microsoft.com/office/drawing/2014/main" id="{4032F51D-013B-78EF-4124-EAE09DCBCF2A}"/>
                </a:ext>
              </a:extLst>
            </p:cNvPr>
            <p:cNvSpPr txBox="1"/>
            <p:nvPr/>
          </p:nvSpPr>
          <p:spPr>
            <a:xfrm>
              <a:off x="6305936" y="3159892"/>
              <a:ext cx="909223" cy="369332"/>
            </a:xfrm>
            <a:prstGeom prst="rect">
              <a:avLst/>
            </a:prstGeom>
            <a:noFill/>
          </p:spPr>
          <p:txBody>
            <a:bodyPr wrap="none" rtlCol="0">
              <a:spAutoFit/>
            </a:bodyPr>
            <a:lstStyle/>
            <a:p>
              <a:r>
                <a:rPr lang="pt-BR" dirty="0"/>
                <a:t>Output </a:t>
              </a:r>
            </a:p>
          </p:txBody>
        </p:sp>
        <p:sp>
          <p:nvSpPr>
            <p:cNvPr id="54" name="CaixaDeTexto 53">
              <a:extLst>
                <a:ext uri="{FF2B5EF4-FFF2-40B4-BE49-F238E27FC236}">
                  <a16:creationId xmlns:a16="http://schemas.microsoft.com/office/drawing/2014/main" id="{63075DD3-5ED9-32BA-0FF4-30D0CE33791B}"/>
                </a:ext>
              </a:extLst>
            </p:cNvPr>
            <p:cNvSpPr txBox="1"/>
            <p:nvPr/>
          </p:nvSpPr>
          <p:spPr>
            <a:xfrm>
              <a:off x="7298422" y="2980488"/>
              <a:ext cx="3332546" cy="461665"/>
            </a:xfrm>
            <a:prstGeom prst="rect">
              <a:avLst/>
            </a:prstGeom>
            <a:noFill/>
          </p:spPr>
          <p:txBody>
            <a:bodyPr wrap="square">
              <a:spAutoFit/>
            </a:bodyPr>
            <a:lstStyle/>
            <a:p>
              <a:r>
                <a:rPr lang="pt-BR" sz="1200" b="1" dirty="0">
                  <a:solidFill>
                    <a:srgbClr val="FF0000"/>
                  </a:solidFill>
                </a:rPr>
                <a:t>Backpropagation</a:t>
              </a:r>
              <a:r>
                <a:rPr lang="pt-BR" sz="1200" dirty="0"/>
                <a:t>= adjusts weights (W) and bias to reduce error factor (costs).</a:t>
              </a:r>
            </a:p>
          </p:txBody>
        </p:sp>
        <p:cxnSp>
          <p:nvCxnSpPr>
            <p:cNvPr id="60" name="Conector de Seta Reta 59">
              <a:extLst>
                <a:ext uri="{FF2B5EF4-FFF2-40B4-BE49-F238E27FC236}">
                  <a16:creationId xmlns:a16="http://schemas.microsoft.com/office/drawing/2014/main" id="{61CD910D-DD82-ECB9-61A4-AD4EA1653606}"/>
                </a:ext>
              </a:extLst>
            </p:cNvPr>
            <p:cNvCxnSpPr>
              <a:stCxn id="36" idx="0"/>
              <a:endCxn id="3" idx="4"/>
            </p:cNvCxnSpPr>
            <p:nvPr/>
          </p:nvCxnSpPr>
          <p:spPr>
            <a:xfrm flipH="1" flipV="1">
              <a:off x="4108370" y="3729652"/>
              <a:ext cx="151460" cy="249132"/>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61" name="CaixaDeTexto 60">
              <a:extLst>
                <a:ext uri="{FF2B5EF4-FFF2-40B4-BE49-F238E27FC236}">
                  <a16:creationId xmlns:a16="http://schemas.microsoft.com/office/drawing/2014/main" id="{2757854C-B704-61CC-C40D-688A9F5DF015}"/>
                </a:ext>
              </a:extLst>
            </p:cNvPr>
            <p:cNvSpPr txBox="1"/>
            <p:nvPr/>
          </p:nvSpPr>
          <p:spPr>
            <a:xfrm>
              <a:off x="8409062" y="4201274"/>
              <a:ext cx="872355" cy="369332"/>
            </a:xfrm>
            <a:prstGeom prst="rect">
              <a:avLst/>
            </a:prstGeom>
            <a:noFill/>
          </p:spPr>
          <p:txBody>
            <a:bodyPr wrap="none" rtlCol="0">
              <a:spAutoFit/>
            </a:bodyPr>
            <a:lstStyle/>
            <a:p>
              <a:r>
                <a:rPr lang="pt-BR" dirty="0"/>
                <a:t>Y = g(v)</a:t>
              </a:r>
            </a:p>
          </p:txBody>
        </p:sp>
        <p:sp>
          <p:nvSpPr>
            <p:cNvPr id="64" name="CaixaDeTexto 63">
              <a:extLst>
                <a:ext uri="{FF2B5EF4-FFF2-40B4-BE49-F238E27FC236}">
                  <a16:creationId xmlns:a16="http://schemas.microsoft.com/office/drawing/2014/main" id="{97D1BEA6-AE6B-9104-FD0B-5B51DB6B6734}"/>
                </a:ext>
              </a:extLst>
            </p:cNvPr>
            <p:cNvSpPr txBox="1"/>
            <p:nvPr/>
          </p:nvSpPr>
          <p:spPr>
            <a:xfrm>
              <a:off x="8393059" y="3755603"/>
              <a:ext cx="3036486" cy="369332"/>
            </a:xfrm>
            <a:prstGeom prst="rect">
              <a:avLst/>
            </a:prstGeom>
            <a:noFill/>
          </p:spPr>
          <p:txBody>
            <a:bodyPr wrap="square" rtlCol="0">
              <a:spAutoFit/>
            </a:bodyPr>
            <a:lstStyle/>
            <a:p>
              <a:r>
                <a:rPr lang="pt-BR" dirty="0"/>
                <a:t>v = ∑ w</a:t>
              </a:r>
              <a:r>
                <a:rPr lang="pt-BR" baseline="-25000" dirty="0"/>
                <a:t>i</a:t>
              </a:r>
              <a:r>
                <a:rPr lang="pt-BR" dirty="0"/>
                <a:t> X</a:t>
              </a:r>
              <a:r>
                <a:rPr lang="pt-BR" baseline="-25000" dirty="0"/>
                <a:t>i </a:t>
              </a:r>
              <a:r>
                <a:rPr lang="pt-BR" dirty="0"/>
                <a:t> - </a:t>
              </a:r>
              <a:r>
                <a:rPr lang="pt-BR" dirty="0">
                  <a:latin typeface="Arial" panose="020B0604020202020204" pitchFamily="34" charset="0"/>
                  <a:cs typeface="Arial" panose="020B0604020202020204" pitchFamily="34" charset="0"/>
                </a:rPr>
                <a:t>Ꝋ</a:t>
              </a:r>
              <a:r>
                <a:rPr lang="pt-BR" dirty="0"/>
                <a:t> </a:t>
              </a:r>
            </a:p>
          </p:txBody>
        </p:sp>
        <p:sp>
          <p:nvSpPr>
            <p:cNvPr id="66" name="CaixaDeTexto 65">
              <a:extLst>
                <a:ext uri="{FF2B5EF4-FFF2-40B4-BE49-F238E27FC236}">
                  <a16:creationId xmlns:a16="http://schemas.microsoft.com/office/drawing/2014/main" id="{894C0106-805D-CA28-B0B8-B3C6EA2222A0}"/>
                </a:ext>
              </a:extLst>
            </p:cNvPr>
            <p:cNvSpPr txBox="1"/>
            <p:nvPr/>
          </p:nvSpPr>
          <p:spPr>
            <a:xfrm>
              <a:off x="8699618" y="3990884"/>
              <a:ext cx="375424" cy="246221"/>
            </a:xfrm>
            <a:prstGeom prst="rect">
              <a:avLst/>
            </a:prstGeom>
            <a:noFill/>
          </p:spPr>
          <p:txBody>
            <a:bodyPr wrap="none" rtlCol="0">
              <a:spAutoFit/>
            </a:bodyPr>
            <a:lstStyle/>
            <a:p>
              <a:r>
                <a:rPr lang="pt-BR" sz="1000" dirty="0"/>
                <a:t>I =1</a:t>
              </a:r>
            </a:p>
          </p:txBody>
        </p:sp>
        <p:sp>
          <p:nvSpPr>
            <p:cNvPr id="67" name="CaixaDeTexto 66">
              <a:extLst>
                <a:ext uri="{FF2B5EF4-FFF2-40B4-BE49-F238E27FC236}">
                  <a16:creationId xmlns:a16="http://schemas.microsoft.com/office/drawing/2014/main" id="{59A86467-8785-7963-6C56-95459BB1F4C8}"/>
                </a:ext>
              </a:extLst>
            </p:cNvPr>
            <p:cNvSpPr txBox="1"/>
            <p:nvPr/>
          </p:nvSpPr>
          <p:spPr>
            <a:xfrm>
              <a:off x="8740921" y="3673265"/>
              <a:ext cx="251992" cy="246221"/>
            </a:xfrm>
            <a:prstGeom prst="rect">
              <a:avLst/>
            </a:prstGeom>
            <a:noFill/>
          </p:spPr>
          <p:txBody>
            <a:bodyPr wrap="none" rtlCol="0">
              <a:spAutoFit/>
            </a:bodyPr>
            <a:lstStyle/>
            <a:p>
              <a:r>
                <a:rPr lang="pt-BR" sz="1000" dirty="0"/>
                <a:t>n</a:t>
              </a:r>
            </a:p>
          </p:txBody>
        </p:sp>
        <p:cxnSp>
          <p:nvCxnSpPr>
            <p:cNvPr id="70" name="Conector reto 69">
              <a:extLst>
                <a:ext uri="{FF2B5EF4-FFF2-40B4-BE49-F238E27FC236}">
                  <a16:creationId xmlns:a16="http://schemas.microsoft.com/office/drawing/2014/main" id="{BB8707D5-A7F6-284A-E1E0-9E3A5B3BCC9A}"/>
                </a:ext>
              </a:extLst>
            </p:cNvPr>
            <p:cNvCxnSpPr/>
            <p:nvPr/>
          </p:nvCxnSpPr>
          <p:spPr>
            <a:xfrm>
              <a:off x="8393059" y="3656333"/>
              <a:ext cx="16003" cy="1001125"/>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pic>
          <p:nvPicPr>
            <p:cNvPr id="72" name="Imagem 71">
              <a:extLst>
                <a:ext uri="{FF2B5EF4-FFF2-40B4-BE49-F238E27FC236}">
                  <a16:creationId xmlns:a16="http://schemas.microsoft.com/office/drawing/2014/main" id="{F91F96E2-44AB-F294-8F1E-1D4AE160EEB3}"/>
                </a:ext>
              </a:extLst>
            </p:cNvPr>
            <p:cNvPicPr>
              <a:picLocks noChangeAspect="1"/>
            </p:cNvPicPr>
            <p:nvPr/>
          </p:nvPicPr>
          <p:blipFill>
            <a:blip r:embed="rId2"/>
            <a:stretch>
              <a:fillRect/>
            </a:stretch>
          </p:blipFill>
          <p:spPr>
            <a:xfrm>
              <a:off x="6760547" y="4260932"/>
              <a:ext cx="1120074" cy="788927"/>
            </a:xfrm>
            <a:prstGeom prst="rect">
              <a:avLst/>
            </a:prstGeom>
          </p:spPr>
        </p:pic>
      </p:grpSp>
      <p:grpSp>
        <p:nvGrpSpPr>
          <p:cNvPr id="80" name="Agrupar 79">
            <a:extLst>
              <a:ext uri="{FF2B5EF4-FFF2-40B4-BE49-F238E27FC236}">
                <a16:creationId xmlns:a16="http://schemas.microsoft.com/office/drawing/2014/main" id="{758DFE6D-A0B9-CA15-9E0B-AB00A2E59749}"/>
              </a:ext>
            </a:extLst>
          </p:cNvPr>
          <p:cNvGrpSpPr/>
          <p:nvPr/>
        </p:nvGrpSpPr>
        <p:grpSpPr>
          <a:xfrm>
            <a:off x="140423" y="5747416"/>
            <a:ext cx="6510241" cy="369332"/>
            <a:chOff x="448074" y="5858514"/>
            <a:chExt cx="6510241" cy="369332"/>
          </a:xfrm>
        </p:grpSpPr>
        <p:sp>
          <p:nvSpPr>
            <p:cNvPr id="75" name="CaixaDeTexto 74">
              <a:extLst>
                <a:ext uri="{FF2B5EF4-FFF2-40B4-BE49-F238E27FC236}">
                  <a16:creationId xmlns:a16="http://schemas.microsoft.com/office/drawing/2014/main" id="{A355B6A6-3EAB-E2D9-3594-64F2E5535BDD}"/>
                </a:ext>
              </a:extLst>
            </p:cNvPr>
            <p:cNvSpPr txBox="1"/>
            <p:nvPr/>
          </p:nvSpPr>
          <p:spPr>
            <a:xfrm>
              <a:off x="2024669" y="5891038"/>
              <a:ext cx="4933646" cy="307777"/>
            </a:xfrm>
            <a:prstGeom prst="rect">
              <a:avLst/>
            </a:prstGeom>
            <a:noFill/>
          </p:spPr>
          <p:txBody>
            <a:bodyPr wrap="square">
              <a:spAutoFit/>
            </a:bodyPr>
            <a:lstStyle/>
            <a:p>
              <a:r>
                <a:rPr lang="pt-BR" sz="1400" b="1" i="0" u="none" strike="noStrike" baseline="0" dirty="0">
                  <a:latin typeface="Calibri" panose="020F0502020204030204" pitchFamily="34" charset="0"/>
                </a:rPr>
                <a:t>f </a:t>
              </a:r>
              <a:r>
                <a:rPr lang="pt-BR" sz="1400" b="0" i="0" u="none" strike="noStrike" baseline="0" dirty="0">
                  <a:latin typeface="Calibri" panose="020F0502020204030204" pitchFamily="34" charset="0"/>
                </a:rPr>
                <a:t>= </a:t>
              </a:r>
              <a:r>
                <a:rPr lang="en-US" sz="1200" b="0" i="0" u="none" strike="noStrike" baseline="0" dirty="0">
                  <a:latin typeface="Calibri" panose="020F0502020204030204" pitchFamily="34" charset="0"/>
                </a:rPr>
                <a:t>Use Nabla Operator on a scalar function to obtain a vector function.</a:t>
              </a:r>
              <a:endParaRPr lang="pt-BR" sz="1200" dirty="0"/>
            </a:p>
          </p:txBody>
        </p:sp>
        <p:sp>
          <p:nvSpPr>
            <p:cNvPr id="76" name="CaixaDeTexto 75">
              <a:extLst>
                <a:ext uri="{FF2B5EF4-FFF2-40B4-BE49-F238E27FC236}">
                  <a16:creationId xmlns:a16="http://schemas.microsoft.com/office/drawing/2014/main" id="{7EFC3BE0-17B6-A145-4B82-10A319BCE179}"/>
                </a:ext>
              </a:extLst>
            </p:cNvPr>
            <p:cNvSpPr txBox="1"/>
            <p:nvPr/>
          </p:nvSpPr>
          <p:spPr>
            <a:xfrm rot="10800000">
              <a:off x="1878931" y="5858514"/>
              <a:ext cx="367408" cy="369332"/>
            </a:xfrm>
            <a:prstGeom prst="rect">
              <a:avLst/>
            </a:prstGeom>
            <a:noFill/>
          </p:spPr>
          <p:txBody>
            <a:bodyPr wrap="none" rtlCol="0">
              <a:spAutoFit/>
            </a:bodyPr>
            <a:lstStyle/>
            <a:p>
              <a:r>
                <a:rPr lang="pt-BR" dirty="0"/>
                <a:t> ∆</a:t>
              </a:r>
            </a:p>
          </p:txBody>
        </p:sp>
        <p:cxnSp>
          <p:nvCxnSpPr>
            <p:cNvPr id="77" name="Conector de Seta Reta 76">
              <a:extLst>
                <a:ext uri="{FF2B5EF4-FFF2-40B4-BE49-F238E27FC236}">
                  <a16:creationId xmlns:a16="http://schemas.microsoft.com/office/drawing/2014/main" id="{1A519553-8DE9-D202-F4DF-2BB03DD6F78E}"/>
                </a:ext>
              </a:extLst>
            </p:cNvPr>
            <p:cNvCxnSpPr>
              <a:cxnSpLocks/>
            </p:cNvCxnSpPr>
            <p:nvPr/>
          </p:nvCxnSpPr>
          <p:spPr>
            <a:xfrm>
              <a:off x="2000489" y="5911782"/>
              <a:ext cx="15725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9" name="CaixaDeTexto 78">
              <a:extLst>
                <a:ext uri="{FF2B5EF4-FFF2-40B4-BE49-F238E27FC236}">
                  <a16:creationId xmlns:a16="http://schemas.microsoft.com/office/drawing/2014/main" id="{89C1F4B7-FC9D-4BE0-F945-96C078660F99}"/>
                </a:ext>
              </a:extLst>
            </p:cNvPr>
            <p:cNvSpPr txBox="1"/>
            <p:nvPr/>
          </p:nvSpPr>
          <p:spPr>
            <a:xfrm>
              <a:off x="448074" y="5891038"/>
              <a:ext cx="1631042" cy="307777"/>
            </a:xfrm>
            <a:prstGeom prst="rect">
              <a:avLst/>
            </a:prstGeom>
            <a:noFill/>
          </p:spPr>
          <p:txBody>
            <a:bodyPr wrap="square">
              <a:spAutoFit/>
            </a:bodyPr>
            <a:lstStyle/>
            <a:p>
              <a:r>
                <a:rPr lang="pt-BR" sz="1400" b="1" i="0" u="none" strike="noStrike" baseline="0" dirty="0">
                  <a:solidFill>
                    <a:srgbClr val="00B0F0"/>
                  </a:solidFill>
                  <a:latin typeface="Calibri" panose="020F0502020204030204" pitchFamily="34" charset="0"/>
                </a:rPr>
                <a:t>Gradient descent </a:t>
              </a:r>
              <a:r>
                <a:rPr lang="pt-BR" sz="1400" dirty="0">
                  <a:solidFill>
                    <a:srgbClr val="00B0F0"/>
                  </a:solidFill>
                  <a:latin typeface="Calibri" panose="020F0502020204030204" pitchFamily="34" charset="0"/>
                </a:rPr>
                <a:t>= </a:t>
              </a:r>
              <a:endParaRPr lang="pt-BR" sz="1400" dirty="0"/>
            </a:p>
          </p:txBody>
        </p:sp>
      </p:grpSp>
      <p:pic>
        <p:nvPicPr>
          <p:cNvPr id="82" name="Imagem 81">
            <a:extLst>
              <a:ext uri="{FF2B5EF4-FFF2-40B4-BE49-F238E27FC236}">
                <a16:creationId xmlns:a16="http://schemas.microsoft.com/office/drawing/2014/main" id="{78EE7697-1F5E-BF91-8453-5769303A940D}"/>
              </a:ext>
            </a:extLst>
          </p:cNvPr>
          <p:cNvPicPr>
            <a:picLocks noChangeAspect="1"/>
          </p:cNvPicPr>
          <p:nvPr/>
        </p:nvPicPr>
        <p:blipFill>
          <a:blip r:embed="rId3"/>
          <a:stretch>
            <a:fillRect/>
          </a:stretch>
        </p:blipFill>
        <p:spPr>
          <a:xfrm>
            <a:off x="2764101" y="6088652"/>
            <a:ext cx="1229270" cy="447954"/>
          </a:xfrm>
          <a:prstGeom prst="rect">
            <a:avLst/>
          </a:prstGeom>
        </p:spPr>
      </p:pic>
      <p:grpSp>
        <p:nvGrpSpPr>
          <p:cNvPr id="90" name="Agrupar 89">
            <a:extLst>
              <a:ext uri="{FF2B5EF4-FFF2-40B4-BE49-F238E27FC236}">
                <a16:creationId xmlns:a16="http://schemas.microsoft.com/office/drawing/2014/main" id="{8ACEB60D-69CC-850B-F9E8-AC67F4FBC90C}"/>
              </a:ext>
            </a:extLst>
          </p:cNvPr>
          <p:cNvGrpSpPr/>
          <p:nvPr/>
        </p:nvGrpSpPr>
        <p:grpSpPr>
          <a:xfrm>
            <a:off x="9769067" y="1894304"/>
            <a:ext cx="2184293" cy="1512811"/>
            <a:chOff x="9363249" y="618032"/>
            <a:chExt cx="2543395" cy="1766450"/>
          </a:xfrm>
        </p:grpSpPr>
        <p:pic>
          <p:nvPicPr>
            <p:cNvPr id="84" name="Imagem 83">
              <a:extLst>
                <a:ext uri="{FF2B5EF4-FFF2-40B4-BE49-F238E27FC236}">
                  <a16:creationId xmlns:a16="http://schemas.microsoft.com/office/drawing/2014/main" id="{F5619B1B-4374-BC10-F8AA-AFED64E5571B}"/>
                </a:ext>
              </a:extLst>
            </p:cNvPr>
            <p:cNvPicPr>
              <a:picLocks noChangeAspect="1"/>
            </p:cNvPicPr>
            <p:nvPr/>
          </p:nvPicPr>
          <p:blipFill>
            <a:blip r:embed="rId4"/>
            <a:stretch>
              <a:fillRect/>
            </a:stretch>
          </p:blipFill>
          <p:spPr>
            <a:xfrm>
              <a:off x="9363249" y="618032"/>
              <a:ext cx="2543395" cy="1766450"/>
            </a:xfrm>
            <a:prstGeom prst="rect">
              <a:avLst/>
            </a:prstGeom>
          </p:spPr>
        </p:pic>
        <p:sp>
          <p:nvSpPr>
            <p:cNvPr id="85" name="Retângulo: Cantos Arredondados 84">
              <a:extLst>
                <a:ext uri="{FF2B5EF4-FFF2-40B4-BE49-F238E27FC236}">
                  <a16:creationId xmlns:a16="http://schemas.microsoft.com/office/drawing/2014/main" id="{1EB69F67-01EC-C644-4961-4D26223E760B}"/>
                </a:ext>
              </a:extLst>
            </p:cNvPr>
            <p:cNvSpPr/>
            <p:nvPr/>
          </p:nvSpPr>
          <p:spPr>
            <a:xfrm rot="19472684">
              <a:off x="10084596" y="1072752"/>
              <a:ext cx="66952" cy="802152"/>
            </a:xfrm>
            <a:prstGeom prst="round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6" name="CaixaDeTexto 85">
              <a:extLst>
                <a:ext uri="{FF2B5EF4-FFF2-40B4-BE49-F238E27FC236}">
                  <a16:creationId xmlns:a16="http://schemas.microsoft.com/office/drawing/2014/main" id="{3274282F-2A31-B75D-7636-3345752A869F}"/>
                </a:ext>
              </a:extLst>
            </p:cNvPr>
            <p:cNvSpPr txBox="1"/>
            <p:nvPr/>
          </p:nvSpPr>
          <p:spPr>
            <a:xfrm>
              <a:off x="9677218" y="1640958"/>
              <a:ext cx="579005" cy="184666"/>
            </a:xfrm>
            <a:prstGeom prst="rect">
              <a:avLst/>
            </a:prstGeom>
            <a:noFill/>
          </p:spPr>
          <p:txBody>
            <a:bodyPr wrap="none" rtlCol="0">
              <a:spAutoFit/>
            </a:bodyPr>
            <a:lstStyle/>
            <a:p>
              <a:r>
                <a:rPr lang="pt-BR" sz="600" b="1" dirty="0"/>
                <a:t>Underfitting</a:t>
              </a:r>
            </a:p>
          </p:txBody>
        </p:sp>
        <p:sp>
          <p:nvSpPr>
            <p:cNvPr id="87" name="Retângulo: Cantos Arredondados 86">
              <a:extLst>
                <a:ext uri="{FF2B5EF4-FFF2-40B4-BE49-F238E27FC236}">
                  <a16:creationId xmlns:a16="http://schemas.microsoft.com/office/drawing/2014/main" id="{85DDCCBD-3A70-6BA0-1488-070FB9BE8BCC}"/>
                </a:ext>
              </a:extLst>
            </p:cNvPr>
            <p:cNvSpPr/>
            <p:nvPr/>
          </p:nvSpPr>
          <p:spPr>
            <a:xfrm rot="14497480">
              <a:off x="10866450" y="1120814"/>
              <a:ext cx="123807" cy="770902"/>
            </a:xfrm>
            <a:prstGeom prst="round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8" name="CaixaDeTexto 87">
              <a:extLst>
                <a:ext uri="{FF2B5EF4-FFF2-40B4-BE49-F238E27FC236}">
                  <a16:creationId xmlns:a16="http://schemas.microsoft.com/office/drawing/2014/main" id="{A618AAD4-2641-22B3-01FC-9423DD931A99}"/>
                </a:ext>
              </a:extLst>
            </p:cNvPr>
            <p:cNvSpPr txBox="1"/>
            <p:nvPr/>
          </p:nvSpPr>
          <p:spPr>
            <a:xfrm>
              <a:off x="10383338" y="1260415"/>
              <a:ext cx="534120" cy="184666"/>
            </a:xfrm>
            <a:prstGeom prst="rect">
              <a:avLst/>
            </a:prstGeom>
            <a:noFill/>
          </p:spPr>
          <p:txBody>
            <a:bodyPr wrap="none" rtlCol="0">
              <a:spAutoFit/>
            </a:bodyPr>
            <a:lstStyle/>
            <a:p>
              <a:r>
                <a:rPr lang="pt-BR" sz="600" b="1" dirty="0"/>
                <a:t>Overfitting</a:t>
              </a:r>
            </a:p>
          </p:txBody>
        </p:sp>
      </p:grpSp>
      <p:pic>
        <p:nvPicPr>
          <p:cNvPr id="89" name="Imagem 88">
            <a:extLst>
              <a:ext uri="{FF2B5EF4-FFF2-40B4-BE49-F238E27FC236}">
                <a16:creationId xmlns:a16="http://schemas.microsoft.com/office/drawing/2014/main" id="{C20AF958-3009-47C3-A6D2-19571FACD192}"/>
              </a:ext>
            </a:extLst>
          </p:cNvPr>
          <p:cNvPicPr>
            <a:picLocks noChangeAspect="1"/>
          </p:cNvPicPr>
          <p:nvPr/>
        </p:nvPicPr>
        <p:blipFill>
          <a:blip r:embed="rId5"/>
          <a:stretch>
            <a:fillRect/>
          </a:stretch>
        </p:blipFill>
        <p:spPr>
          <a:xfrm>
            <a:off x="9782337" y="475333"/>
            <a:ext cx="2184293" cy="1157489"/>
          </a:xfrm>
          <a:prstGeom prst="rect">
            <a:avLst/>
          </a:prstGeom>
        </p:spPr>
      </p:pic>
      <p:sp>
        <p:nvSpPr>
          <p:cNvPr id="91" name="Retângulo 90">
            <a:extLst>
              <a:ext uri="{FF2B5EF4-FFF2-40B4-BE49-F238E27FC236}">
                <a16:creationId xmlns:a16="http://schemas.microsoft.com/office/drawing/2014/main" id="{031E3C76-DBBD-5D46-EA19-BDE4EBCBD43E}"/>
              </a:ext>
            </a:extLst>
          </p:cNvPr>
          <p:cNvSpPr/>
          <p:nvPr/>
        </p:nvSpPr>
        <p:spPr>
          <a:xfrm>
            <a:off x="10287334" y="324740"/>
            <a:ext cx="1070027" cy="1336582"/>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3" name="CaixaDeTexto 92">
            <a:extLst>
              <a:ext uri="{FF2B5EF4-FFF2-40B4-BE49-F238E27FC236}">
                <a16:creationId xmlns:a16="http://schemas.microsoft.com/office/drawing/2014/main" id="{46DD474D-E367-08FF-0B14-2BABC5FD79EE}"/>
              </a:ext>
            </a:extLst>
          </p:cNvPr>
          <p:cNvSpPr txBox="1"/>
          <p:nvPr/>
        </p:nvSpPr>
        <p:spPr>
          <a:xfrm>
            <a:off x="10312972" y="261537"/>
            <a:ext cx="1463476" cy="276999"/>
          </a:xfrm>
          <a:prstGeom prst="rect">
            <a:avLst/>
          </a:prstGeom>
          <a:noFill/>
        </p:spPr>
        <p:txBody>
          <a:bodyPr wrap="square">
            <a:spAutoFit/>
          </a:bodyPr>
          <a:lstStyle/>
          <a:p>
            <a:r>
              <a:rPr lang="pt-BR" sz="1200" dirty="0"/>
              <a:t>hidden layers</a:t>
            </a:r>
          </a:p>
        </p:txBody>
      </p:sp>
      <p:sp>
        <p:nvSpPr>
          <p:cNvPr id="94" name="CaixaDeTexto 93">
            <a:extLst>
              <a:ext uri="{FF2B5EF4-FFF2-40B4-BE49-F238E27FC236}">
                <a16:creationId xmlns:a16="http://schemas.microsoft.com/office/drawing/2014/main" id="{878EE00A-D837-C559-38BD-5BD8784ACDFB}"/>
              </a:ext>
            </a:extLst>
          </p:cNvPr>
          <p:cNvSpPr txBox="1"/>
          <p:nvPr/>
        </p:nvSpPr>
        <p:spPr>
          <a:xfrm>
            <a:off x="10480226" y="3160"/>
            <a:ext cx="628698" cy="369332"/>
          </a:xfrm>
          <a:prstGeom prst="rect">
            <a:avLst/>
          </a:prstGeom>
          <a:noFill/>
        </p:spPr>
        <p:txBody>
          <a:bodyPr wrap="none" rtlCol="0">
            <a:spAutoFit/>
          </a:bodyPr>
          <a:lstStyle/>
          <a:p>
            <a:r>
              <a:rPr lang="pt-BR" b="1" dirty="0"/>
              <a:t>ANN</a:t>
            </a:r>
          </a:p>
        </p:txBody>
      </p:sp>
      <p:sp>
        <p:nvSpPr>
          <p:cNvPr id="96" name="CaixaDeTexto 95">
            <a:extLst>
              <a:ext uri="{FF2B5EF4-FFF2-40B4-BE49-F238E27FC236}">
                <a16:creationId xmlns:a16="http://schemas.microsoft.com/office/drawing/2014/main" id="{AB941C15-DB68-AA13-66AD-F69B8AE884DA}"/>
              </a:ext>
            </a:extLst>
          </p:cNvPr>
          <p:cNvSpPr txBox="1"/>
          <p:nvPr/>
        </p:nvSpPr>
        <p:spPr>
          <a:xfrm>
            <a:off x="10376857" y="1751719"/>
            <a:ext cx="995251" cy="369332"/>
          </a:xfrm>
          <a:prstGeom prst="rect">
            <a:avLst/>
          </a:prstGeom>
          <a:noFill/>
        </p:spPr>
        <p:txBody>
          <a:bodyPr wrap="square">
            <a:spAutoFit/>
          </a:bodyPr>
          <a:lstStyle/>
          <a:p>
            <a:r>
              <a:rPr lang="pt-BR" b="1" dirty="0"/>
              <a:t>Training</a:t>
            </a:r>
          </a:p>
        </p:txBody>
      </p:sp>
      <p:pic>
        <p:nvPicPr>
          <p:cNvPr id="97" name="Imagem 96">
            <a:extLst>
              <a:ext uri="{FF2B5EF4-FFF2-40B4-BE49-F238E27FC236}">
                <a16:creationId xmlns:a16="http://schemas.microsoft.com/office/drawing/2014/main" id="{3D607CC9-3CDA-A13D-B52B-115F12A5C42C}"/>
              </a:ext>
            </a:extLst>
          </p:cNvPr>
          <p:cNvPicPr>
            <a:picLocks noChangeAspect="1"/>
          </p:cNvPicPr>
          <p:nvPr/>
        </p:nvPicPr>
        <p:blipFill>
          <a:blip r:embed="rId6"/>
          <a:stretch>
            <a:fillRect/>
          </a:stretch>
        </p:blipFill>
        <p:spPr>
          <a:xfrm>
            <a:off x="9288046" y="3654080"/>
            <a:ext cx="2843215" cy="1469116"/>
          </a:xfrm>
          <a:prstGeom prst="rect">
            <a:avLst/>
          </a:prstGeom>
        </p:spPr>
      </p:pic>
      <p:sp>
        <p:nvSpPr>
          <p:cNvPr id="99" name="CaixaDeTexto 98">
            <a:extLst>
              <a:ext uri="{FF2B5EF4-FFF2-40B4-BE49-F238E27FC236}">
                <a16:creationId xmlns:a16="http://schemas.microsoft.com/office/drawing/2014/main" id="{090B0954-CFE5-79A1-E079-314B0746CB65}"/>
              </a:ext>
            </a:extLst>
          </p:cNvPr>
          <p:cNvSpPr txBox="1"/>
          <p:nvPr/>
        </p:nvSpPr>
        <p:spPr>
          <a:xfrm>
            <a:off x="10254491" y="5438529"/>
            <a:ext cx="1080167" cy="276999"/>
          </a:xfrm>
          <a:prstGeom prst="rect">
            <a:avLst/>
          </a:prstGeom>
          <a:solidFill>
            <a:schemeClr val="accent6">
              <a:lumMod val="40000"/>
              <a:lumOff val="60000"/>
            </a:schemeClr>
          </a:solidFill>
          <a:ln>
            <a:solidFill>
              <a:srgbClr val="0070C0"/>
            </a:solidFill>
          </a:ln>
        </p:spPr>
        <p:txBody>
          <a:bodyPr wrap="none" rtlCol="0">
            <a:spAutoFit/>
          </a:bodyPr>
          <a:lstStyle/>
          <a:p>
            <a:r>
              <a:rPr lang="pt-BR" sz="1200" b="1" dirty="0"/>
              <a:t>AI Model (.pt)</a:t>
            </a:r>
          </a:p>
        </p:txBody>
      </p:sp>
      <p:cxnSp>
        <p:nvCxnSpPr>
          <p:cNvPr id="101" name="Conector reto 100">
            <a:extLst>
              <a:ext uri="{FF2B5EF4-FFF2-40B4-BE49-F238E27FC236}">
                <a16:creationId xmlns:a16="http://schemas.microsoft.com/office/drawing/2014/main" id="{91105F90-006F-1753-AFA7-76D2098FC4CC}"/>
              </a:ext>
            </a:extLst>
          </p:cNvPr>
          <p:cNvCxnSpPr/>
          <p:nvPr/>
        </p:nvCxnSpPr>
        <p:spPr>
          <a:xfrm flipH="1">
            <a:off x="9186729" y="68366"/>
            <a:ext cx="101317" cy="678963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02" name="Seta: para Baixo 101">
            <a:extLst>
              <a:ext uri="{FF2B5EF4-FFF2-40B4-BE49-F238E27FC236}">
                <a16:creationId xmlns:a16="http://schemas.microsoft.com/office/drawing/2014/main" id="{3D59F33D-1CD1-B852-E71C-8C6B304D3DA9}"/>
              </a:ext>
            </a:extLst>
          </p:cNvPr>
          <p:cNvSpPr/>
          <p:nvPr/>
        </p:nvSpPr>
        <p:spPr>
          <a:xfrm>
            <a:off x="10535962" y="5113018"/>
            <a:ext cx="567876" cy="257143"/>
          </a:xfrm>
          <a:prstGeom prst="downArrow">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6047585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B83D46DB-EEBC-4D1E-FF50-AB778C320441}"/>
              </a:ext>
            </a:extLst>
          </p:cNvPr>
          <p:cNvSpPr txBox="1"/>
          <p:nvPr/>
        </p:nvSpPr>
        <p:spPr>
          <a:xfrm>
            <a:off x="156737" y="20025"/>
            <a:ext cx="4624988" cy="276999"/>
          </a:xfrm>
          <a:prstGeom prst="rect">
            <a:avLst/>
          </a:prstGeom>
          <a:noFill/>
        </p:spPr>
        <p:txBody>
          <a:bodyPr wrap="square" rtlCol="0">
            <a:spAutoFit/>
          </a:bodyPr>
          <a:lstStyle/>
          <a:p>
            <a:r>
              <a:rPr lang="pt-BR" sz="1200" b="1" dirty="0">
                <a:latin typeface="Century Gothic" panose="020B0502020202020204" pitchFamily="34" charset="0"/>
              </a:rPr>
              <a:t>Exemplo: </a:t>
            </a:r>
            <a:r>
              <a:rPr lang="pt-BR" sz="1000" dirty="0">
                <a:solidFill>
                  <a:srgbClr val="0070C0"/>
                </a:solidFill>
                <a:latin typeface="Century Gothic" panose="020B0502020202020204" pitchFamily="34" charset="0"/>
              </a:rPr>
              <a:t>Lecture_06_Artificial_Neural_Networks.ipynb Usando </a:t>
            </a:r>
            <a:r>
              <a:rPr lang="pt-BR" sz="1000" b="1" dirty="0">
                <a:latin typeface="Century Gothic" panose="020B0502020202020204" pitchFamily="34" charset="0"/>
              </a:rPr>
              <a:t>COLAB</a:t>
            </a:r>
            <a:r>
              <a:rPr lang="pt-BR" sz="1000" dirty="0">
                <a:latin typeface="Century Gothic" panose="020B0502020202020204" pitchFamily="34" charset="0"/>
              </a:rPr>
              <a:t>.</a:t>
            </a:r>
          </a:p>
        </p:txBody>
      </p:sp>
      <p:pic>
        <p:nvPicPr>
          <p:cNvPr id="4" name="Imagem 3">
            <a:extLst>
              <a:ext uri="{FF2B5EF4-FFF2-40B4-BE49-F238E27FC236}">
                <a16:creationId xmlns:a16="http://schemas.microsoft.com/office/drawing/2014/main" id="{59C74A8D-E5CD-4554-7954-AD3A33BA0FD1}"/>
              </a:ext>
            </a:extLst>
          </p:cNvPr>
          <p:cNvPicPr>
            <a:picLocks noChangeAspect="1"/>
          </p:cNvPicPr>
          <p:nvPr/>
        </p:nvPicPr>
        <p:blipFill>
          <a:blip r:embed="rId2"/>
          <a:stretch>
            <a:fillRect/>
          </a:stretch>
        </p:blipFill>
        <p:spPr>
          <a:xfrm>
            <a:off x="5097290" y="1926605"/>
            <a:ext cx="1188089" cy="1114569"/>
          </a:xfrm>
          <a:prstGeom prst="rect">
            <a:avLst/>
          </a:prstGeom>
        </p:spPr>
      </p:pic>
      <p:sp>
        <p:nvSpPr>
          <p:cNvPr id="5" name="CaixaDeTexto 4">
            <a:extLst>
              <a:ext uri="{FF2B5EF4-FFF2-40B4-BE49-F238E27FC236}">
                <a16:creationId xmlns:a16="http://schemas.microsoft.com/office/drawing/2014/main" id="{ADF5DD83-9A89-AE7F-F27E-EDB74324E272}"/>
              </a:ext>
            </a:extLst>
          </p:cNvPr>
          <p:cNvSpPr txBox="1"/>
          <p:nvPr/>
        </p:nvSpPr>
        <p:spPr>
          <a:xfrm>
            <a:off x="6448795" y="2162815"/>
            <a:ext cx="1404552" cy="615553"/>
          </a:xfrm>
          <a:prstGeom prst="rect">
            <a:avLst/>
          </a:prstGeom>
          <a:noFill/>
        </p:spPr>
        <p:txBody>
          <a:bodyPr wrap="none" rtlCol="0">
            <a:spAutoFit/>
          </a:bodyPr>
          <a:lstStyle/>
          <a:p>
            <a:r>
              <a:rPr lang="pt-BR" sz="1200" dirty="0">
                <a:latin typeface="Century Gothic" panose="020B0502020202020204" pitchFamily="34" charset="0"/>
              </a:rPr>
              <a:t>Imagem original</a:t>
            </a:r>
          </a:p>
          <a:p>
            <a:r>
              <a:rPr lang="pt-BR" sz="1200" b="1" dirty="0">
                <a:solidFill>
                  <a:schemeClr val="accent1"/>
                </a:solidFill>
                <a:latin typeface="Century Gothic" panose="020B0502020202020204" pitchFamily="34" charset="0"/>
              </a:rPr>
              <a:t>Entrada (X)</a:t>
            </a:r>
            <a:r>
              <a:rPr lang="pt-BR" sz="1200" dirty="0">
                <a:solidFill>
                  <a:schemeClr val="accent1"/>
                </a:solidFill>
                <a:latin typeface="Century Gothic" panose="020B0502020202020204" pitchFamily="34" charset="0"/>
              </a:rPr>
              <a:t>.</a:t>
            </a:r>
          </a:p>
          <a:p>
            <a:r>
              <a:rPr lang="pt-BR" sz="1000" dirty="0">
                <a:latin typeface="Century Gothic" panose="020B0502020202020204" pitchFamily="34" charset="0"/>
              </a:rPr>
              <a:t>Imagem em jpg</a:t>
            </a:r>
          </a:p>
        </p:txBody>
      </p:sp>
      <p:pic>
        <p:nvPicPr>
          <p:cNvPr id="7" name="Imagem 6">
            <a:extLst>
              <a:ext uri="{FF2B5EF4-FFF2-40B4-BE49-F238E27FC236}">
                <a16:creationId xmlns:a16="http://schemas.microsoft.com/office/drawing/2014/main" id="{44981976-657B-C736-9453-29C61CE8A307}"/>
              </a:ext>
            </a:extLst>
          </p:cNvPr>
          <p:cNvPicPr>
            <a:picLocks noChangeAspect="1"/>
          </p:cNvPicPr>
          <p:nvPr/>
        </p:nvPicPr>
        <p:blipFill>
          <a:blip r:embed="rId3"/>
          <a:stretch>
            <a:fillRect/>
          </a:stretch>
        </p:blipFill>
        <p:spPr>
          <a:xfrm>
            <a:off x="5126197" y="3070219"/>
            <a:ext cx="1196732" cy="1128263"/>
          </a:xfrm>
          <a:prstGeom prst="rect">
            <a:avLst/>
          </a:prstGeom>
        </p:spPr>
      </p:pic>
      <p:sp>
        <p:nvSpPr>
          <p:cNvPr id="8" name="CaixaDeTexto 7">
            <a:extLst>
              <a:ext uri="{FF2B5EF4-FFF2-40B4-BE49-F238E27FC236}">
                <a16:creationId xmlns:a16="http://schemas.microsoft.com/office/drawing/2014/main" id="{05ED7F6E-9A3B-6A35-9D29-695703DC0FEB}"/>
              </a:ext>
            </a:extLst>
          </p:cNvPr>
          <p:cNvSpPr txBox="1"/>
          <p:nvPr/>
        </p:nvSpPr>
        <p:spPr>
          <a:xfrm>
            <a:off x="6325450" y="3125497"/>
            <a:ext cx="2701557" cy="1015663"/>
          </a:xfrm>
          <a:prstGeom prst="rect">
            <a:avLst/>
          </a:prstGeom>
          <a:noFill/>
        </p:spPr>
        <p:txBody>
          <a:bodyPr wrap="square" rtlCol="0">
            <a:spAutoFit/>
          </a:bodyPr>
          <a:lstStyle/>
          <a:p>
            <a:r>
              <a:rPr lang="pt-BR" sz="1000" dirty="0">
                <a:latin typeface="Century Gothic" panose="020B0502020202020204" pitchFamily="34" charset="0"/>
              </a:rPr>
              <a:t>Imagem esperada</a:t>
            </a:r>
          </a:p>
          <a:p>
            <a:r>
              <a:rPr lang="pt-BR" sz="1000" dirty="0">
                <a:latin typeface="Century Gothic" panose="020B0502020202020204" pitchFamily="34" charset="0"/>
              </a:rPr>
              <a:t>Depois do aprendizado</a:t>
            </a:r>
            <a:br>
              <a:rPr lang="pt-BR" sz="1000" dirty="0">
                <a:latin typeface="Century Gothic" panose="020B0502020202020204" pitchFamily="34" charset="0"/>
              </a:rPr>
            </a:br>
            <a:r>
              <a:rPr lang="pt-BR" sz="1000" b="1" dirty="0">
                <a:solidFill>
                  <a:schemeClr val="accent1"/>
                </a:solidFill>
                <a:latin typeface="Century Gothic" panose="020B0502020202020204" pitchFamily="34" charset="0"/>
              </a:rPr>
              <a:t>Saída (Y)</a:t>
            </a:r>
            <a:r>
              <a:rPr lang="pt-BR" sz="1000" dirty="0">
                <a:latin typeface="Century Gothic" panose="020B0502020202020204" pitchFamily="34" charset="0"/>
              </a:rPr>
              <a:t>.</a:t>
            </a:r>
          </a:p>
          <a:p>
            <a:r>
              <a:rPr lang="pt-BR" sz="1000" dirty="0">
                <a:latin typeface="Century Gothic" panose="020B0502020202020204" pitchFamily="34" charset="0"/>
              </a:rPr>
              <a:t>Classificação das cores em pixels, </a:t>
            </a:r>
          </a:p>
          <a:p>
            <a:r>
              <a:rPr lang="pt-BR" sz="1000" dirty="0">
                <a:latin typeface="Century Gothic" panose="020B0502020202020204" pitchFamily="34" charset="0"/>
              </a:rPr>
              <a:t>para obter a saída.</a:t>
            </a:r>
          </a:p>
          <a:p>
            <a:r>
              <a:rPr lang="pt-BR" sz="1000" dirty="0">
                <a:latin typeface="Century Gothic" panose="020B0502020202020204" pitchFamily="34" charset="0"/>
              </a:rPr>
              <a:t>Linha-coluna e classe que pertence. </a:t>
            </a:r>
          </a:p>
        </p:txBody>
      </p:sp>
      <p:sp>
        <p:nvSpPr>
          <p:cNvPr id="10" name="CaixaDeTexto 9">
            <a:extLst>
              <a:ext uri="{FF2B5EF4-FFF2-40B4-BE49-F238E27FC236}">
                <a16:creationId xmlns:a16="http://schemas.microsoft.com/office/drawing/2014/main" id="{35E86B22-4E9D-8665-13C0-6F51F0C79749}"/>
              </a:ext>
            </a:extLst>
          </p:cNvPr>
          <p:cNvSpPr txBox="1"/>
          <p:nvPr/>
        </p:nvSpPr>
        <p:spPr>
          <a:xfrm>
            <a:off x="4978563" y="704041"/>
            <a:ext cx="3978974" cy="1169551"/>
          </a:xfrm>
          <a:prstGeom prst="rect">
            <a:avLst/>
          </a:prstGeom>
          <a:noFill/>
        </p:spPr>
        <p:txBody>
          <a:bodyPr wrap="square">
            <a:spAutoFit/>
          </a:bodyPr>
          <a:lstStyle/>
          <a:p>
            <a:r>
              <a:rPr lang="pt-BR" sz="1000" dirty="0">
                <a:latin typeface="Century Gothic" panose="020B0502020202020204" pitchFamily="34" charset="0"/>
              </a:rPr>
              <a:t>1 - Treinamento com um pequeno número de exemplos</a:t>
            </a:r>
          </a:p>
          <a:p>
            <a:r>
              <a:rPr lang="pt-BR" sz="1000" dirty="0">
                <a:latin typeface="Century Gothic" panose="020B0502020202020204" pitchFamily="34" charset="0"/>
              </a:rPr>
              <a:t>2 - Erro de validação</a:t>
            </a:r>
          </a:p>
          <a:p>
            <a:r>
              <a:rPr lang="pt-BR" sz="1000" dirty="0">
                <a:latin typeface="Century Gothic" panose="020B0502020202020204" pitchFamily="34" charset="0"/>
              </a:rPr>
              <a:t>3 - Aumentando o número de exemplos</a:t>
            </a:r>
          </a:p>
          <a:p>
            <a:r>
              <a:rPr lang="pt-BR" sz="1000" dirty="0">
                <a:latin typeface="Century Gothic" panose="020B0502020202020204" pitchFamily="34" charset="0"/>
              </a:rPr>
              <a:t>4 - Ajustando a distribuição dos dados de entrada </a:t>
            </a:r>
          </a:p>
          <a:p>
            <a:r>
              <a:rPr lang="pt-BR" sz="1000" dirty="0">
                <a:latin typeface="Century Gothic" panose="020B0502020202020204" pitchFamily="34" charset="0"/>
              </a:rPr>
              <a:t>5 - Influência da taxa de aprendizagem </a:t>
            </a:r>
          </a:p>
          <a:p>
            <a:r>
              <a:rPr lang="pt-BR" sz="1000" dirty="0">
                <a:latin typeface="Century Gothic" panose="020B0502020202020204" pitchFamily="34" charset="0"/>
              </a:rPr>
              <a:t>6 – </a:t>
            </a:r>
            <a:r>
              <a:rPr lang="pt-BR" sz="1000" dirty="0" err="1">
                <a:latin typeface="Century Gothic" panose="020B0502020202020204" pitchFamily="34" charset="0"/>
              </a:rPr>
              <a:t>Subajuste</a:t>
            </a:r>
            <a:endParaRPr lang="pt-BR" sz="1000" dirty="0">
              <a:latin typeface="Century Gothic" panose="020B0502020202020204" pitchFamily="34" charset="0"/>
            </a:endParaRPr>
          </a:p>
          <a:p>
            <a:r>
              <a:rPr lang="pt-BR" sz="1000" dirty="0">
                <a:latin typeface="Century Gothic" panose="020B0502020202020204" pitchFamily="34" charset="0"/>
              </a:rPr>
              <a:t>7  Aumentando o conjunto de validação</a:t>
            </a:r>
          </a:p>
        </p:txBody>
      </p:sp>
      <p:sp>
        <p:nvSpPr>
          <p:cNvPr id="12" name="CaixaDeTexto 11">
            <a:extLst>
              <a:ext uri="{FF2B5EF4-FFF2-40B4-BE49-F238E27FC236}">
                <a16:creationId xmlns:a16="http://schemas.microsoft.com/office/drawing/2014/main" id="{9A829554-7654-F92C-9E32-7413F6C6F8E6}"/>
              </a:ext>
            </a:extLst>
          </p:cNvPr>
          <p:cNvSpPr txBox="1"/>
          <p:nvPr/>
        </p:nvSpPr>
        <p:spPr>
          <a:xfrm>
            <a:off x="5051126" y="21256"/>
            <a:ext cx="6984137" cy="246221"/>
          </a:xfrm>
          <a:prstGeom prst="rect">
            <a:avLst/>
          </a:prstGeom>
          <a:noFill/>
        </p:spPr>
        <p:txBody>
          <a:bodyPr wrap="square">
            <a:spAutoFit/>
          </a:bodyPr>
          <a:lstStyle/>
          <a:p>
            <a:r>
              <a:rPr lang="en-US" sz="1000" b="0" i="0" dirty="0">
                <a:solidFill>
                  <a:srgbClr val="212121"/>
                </a:solidFill>
                <a:effectLst/>
                <a:highlight>
                  <a:srgbClr val="FFFFFF"/>
                </a:highlight>
                <a:latin typeface="Century Gothic" panose="020B0502020202020204" pitchFamily="34" charset="0"/>
              </a:rPr>
              <a:t>This lesson introduces </a:t>
            </a:r>
            <a:r>
              <a:rPr lang="en-US" sz="1000" b="1" i="0" dirty="0">
                <a:solidFill>
                  <a:srgbClr val="212121"/>
                </a:solidFill>
                <a:effectLst/>
                <a:highlight>
                  <a:srgbClr val="FFFFFF"/>
                </a:highlight>
                <a:latin typeface="Century Gothic" panose="020B0502020202020204" pitchFamily="34" charset="0"/>
              </a:rPr>
              <a:t>Multilayer </a:t>
            </a:r>
            <a:r>
              <a:rPr lang="en-US" sz="1000" b="1" i="0" dirty="0" err="1">
                <a:solidFill>
                  <a:srgbClr val="212121"/>
                </a:solidFill>
                <a:effectLst/>
                <a:highlight>
                  <a:srgbClr val="FFFFFF"/>
                </a:highlight>
                <a:latin typeface="Century Gothic" panose="020B0502020202020204" pitchFamily="34" charset="0"/>
              </a:rPr>
              <a:t>Perceptrons</a:t>
            </a:r>
            <a:r>
              <a:rPr lang="en-US" sz="1000" b="1" i="0" dirty="0">
                <a:solidFill>
                  <a:srgbClr val="212121"/>
                </a:solidFill>
                <a:effectLst/>
                <a:highlight>
                  <a:srgbClr val="FFFFFF"/>
                </a:highlight>
                <a:latin typeface="Century Gothic" panose="020B0502020202020204" pitchFamily="34" charset="0"/>
              </a:rPr>
              <a:t> (MLPs)</a:t>
            </a:r>
            <a:r>
              <a:rPr lang="en-US" sz="1000" b="0" i="0" dirty="0">
                <a:solidFill>
                  <a:srgbClr val="212121"/>
                </a:solidFill>
                <a:effectLst/>
                <a:highlight>
                  <a:srgbClr val="FFFFFF"/>
                </a:highlight>
                <a:latin typeface="Century Gothic" panose="020B0502020202020204" pitchFamily="34" charset="0"/>
              </a:rPr>
              <a:t> and </a:t>
            </a:r>
            <a:r>
              <a:rPr lang="en-US" sz="1000" b="1" i="0" dirty="0">
                <a:solidFill>
                  <a:srgbClr val="212121"/>
                </a:solidFill>
                <a:effectLst/>
                <a:highlight>
                  <a:srgbClr val="FFFFFF"/>
                </a:highlight>
                <a:latin typeface="Century Gothic" panose="020B0502020202020204" pitchFamily="34" charset="0"/>
              </a:rPr>
              <a:t>Backpropagation</a:t>
            </a:r>
            <a:r>
              <a:rPr lang="en-US" sz="1000" b="0" i="0" dirty="0">
                <a:solidFill>
                  <a:srgbClr val="212121"/>
                </a:solidFill>
                <a:effectLst/>
                <a:highlight>
                  <a:srgbClr val="FFFFFF"/>
                </a:highlight>
                <a:latin typeface="Century Gothic" panose="020B0502020202020204" pitchFamily="34" charset="0"/>
              </a:rPr>
              <a:t> using </a:t>
            </a:r>
            <a:r>
              <a:rPr lang="en-US" sz="1000" b="1" i="0" dirty="0" err="1">
                <a:solidFill>
                  <a:srgbClr val="212121"/>
                </a:solidFill>
                <a:effectLst/>
                <a:highlight>
                  <a:srgbClr val="FFFFFF"/>
                </a:highlight>
                <a:latin typeface="Century Gothic" panose="020B0502020202020204" pitchFamily="34" charset="0"/>
              </a:rPr>
              <a:t>SKLearn</a:t>
            </a:r>
            <a:r>
              <a:rPr lang="en-US" sz="1000" b="1" i="0" dirty="0">
                <a:solidFill>
                  <a:srgbClr val="212121"/>
                </a:solidFill>
                <a:effectLst/>
                <a:highlight>
                  <a:srgbClr val="FFFFFF"/>
                </a:highlight>
                <a:latin typeface="Century Gothic" panose="020B0502020202020204" pitchFamily="34" charset="0"/>
              </a:rPr>
              <a:t>  </a:t>
            </a:r>
            <a:r>
              <a:rPr lang="en-US" sz="1000" i="0" dirty="0">
                <a:solidFill>
                  <a:srgbClr val="212121"/>
                </a:solidFill>
                <a:effectLst/>
                <a:highlight>
                  <a:srgbClr val="FFFFFF"/>
                </a:highlight>
                <a:latin typeface="Century Gothic" panose="020B0502020202020204" pitchFamily="34" charset="0"/>
              </a:rPr>
              <a:t>para a </a:t>
            </a:r>
            <a:r>
              <a:rPr lang="en-US" sz="1000" i="0" dirty="0" err="1">
                <a:solidFill>
                  <a:srgbClr val="212121"/>
                </a:solidFill>
                <a:effectLst/>
                <a:highlight>
                  <a:srgbClr val="FFFFFF"/>
                </a:highlight>
                <a:latin typeface="Century Gothic" panose="020B0502020202020204" pitchFamily="34" charset="0"/>
              </a:rPr>
              <a:t>Classificaçao</a:t>
            </a:r>
            <a:r>
              <a:rPr lang="en-US" sz="1000" i="0" dirty="0">
                <a:solidFill>
                  <a:srgbClr val="212121"/>
                </a:solidFill>
                <a:effectLst/>
                <a:highlight>
                  <a:srgbClr val="FFFFFF"/>
                </a:highlight>
                <a:latin typeface="Century Gothic" panose="020B0502020202020204" pitchFamily="34" charset="0"/>
              </a:rPr>
              <a:t>. </a:t>
            </a:r>
            <a:endParaRPr lang="pt-BR" sz="1000" dirty="0">
              <a:latin typeface="Century Gothic" panose="020B0502020202020204" pitchFamily="34" charset="0"/>
            </a:endParaRPr>
          </a:p>
        </p:txBody>
      </p:sp>
      <p:sp>
        <p:nvSpPr>
          <p:cNvPr id="14" name="CaixaDeTexto 13">
            <a:extLst>
              <a:ext uri="{FF2B5EF4-FFF2-40B4-BE49-F238E27FC236}">
                <a16:creationId xmlns:a16="http://schemas.microsoft.com/office/drawing/2014/main" id="{61ED5631-87FE-A3B8-8850-B098AE67B8DA}"/>
              </a:ext>
            </a:extLst>
          </p:cNvPr>
          <p:cNvSpPr txBox="1"/>
          <p:nvPr/>
        </p:nvSpPr>
        <p:spPr>
          <a:xfrm>
            <a:off x="7492074" y="260155"/>
            <a:ext cx="3978974" cy="246221"/>
          </a:xfrm>
          <a:prstGeom prst="rect">
            <a:avLst/>
          </a:prstGeom>
          <a:noFill/>
        </p:spPr>
        <p:txBody>
          <a:bodyPr wrap="none" rtlCol="0">
            <a:spAutoFit/>
          </a:bodyPr>
          <a:lstStyle/>
          <a:p>
            <a:r>
              <a:rPr lang="pt-BR" sz="1000" b="1" dirty="0">
                <a:latin typeface="Century Gothic" panose="020B0502020202020204" pitchFamily="34" charset="0"/>
              </a:rPr>
              <a:t>Existem 5 classes de cores</a:t>
            </a:r>
            <a:r>
              <a:rPr lang="pt-BR" sz="1000" dirty="0">
                <a:latin typeface="Century Gothic" panose="020B0502020202020204" pitchFamily="34" charset="0"/>
              </a:rPr>
              <a:t>: Preto, azul, amarelo, verde e rosa.</a:t>
            </a:r>
          </a:p>
        </p:txBody>
      </p:sp>
      <p:pic>
        <p:nvPicPr>
          <p:cNvPr id="16" name="Imagem 15">
            <a:extLst>
              <a:ext uri="{FF2B5EF4-FFF2-40B4-BE49-F238E27FC236}">
                <a16:creationId xmlns:a16="http://schemas.microsoft.com/office/drawing/2014/main" id="{E1D095CF-4801-8B52-23D1-1FB99F6CDBD6}"/>
              </a:ext>
            </a:extLst>
          </p:cNvPr>
          <p:cNvPicPr>
            <a:picLocks noChangeAspect="1"/>
          </p:cNvPicPr>
          <p:nvPr/>
        </p:nvPicPr>
        <p:blipFill>
          <a:blip r:embed="rId4"/>
          <a:stretch>
            <a:fillRect/>
          </a:stretch>
        </p:blipFill>
        <p:spPr>
          <a:xfrm>
            <a:off x="8609697" y="563418"/>
            <a:ext cx="2196934" cy="1452475"/>
          </a:xfrm>
          <a:prstGeom prst="rect">
            <a:avLst/>
          </a:prstGeom>
        </p:spPr>
      </p:pic>
      <p:sp>
        <p:nvSpPr>
          <p:cNvPr id="17" name="CaixaDeTexto 16">
            <a:extLst>
              <a:ext uri="{FF2B5EF4-FFF2-40B4-BE49-F238E27FC236}">
                <a16:creationId xmlns:a16="http://schemas.microsoft.com/office/drawing/2014/main" id="{26385626-FD95-CC67-BE13-057430D11F5F}"/>
              </a:ext>
            </a:extLst>
          </p:cNvPr>
          <p:cNvSpPr txBox="1"/>
          <p:nvPr/>
        </p:nvSpPr>
        <p:spPr>
          <a:xfrm>
            <a:off x="8609697" y="2041206"/>
            <a:ext cx="2077813" cy="400110"/>
          </a:xfrm>
          <a:prstGeom prst="rect">
            <a:avLst/>
          </a:prstGeom>
          <a:noFill/>
        </p:spPr>
        <p:txBody>
          <a:bodyPr wrap="none" rtlCol="0">
            <a:spAutoFit/>
          </a:bodyPr>
          <a:lstStyle/>
          <a:p>
            <a:r>
              <a:rPr lang="pt-BR" sz="1000" dirty="0">
                <a:latin typeface="Century Gothic" panose="020B0502020202020204" pitchFamily="34" charset="0"/>
              </a:rPr>
              <a:t>Cubo RGB das cores da figura</a:t>
            </a:r>
          </a:p>
          <a:p>
            <a:r>
              <a:rPr lang="pt-BR" sz="1000" dirty="0">
                <a:latin typeface="Century Gothic" panose="020B0502020202020204" pitchFamily="34" charset="0"/>
              </a:rPr>
              <a:t>É elipsoides.</a:t>
            </a:r>
          </a:p>
        </p:txBody>
      </p:sp>
      <p:pic>
        <p:nvPicPr>
          <p:cNvPr id="19" name="Imagem 18">
            <a:extLst>
              <a:ext uri="{FF2B5EF4-FFF2-40B4-BE49-F238E27FC236}">
                <a16:creationId xmlns:a16="http://schemas.microsoft.com/office/drawing/2014/main" id="{0A8846DF-A7C9-2156-381C-892FBCB65840}"/>
              </a:ext>
            </a:extLst>
          </p:cNvPr>
          <p:cNvPicPr>
            <a:picLocks noChangeAspect="1"/>
          </p:cNvPicPr>
          <p:nvPr/>
        </p:nvPicPr>
        <p:blipFill>
          <a:blip r:embed="rId5"/>
          <a:stretch>
            <a:fillRect/>
          </a:stretch>
        </p:blipFill>
        <p:spPr>
          <a:xfrm>
            <a:off x="9475259" y="2608931"/>
            <a:ext cx="2607725" cy="1559522"/>
          </a:xfrm>
          <a:prstGeom prst="rect">
            <a:avLst/>
          </a:prstGeom>
        </p:spPr>
      </p:pic>
      <p:sp>
        <p:nvSpPr>
          <p:cNvPr id="20" name="CaixaDeTexto 19">
            <a:extLst>
              <a:ext uri="{FF2B5EF4-FFF2-40B4-BE49-F238E27FC236}">
                <a16:creationId xmlns:a16="http://schemas.microsoft.com/office/drawing/2014/main" id="{6A42061D-B028-7982-9250-6A9F95CE0543}"/>
              </a:ext>
            </a:extLst>
          </p:cNvPr>
          <p:cNvSpPr txBox="1"/>
          <p:nvPr/>
        </p:nvSpPr>
        <p:spPr>
          <a:xfrm>
            <a:off x="7456349" y="4257128"/>
            <a:ext cx="4565075" cy="2185214"/>
          </a:xfrm>
          <a:prstGeom prst="rect">
            <a:avLst/>
          </a:prstGeom>
          <a:noFill/>
        </p:spPr>
        <p:txBody>
          <a:bodyPr wrap="square" rtlCol="0">
            <a:spAutoFit/>
          </a:bodyPr>
          <a:lstStyle/>
          <a:p>
            <a:r>
              <a:rPr lang="pt-BR" sz="1200" b="1" dirty="0">
                <a:latin typeface="Century Gothic" panose="020B0502020202020204" pitchFamily="34" charset="0"/>
              </a:rPr>
              <a:t>Arquitetura do MLP</a:t>
            </a:r>
          </a:p>
          <a:p>
            <a:endParaRPr lang="pt-BR" sz="1200" b="1" dirty="0">
              <a:latin typeface="Century Gothic" panose="020B0502020202020204" pitchFamily="34" charset="0"/>
            </a:endParaRPr>
          </a:p>
          <a:p>
            <a:r>
              <a:rPr lang="pt-BR" sz="800" dirty="0">
                <a:latin typeface="Century Gothic" panose="020B0502020202020204" pitchFamily="34" charset="0"/>
              </a:rPr>
              <a:t>Usamos 3 neurônios Perceptron de entrada (RGB) e 5 neurônios de saída por causa das 5 classes e somente uma será ativada. Os números de neurônios dos layers escondidas podem variar conforme necessidade.  </a:t>
            </a:r>
          </a:p>
          <a:p>
            <a:r>
              <a:rPr lang="pt-BR" sz="800" dirty="0">
                <a:latin typeface="Century Gothic" panose="020B0502020202020204" pitchFamily="34" charset="0"/>
              </a:rPr>
              <a:t>Entra o pixel com seus dados de linha e coluna RGB e após processada ela decide qual classe pertence aquele pixels das 5 classes existentes.</a:t>
            </a:r>
          </a:p>
          <a:p>
            <a:r>
              <a:rPr lang="pt-BR" sz="800" dirty="0">
                <a:latin typeface="Century Gothic" panose="020B0502020202020204" pitchFamily="34" charset="0"/>
              </a:rPr>
              <a:t>Evidente que para ensinar a IA, os pixels conhecidos qual classe pertence ela aprende, depois ela usa os valores de pixels que não foi ensinado a ela, conhecido como </a:t>
            </a:r>
            <a:r>
              <a:rPr lang="pt-BR" sz="800" b="1" dirty="0">
                <a:latin typeface="Century Gothic" panose="020B0502020202020204" pitchFamily="34" charset="0"/>
              </a:rPr>
              <a:t>generalização</a:t>
            </a:r>
            <a:r>
              <a:rPr lang="pt-BR" sz="800" dirty="0">
                <a:latin typeface="Century Gothic" panose="020B0502020202020204" pitchFamily="34" charset="0"/>
              </a:rPr>
              <a:t>, os vizinhos daqueles conhecidos e não dados, para ela predizer ou “</a:t>
            </a:r>
            <a:r>
              <a:rPr lang="pt-BR" sz="800" b="1" dirty="0">
                <a:latin typeface="Century Gothic" panose="020B0502020202020204" pitchFamily="34" charset="0"/>
              </a:rPr>
              <a:t>adivinhar</a:t>
            </a:r>
            <a:r>
              <a:rPr lang="pt-BR" sz="800" dirty="0">
                <a:latin typeface="Century Gothic" panose="020B0502020202020204" pitchFamily="34" charset="0"/>
              </a:rPr>
              <a:t>” qual classe pertence. </a:t>
            </a:r>
            <a:br>
              <a:rPr lang="pt-BR" sz="800" dirty="0">
                <a:latin typeface="Century Gothic" panose="020B0502020202020204" pitchFamily="34" charset="0"/>
              </a:rPr>
            </a:br>
            <a:r>
              <a:rPr lang="pt-BR" sz="800" dirty="0">
                <a:latin typeface="Century Gothic" panose="020B0502020202020204" pitchFamily="34" charset="0"/>
              </a:rPr>
              <a:t>Para fazer isso existe o Underfitting e Overfitting que podem atrapalhar. </a:t>
            </a:r>
          </a:p>
          <a:p>
            <a:r>
              <a:rPr lang="pt-BR" sz="800" dirty="0">
                <a:latin typeface="Century Gothic" panose="020B0502020202020204" pitchFamily="34" charset="0"/>
              </a:rPr>
              <a:t>Então usa-se o truque da validação a cada aprendizagem, para verificar o data holdout (</a:t>
            </a:r>
            <a:r>
              <a:rPr lang="pt-BR" sz="800" b="1" dirty="0">
                <a:latin typeface="Century Gothic" panose="020B0502020202020204" pitchFamily="34" charset="0"/>
              </a:rPr>
              <a:t>early Stop</a:t>
            </a:r>
            <a:r>
              <a:rPr lang="pt-BR" sz="800" dirty="0">
                <a:latin typeface="Century Gothic" panose="020B0502020202020204" pitchFamily="34" charset="0"/>
              </a:rPr>
              <a:t>) . Esta validação é rodada de várias formas e a mais usual é o modelo </a:t>
            </a:r>
            <a:r>
              <a:rPr lang="pt-BR" sz="800" b="1" dirty="0">
                <a:latin typeface="Century Gothic" panose="020B0502020202020204" pitchFamily="34" charset="0"/>
              </a:rPr>
              <a:t>K-</a:t>
            </a:r>
            <a:r>
              <a:rPr lang="pt-BR" sz="800" b="1" dirty="0" err="1">
                <a:latin typeface="Century Gothic" panose="020B0502020202020204" pitchFamily="34" charset="0"/>
              </a:rPr>
              <a:t>Fold</a:t>
            </a:r>
            <a:r>
              <a:rPr lang="pt-BR" sz="800" b="1" dirty="0">
                <a:latin typeface="Century Gothic" panose="020B0502020202020204" pitchFamily="34" charset="0"/>
              </a:rPr>
              <a:t>.</a:t>
            </a:r>
            <a:r>
              <a:rPr lang="pt-BR" sz="800" dirty="0">
                <a:latin typeface="Century Gothic" panose="020B0502020202020204" pitchFamily="34" charset="0"/>
              </a:rPr>
              <a:t> </a:t>
            </a:r>
          </a:p>
          <a:p>
            <a:r>
              <a:rPr lang="pt-BR" sz="800" dirty="0">
                <a:latin typeface="Century Gothic" panose="020B0502020202020204" pitchFamily="34" charset="0"/>
              </a:rPr>
              <a:t>Também normaliza os dados apresentados (eixo 0 do plano)</a:t>
            </a:r>
          </a:p>
        </p:txBody>
      </p:sp>
      <p:sp>
        <p:nvSpPr>
          <p:cNvPr id="21" name="Retângulo 20">
            <a:extLst>
              <a:ext uri="{FF2B5EF4-FFF2-40B4-BE49-F238E27FC236}">
                <a16:creationId xmlns:a16="http://schemas.microsoft.com/office/drawing/2014/main" id="{ED1779AE-CC27-5D99-520D-032A28DBEDC7}"/>
              </a:ext>
            </a:extLst>
          </p:cNvPr>
          <p:cNvSpPr/>
          <p:nvPr/>
        </p:nvSpPr>
        <p:spPr>
          <a:xfrm>
            <a:off x="10620464" y="2502905"/>
            <a:ext cx="880844" cy="1665548"/>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3" name="CaixaDeTexto 22">
            <a:extLst>
              <a:ext uri="{FF2B5EF4-FFF2-40B4-BE49-F238E27FC236}">
                <a16:creationId xmlns:a16="http://schemas.microsoft.com/office/drawing/2014/main" id="{44A75B65-112F-E7ED-1259-6517DC763471}"/>
              </a:ext>
            </a:extLst>
          </p:cNvPr>
          <p:cNvSpPr txBox="1"/>
          <p:nvPr/>
        </p:nvSpPr>
        <p:spPr>
          <a:xfrm>
            <a:off x="4978563" y="4408333"/>
            <a:ext cx="2477786" cy="2092881"/>
          </a:xfrm>
          <a:prstGeom prst="rect">
            <a:avLst/>
          </a:prstGeom>
          <a:noFill/>
          <a:ln>
            <a:solidFill>
              <a:schemeClr val="tx1"/>
            </a:solidFill>
          </a:ln>
        </p:spPr>
        <p:txBody>
          <a:bodyPr wrap="square">
            <a:spAutoFit/>
          </a:bodyPr>
          <a:lstStyle/>
          <a:p>
            <a:pPr algn="l"/>
            <a:r>
              <a:rPr lang="pt-BR" sz="1000" i="0" dirty="0">
                <a:solidFill>
                  <a:srgbClr val="212121"/>
                </a:solidFill>
                <a:effectLst/>
                <a:highlight>
                  <a:srgbClr val="FFFFFF"/>
                </a:highlight>
                <a:latin typeface="Century Gothic" panose="020B0502020202020204" pitchFamily="34" charset="0"/>
              </a:rPr>
              <a:t>O </a:t>
            </a:r>
            <a:r>
              <a:rPr lang="pt-BR" sz="1000" b="1" i="0" dirty="0">
                <a:solidFill>
                  <a:srgbClr val="212121"/>
                </a:solidFill>
                <a:effectLst/>
                <a:highlight>
                  <a:srgbClr val="FFFFFF"/>
                </a:highlight>
                <a:latin typeface="Century Gothic" panose="020B0502020202020204" pitchFamily="34" charset="0"/>
              </a:rPr>
              <a:t>dataset</a:t>
            </a:r>
            <a:r>
              <a:rPr lang="pt-BR" sz="1000" i="0" dirty="0">
                <a:solidFill>
                  <a:srgbClr val="212121"/>
                </a:solidFill>
                <a:effectLst/>
                <a:highlight>
                  <a:srgbClr val="FFFFFF"/>
                </a:highlight>
                <a:latin typeface="Century Gothic" panose="020B0502020202020204" pitchFamily="34" charset="0"/>
              </a:rPr>
              <a:t> de aprendizagem com 5 classes tem dados </a:t>
            </a:r>
            <a:r>
              <a:rPr lang="pt-BR" sz="1000" b="1" i="0" dirty="0">
                <a:solidFill>
                  <a:srgbClr val="212121"/>
                </a:solidFill>
                <a:effectLst/>
                <a:highlight>
                  <a:srgbClr val="FFFFFF"/>
                </a:highlight>
                <a:latin typeface="Century Gothic" panose="020B0502020202020204" pitchFamily="34" charset="0"/>
              </a:rPr>
              <a:t>desbalanceados</a:t>
            </a:r>
            <a:r>
              <a:rPr lang="pt-BR" sz="1000" i="0" dirty="0">
                <a:solidFill>
                  <a:srgbClr val="212121"/>
                </a:solidFill>
                <a:effectLst/>
                <a:highlight>
                  <a:srgbClr val="FFFFFF"/>
                </a:highlight>
                <a:latin typeface="Century Gothic" panose="020B0502020202020204" pitchFamily="34" charset="0"/>
              </a:rPr>
              <a:t>, diferentes quantidades. Portanto as amostras devem ser proporcionais aos dados e não uma quantidade igual de todas as classes.  </a:t>
            </a:r>
          </a:p>
          <a:p>
            <a:pPr algn="l">
              <a:buFont typeface="Arial" panose="020B0604020202020204" pitchFamily="34" charset="0"/>
              <a:buChar char="•"/>
            </a:pPr>
            <a:endParaRPr lang="pt-BR" sz="1000" b="1" dirty="0">
              <a:solidFill>
                <a:srgbClr val="212121"/>
              </a:solidFill>
              <a:highlight>
                <a:srgbClr val="FFFFFF"/>
              </a:highlight>
              <a:latin typeface="Century Gothic" panose="020B0502020202020204" pitchFamily="34" charset="0"/>
            </a:endParaRPr>
          </a:p>
          <a:p>
            <a:pPr algn="l">
              <a:buFont typeface="Arial" panose="020B0604020202020204" pitchFamily="34" charset="0"/>
              <a:buChar char="•"/>
            </a:pPr>
            <a:r>
              <a:rPr lang="pt-BR" sz="1000" b="1" i="0" dirty="0" err="1">
                <a:solidFill>
                  <a:srgbClr val="212121"/>
                </a:solidFill>
                <a:effectLst/>
                <a:highlight>
                  <a:srgbClr val="FFFFFF"/>
                </a:highlight>
                <a:latin typeface="Century Gothic" panose="020B0502020202020204" pitchFamily="34" charset="0"/>
              </a:rPr>
              <a:t>bk</a:t>
            </a:r>
            <a:r>
              <a:rPr lang="pt-BR" sz="1000" b="0" i="0" dirty="0">
                <a:solidFill>
                  <a:srgbClr val="212121"/>
                </a:solidFill>
                <a:effectLst/>
                <a:highlight>
                  <a:srgbClr val="FFFFFF"/>
                </a:highlight>
                <a:latin typeface="Century Gothic" panose="020B0502020202020204" pitchFamily="34" charset="0"/>
              </a:rPr>
              <a:t> (black): 163.452 pixels</a:t>
            </a:r>
          </a:p>
          <a:p>
            <a:pPr algn="l">
              <a:buFont typeface="Arial" panose="020B0604020202020204" pitchFamily="34" charset="0"/>
              <a:buChar char="•"/>
            </a:pPr>
            <a:r>
              <a:rPr lang="pt-BR" sz="1000" b="1" i="0" dirty="0">
                <a:solidFill>
                  <a:srgbClr val="212121"/>
                </a:solidFill>
                <a:effectLst/>
                <a:highlight>
                  <a:srgbClr val="FFFFFF"/>
                </a:highlight>
                <a:latin typeface="Century Gothic" panose="020B0502020202020204" pitchFamily="34" charset="0"/>
              </a:rPr>
              <a:t>p</a:t>
            </a:r>
            <a:r>
              <a:rPr lang="pt-BR" sz="1000" b="0" i="0" dirty="0">
                <a:solidFill>
                  <a:srgbClr val="212121"/>
                </a:solidFill>
                <a:effectLst/>
                <a:highlight>
                  <a:srgbClr val="FFFFFF"/>
                </a:highlight>
                <a:latin typeface="Century Gothic" panose="020B0502020202020204" pitchFamily="34" charset="0"/>
              </a:rPr>
              <a:t> (</a:t>
            </a:r>
            <a:r>
              <a:rPr lang="pt-BR" sz="1000" b="0" i="0" dirty="0" err="1">
                <a:solidFill>
                  <a:srgbClr val="212121"/>
                </a:solidFill>
                <a:effectLst/>
                <a:highlight>
                  <a:srgbClr val="FFFFFF"/>
                </a:highlight>
                <a:latin typeface="Century Gothic" panose="020B0502020202020204" pitchFamily="34" charset="0"/>
              </a:rPr>
              <a:t>pink</a:t>
            </a:r>
            <a:r>
              <a:rPr lang="pt-BR" sz="1000" b="0" i="0" dirty="0">
                <a:solidFill>
                  <a:srgbClr val="212121"/>
                </a:solidFill>
                <a:effectLst/>
                <a:highlight>
                  <a:srgbClr val="FFFFFF"/>
                </a:highlight>
                <a:latin typeface="Century Gothic" panose="020B0502020202020204" pitchFamily="34" charset="0"/>
              </a:rPr>
              <a:t>): 12.565 pixels</a:t>
            </a:r>
          </a:p>
          <a:p>
            <a:pPr algn="l">
              <a:buFont typeface="Arial" panose="020B0604020202020204" pitchFamily="34" charset="0"/>
              <a:buChar char="•"/>
            </a:pPr>
            <a:r>
              <a:rPr lang="pt-BR" sz="1000" b="1" i="0" dirty="0">
                <a:solidFill>
                  <a:srgbClr val="212121"/>
                </a:solidFill>
                <a:effectLst/>
                <a:highlight>
                  <a:srgbClr val="FFFFFF"/>
                </a:highlight>
                <a:latin typeface="Century Gothic" panose="020B0502020202020204" pitchFamily="34" charset="0"/>
              </a:rPr>
              <a:t>y</a:t>
            </a:r>
            <a:r>
              <a:rPr lang="pt-BR" sz="1000" b="0" i="0" dirty="0">
                <a:solidFill>
                  <a:srgbClr val="212121"/>
                </a:solidFill>
                <a:effectLst/>
                <a:highlight>
                  <a:srgbClr val="FFFFFF"/>
                </a:highlight>
                <a:latin typeface="Century Gothic" panose="020B0502020202020204" pitchFamily="34" charset="0"/>
              </a:rPr>
              <a:t> (</a:t>
            </a:r>
            <a:r>
              <a:rPr lang="pt-BR" sz="1000" b="0" i="0" dirty="0" err="1">
                <a:solidFill>
                  <a:srgbClr val="212121"/>
                </a:solidFill>
                <a:effectLst/>
                <a:highlight>
                  <a:srgbClr val="FFFFFF"/>
                </a:highlight>
                <a:latin typeface="Century Gothic" panose="020B0502020202020204" pitchFamily="34" charset="0"/>
              </a:rPr>
              <a:t>yellow</a:t>
            </a:r>
            <a:r>
              <a:rPr lang="pt-BR" sz="1000" b="0" i="0" dirty="0">
                <a:solidFill>
                  <a:srgbClr val="212121"/>
                </a:solidFill>
                <a:effectLst/>
                <a:highlight>
                  <a:srgbClr val="FFFFFF"/>
                </a:highlight>
                <a:latin typeface="Century Gothic" panose="020B0502020202020204" pitchFamily="34" charset="0"/>
              </a:rPr>
              <a:t>): 5.675 pixels</a:t>
            </a:r>
          </a:p>
          <a:p>
            <a:pPr algn="l">
              <a:buFont typeface="Arial" panose="020B0604020202020204" pitchFamily="34" charset="0"/>
              <a:buChar char="•"/>
            </a:pPr>
            <a:r>
              <a:rPr lang="pt-BR" sz="1000" b="1" i="0" dirty="0">
                <a:solidFill>
                  <a:srgbClr val="212121"/>
                </a:solidFill>
                <a:effectLst/>
                <a:highlight>
                  <a:srgbClr val="FFFFFF"/>
                </a:highlight>
                <a:latin typeface="Century Gothic" panose="020B0502020202020204" pitchFamily="34" charset="0"/>
              </a:rPr>
              <a:t>g</a:t>
            </a:r>
            <a:r>
              <a:rPr lang="pt-BR" sz="1000" b="0" i="0" dirty="0">
                <a:solidFill>
                  <a:srgbClr val="212121"/>
                </a:solidFill>
                <a:effectLst/>
                <a:highlight>
                  <a:srgbClr val="FFFFFF"/>
                </a:highlight>
                <a:latin typeface="Century Gothic" panose="020B0502020202020204" pitchFamily="34" charset="0"/>
              </a:rPr>
              <a:t> (</a:t>
            </a:r>
            <a:r>
              <a:rPr lang="pt-BR" sz="1000" b="0" i="0" dirty="0" err="1">
                <a:solidFill>
                  <a:srgbClr val="212121"/>
                </a:solidFill>
                <a:effectLst/>
                <a:highlight>
                  <a:srgbClr val="FFFFFF"/>
                </a:highlight>
                <a:latin typeface="Century Gothic" panose="020B0502020202020204" pitchFamily="34" charset="0"/>
              </a:rPr>
              <a:t>green</a:t>
            </a:r>
            <a:r>
              <a:rPr lang="pt-BR" sz="1000" b="0" i="0" dirty="0">
                <a:solidFill>
                  <a:srgbClr val="212121"/>
                </a:solidFill>
                <a:effectLst/>
                <a:highlight>
                  <a:srgbClr val="FFFFFF"/>
                </a:highlight>
                <a:latin typeface="Century Gothic" panose="020B0502020202020204" pitchFamily="34" charset="0"/>
              </a:rPr>
              <a:t>): 10.770 pixels</a:t>
            </a:r>
          </a:p>
          <a:p>
            <a:pPr algn="l">
              <a:buFont typeface="Arial" panose="020B0604020202020204" pitchFamily="34" charset="0"/>
              <a:buChar char="•"/>
            </a:pPr>
            <a:r>
              <a:rPr lang="pt-BR" sz="1000" b="1" i="0" dirty="0">
                <a:solidFill>
                  <a:srgbClr val="212121"/>
                </a:solidFill>
                <a:effectLst/>
                <a:highlight>
                  <a:srgbClr val="FFFFFF"/>
                </a:highlight>
                <a:latin typeface="Century Gothic" panose="020B0502020202020204" pitchFamily="34" charset="0"/>
              </a:rPr>
              <a:t>b</a:t>
            </a:r>
            <a:r>
              <a:rPr lang="pt-BR" sz="1000" b="0" i="0" dirty="0">
                <a:solidFill>
                  <a:srgbClr val="212121"/>
                </a:solidFill>
                <a:effectLst/>
                <a:highlight>
                  <a:srgbClr val="FFFFFF"/>
                </a:highlight>
                <a:latin typeface="Century Gothic" panose="020B0502020202020204" pitchFamily="34" charset="0"/>
              </a:rPr>
              <a:t> (blue): 10.770 pixels</a:t>
            </a:r>
          </a:p>
          <a:p>
            <a:pPr algn="l">
              <a:buFont typeface="Arial" panose="020B0604020202020204" pitchFamily="34" charset="0"/>
              <a:buChar char="•"/>
            </a:pPr>
            <a:r>
              <a:rPr lang="pt-BR" sz="1000" b="1" i="0" dirty="0">
                <a:solidFill>
                  <a:srgbClr val="212121"/>
                </a:solidFill>
                <a:effectLst/>
                <a:highlight>
                  <a:srgbClr val="FFFFFF"/>
                </a:highlight>
                <a:latin typeface="Century Gothic" panose="020B0502020202020204" pitchFamily="34" charset="0"/>
              </a:rPr>
              <a:t>TOTAL</a:t>
            </a:r>
            <a:r>
              <a:rPr lang="pt-BR" sz="1000" b="0" i="0" dirty="0">
                <a:solidFill>
                  <a:srgbClr val="212121"/>
                </a:solidFill>
                <a:effectLst/>
                <a:highlight>
                  <a:srgbClr val="FFFFFF"/>
                </a:highlight>
                <a:latin typeface="Century Gothic" panose="020B0502020202020204" pitchFamily="34" charset="0"/>
              </a:rPr>
              <a:t>: 203.232 pixels da imagem.</a:t>
            </a:r>
          </a:p>
        </p:txBody>
      </p:sp>
      <p:pic>
        <p:nvPicPr>
          <p:cNvPr id="25" name="Imagem 24">
            <a:extLst>
              <a:ext uri="{FF2B5EF4-FFF2-40B4-BE49-F238E27FC236}">
                <a16:creationId xmlns:a16="http://schemas.microsoft.com/office/drawing/2014/main" id="{B64F26DF-21FF-4FED-49BE-20BE5BCD2689}"/>
              </a:ext>
            </a:extLst>
          </p:cNvPr>
          <p:cNvPicPr>
            <a:picLocks noChangeAspect="1"/>
          </p:cNvPicPr>
          <p:nvPr/>
        </p:nvPicPr>
        <p:blipFill>
          <a:blip r:embed="rId6"/>
          <a:stretch>
            <a:fillRect/>
          </a:stretch>
        </p:blipFill>
        <p:spPr>
          <a:xfrm>
            <a:off x="942816" y="637411"/>
            <a:ext cx="597899" cy="530915"/>
          </a:xfrm>
          <a:prstGeom prst="rect">
            <a:avLst/>
          </a:prstGeom>
        </p:spPr>
      </p:pic>
      <p:pic>
        <p:nvPicPr>
          <p:cNvPr id="27" name="Imagem 26">
            <a:extLst>
              <a:ext uri="{FF2B5EF4-FFF2-40B4-BE49-F238E27FC236}">
                <a16:creationId xmlns:a16="http://schemas.microsoft.com/office/drawing/2014/main" id="{97089931-94D7-8663-0D0E-D7F2AF271704}"/>
              </a:ext>
            </a:extLst>
          </p:cNvPr>
          <p:cNvPicPr>
            <a:picLocks noChangeAspect="1"/>
          </p:cNvPicPr>
          <p:nvPr/>
        </p:nvPicPr>
        <p:blipFill>
          <a:blip r:embed="rId7"/>
          <a:stretch>
            <a:fillRect/>
          </a:stretch>
        </p:blipFill>
        <p:spPr>
          <a:xfrm>
            <a:off x="48717" y="637409"/>
            <a:ext cx="681757" cy="530915"/>
          </a:xfrm>
          <a:prstGeom prst="rect">
            <a:avLst/>
          </a:prstGeom>
        </p:spPr>
      </p:pic>
      <p:sp>
        <p:nvSpPr>
          <p:cNvPr id="28" name="CaixaDeTexto 27">
            <a:extLst>
              <a:ext uri="{FF2B5EF4-FFF2-40B4-BE49-F238E27FC236}">
                <a16:creationId xmlns:a16="http://schemas.microsoft.com/office/drawing/2014/main" id="{B1B76C72-CC0E-467F-A5FD-91B02ED16BF8}"/>
              </a:ext>
            </a:extLst>
          </p:cNvPr>
          <p:cNvSpPr txBox="1"/>
          <p:nvPr/>
        </p:nvSpPr>
        <p:spPr>
          <a:xfrm>
            <a:off x="1540715" y="363898"/>
            <a:ext cx="3340379" cy="954107"/>
          </a:xfrm>
          <a:prstGeom prst="rect">
            <a:avLst/>
          </a:prstGeom>
          <a:noFill/>
          <a:ln w="6350">
            <a:solidFill>
              <a:schemeClr val="tx1"/>
            </a:solidFill>
          </a:ln>
        </p:spPr>
        <p:txBody>
          <a:bodyPr wrap="square" rtlCol="0">
            <a:spAutoFit/>
          </a:bodyPr>
          <a:lstStyle/>
          <a:p>
            <a:r>
              <a:rPr lang="pt-BR" sz="800" b="1" dirty="0"/>
              <a:t>OBS</a:t>
            </a:r>
            <a:r>
              <a:rPr lang="pt-BR" sz="800" dirty="0"/>
              <a:t>.: Programado para parar após 10 </a:t>
            </a:r>
            <a:r>
              <a:rPr lang="pt-BR" sz="800" dirty="0" err="1"/>
              <a:t>epochs</a:t>
            </a:r>
            <a:r>
              <a:rPr lang="pt-BR" sz="800" dirty="0"/>
              <a:t> sem alteração significativa.</a:t>
            </a:r>
          </a:p>
          <a:p>
            <a:r>
              <a:rPr lang="pt-BR" sz="800" dirty="0"/>
              <a:t>Número de neurônios camada escondida = </a:t>
            </a:r>
            <a:r>
              <a:rPr lang="pt-BR" sz="800" b="1" dirty="0"/>
              <a:t>20</a:t>
            </a:r>
          </a:p>
          <a:p>
            <a:r>
              <a:rPr lang="pt-BR" sz="800" dirty="0"/>
              <a:t>Taxa de aprendizado = (</a:t>
            </a:r>
            <a:r>
              <a:rPr lang="el-GR" sz="800" dirty="0"/>
              <a:t>η</a:t>
            </a:r>
            <a:r>
              <a:rPr lang="pt-BR" sz="800" dirty="0"/>
              <a:t>= </a:t>
            </a:r>
            <a:r>
              <a:rPr lang="pt-BR" sz="800" b="1" dirty="0"/>
              <a:t>0.005)</a:t>
            </a:r>
          </a:p>
          <a:p>
            <a:r>
              <a:rPr lang="pt-BR" sz="800" dirty="0"/>
              <a:t>Número de amostras para cada classe</a:t>
            </a:r>
            <a:r>
              <a:rPr lang="pt-BR" sz="800" b="1" dirty="0"/>
              <a:t>: 1</a:t>
            </a:r>
          </a:p>
          <a:p>
            <a:r>
              <a:rPr lang="pt-BR" sz="800" dirty="0"/>
              <a:t>Curva de validação</a:t>
            </a:r>
            <a:r>
              <a:rPr lang="pt-BR" sz="800" b="1" dirty="0"/>
              <a:t>: não existe</a:t>
            </a:r>
          </a:p>
          <a:p>
            <a:r>
              <a:rPr lang="pt-BR" sz="800" b="1" dirty="0"/>
              <a:t>Resultado: </a:t>
            </a:r>
            <a:r>
              <a:rPr lang="pt-BR" sz="800" b="1" dirty="0">
                <a:solidFill>
                  <a:srgbClr val="FF0000"/>
                </a:solidFill>
              </a:rPr>
              <a:t>Overfitting</a:t>
            </a:r>
            <a:r>
              <a:rPr lang="pt-BR" sz="800" b="1" dirty="0"/>
              <a:t> – </a:t>
            </a:r>
            <a:r>
              <a:rPr lang="pt-BR" sz="800" dirty="0"/>
              <a:t>Baixo erro mas não reconhece dados (especialista no treinamento e generalização ruim) </a:t>
            </a:r>
          </a:p>
        </p:txBody>
      </p:sp>
      <p:pic>
        <p:nvPicPr>
          <p:cNvPr id="30" name="Imagem 29">
            <a:extLst>
              <a:ext uri="{FF2B5EF4-FFF2-40B4-BE49-F238E27FC236}">
                <a16:creationId xmlns:a16="http://schemas.microsoft.com/office/drawing/2014/main" id="{8988D7B8-BF1F-D0E4-5C8D-E94E2ACC5BB9}"/>
              </a:ext>
            </a:extLst>
          </p:cNvPr>
          <p:cNvPicPr>
            <a:picLocks noChangeAspect="1"/>
          </p:cNvPicPr>
          <p:nvPr/>
        </p:nvPicPr>
        <p:blipFill>
          <a:blip r:embed="rId8"/>
          <a:stretch>
            <a:fillRect/>
          </a:stretch>
        </p:blipFill>
        <p:spPr>
          <a:xfrm>
            <a:off x="101274" y="1352697"/>
            <a:ext cx="580457" cy="471621"/>
          </a:xfrm>
          <a:prstGeom prst="rect">
            <a:avLst/>
          </a:prstGeom>
        </p:spPr>
      </p:pic>
      <p:pic>
        <p:nvPicPr>
          <p:cNvPr id="32" name="Imagem 31">
            <a:extLst>
              <a:ext uri="{FF2B5EF4-FFF2-40B4-BE49-F238E27FC236}">
                <a16:creationId xmlns:a16="http://schemas.microsoft.com/office/drawing/2014/main" id="{4448F40F-F7FB-5D7D-BBE3-F3EA2F1CC271}"/>
              </a:ext>
            </a:extLst>
          </p:cNvPr>
          <p:cNvPicPr>
            <a:picLocks noChangeAspect="1"/>
          </p:cNvPicPr>
          <p:nvPr/>
        </p:nvPicPr>
        <p:blipFill>
          <a:blip r:embed="rId9"/>
          <a:stretch>
            <a:fillRect/>
          </a:stretch>
        </p:blipFill>
        <p:spPr>
          <a:xfrm>
            <a:off x="942816" y="1305851"/>
            <a:ext cx="577157" cy="534548"/>
          </a:xfrm>
          <a:prstGeom prst="rect">
            <a:avLst/>
          </a:prstGeom>
        </p:spPr>
      </p:pic>
      <p:sp>
        <p:nvSpPr>
          <p:cNvPr id="33" name="CaixaDeTexto 32">
            <a:extLst>
              <a:ext uri="{FF2B5EF4-FFF2-40B4-BE49-F238E27FC236}">
                <a16:creationId xmlns:a16="http://schemas.microsoft.com/office/drawing/2014/main" id="{0772A6DD-5D9B-9457-29A3-EB796B15C376}"/>
              </a:ext>
            </a:extLst>
          </p:cNvPr>
          <p:cNvSpPr txBox="1"/>
          <p:nvPr/>
        </p:nvSpPr>
        <p:spPr>
          <a:xfrm>
            <a:off x="1540715" y="1302073"/>
            <a:ext cx="3340379" cy="584775"/>
          </a:xfrm>
          <a:prstGeom prst="rect">
            <a:avLst/>
          </a:prstGeom>
          <a:noFill/>
          <a:ln>
            <a:solidFill>
              <a:schemeClr val="tx1"/>
            </a:solidFill>
          </a:ln>
        </p:spPr>
        <p:txBody>
          <a:bodyPr wrap="square" rtlCol="0">
            <a:spAutoFit/>
          </a:bodyPr>
          <a:lstStyle/>
          <a:p>
            <a:r>
              <a:rPr lang="pt-BR" sz="800" dirty="0"/>
              <a:t>Taxa de aprendizado = (</a:t>
            </a:r>
            <a:r>
              <a:rPr lang="el-GR" sz="800" dirty="0"/>
              <a:t>η</a:t>
            </a:r>
            <a:r>
              <a:rPr lang="pt-BR" sz="800" dirty="0"/>
              <a:t>= </a:t>
            </a:r>
            <a:r>
              <a:rPr lang="pt-BR" sz="800" b="1" dirty="0"/>
              <a:t>0.005)</a:t>
            </a:r>
          </a:p>
          <a:p>
            <a:r>
              <a:rPr lang="pt-BR" sz="800" dirty="0"/>
              <a:t>Número de amostras para cada classe</a:t>
            </a:r>
            <a:r>
              <a:rPr lang="pt-BR" sz="800" b="1" dirty="0"/>
              <a:t>: 9 </a:t>
            </a:r>
            <a:r>
              <a:rPr lang="pt-BR" sz="800" dirty="0"/>
              <a:t>(parada de aprendizagem)</a:t>
            </a:r>
          </a:p>
          <a:p>
            <a:r>
              <a:rPr lang="pt-BR" sz="800" dirty="0"/>
              <a:t>Curva de validação (10%)</a:t>
            </a:r>
            <a:r>
              <a:rPr lang="pt-BR" sz="800" b="1" dirty="0"/>
              <a:t>: 1  (early stop)</a:t>
            </a:r>
          </a:p>
          <a:p>
            <a:r>
              <a:rPr lang="pt-BR" sz="800" b="1" dirty="0"/>
              <a:t>Resultado:  </a:t>
            </a:r>
            <a:r>
              <a:rPr lang="pt-BR" sz="800" dirty="0"/>
              <a:t>Não aprendeu nada  porque foi acionado o early stop</a:t>
            </a:r>
          </a:p>
        </p:txBody>
      </p:sp>
      <p:sp>
        <p:nvSpPr>
          <p:cNvPr id="35" name="CaixaDeTexto 34">
            <a:extLst>
              <a:ext uri="{FF2B5EF4-FFF2-40B4-BE49-F238E27FC236}">
                <a16:creationId xmlns:a16="http://schemas.microsoft.com/office/drawing/2014/main" id="{CBBE9CC6-397D-7BE0-FCDC-A5CC63C48D76}"/>
              </a:ext>
            </a:extLst>
          </p:cNvPr>
          <p:cNvSpPr txBox="1"/>
          <p:nvPr/>
        </p:nvSpPr>
        <p:spPr>
          <a:xfrm>
            <a:off x="1540715" y="1995384"/>
            <a:ext cx="3340379" cy="584775"/>
          </a:xfrm>
          <a:prstGeom prst="rect">
            <a:avLst/>
          </a:prstGeom>
          <a:noFill/>
          <a:ln>
            <a:solidFill>
              <a:schemeClr val="tx1"/>
            </a:solidFill>
          </a:ln>
        </p:spPr>
        <p:txBody>
          <a:bodyPr wrap="square" rtlCol="0">
            <a:spAutoFit/>
          </a:bodyPr>
          <a:lstStyle/>
          <a:p>
            <a:r>
              <a:rPr lang="pt-BR" sz="800" dirty="0"/>
              <a:t>Taxa de aprendizado = (</a:t>
            </a:r>
            <a:r>
              <a:rPr lang="el-GR" sz="800" dirty="0"/>
              <a:t>η</a:t>
            </a:r>
            <a:r>
              <a:rPr lang="pt-BR" sz="800" dirty="0"/>
              <a:t>= </a:t>
            </a:r>
            <a:r>
              <a:rPr lang="pt-BR" sz="800" b="1" dirty="0"/>
              <a:t>0.005)</a:t>
            </a:r>
          </a:p>
          <a:p>
            <a:r>
              <a:rPr lang="pt-BR" sz="800" dirty="0"/>
              <a:t>Número de amostras para cada classe</a:t>
            </a:r>
            <a:r>
              <a:rPr lang="pt-BR" sz="800" b="1" dirty="0"/>
              <a:t>: 18 </a:t>
            </a:r>
            <a:r>
              <a:rPr lang="pt-BR" sz="800" dirty="0"/>
              <a:t>(parada de aprendizagem)</a:t>
            </a:r>
          </a:p>
          <a:p>
            <a:r>
              <a:rPr lang="pt-BR" sz="800" dirty="0"/>
              <a:t>Curva de validação (10%)</a:t>
            </a:r>
            <a:r>
              <a:rPr lang="pt-BR" sz="800" b="1" dirty="0"/>
              <a:t>: 2  (early stop)</a:t>
            </a:r>
          </a:p>
          <a:p>
            <a:r>
              <a:rPr lang="pt-BR" sz="800" b="1" dirty="0"/>
              <a:t>Resultado:  </a:t>
            </a:r>
            <a:r>
              <a:rPr lang="pt-BR" sz="800" dirty="0"/>
              <a:t>Não aprendeu nada  porque foi acionado o early stop</a:t>
            </a:r>
          </a:p>
        </p:txBody>
      </p:sp>
      <p:pic>
        <p:nvPicPr>
          <p:cNvPr id="37" name="Imagem 36">
            <a:extLst>
              <a:ext uri="{FF2B5EF4-FFF2-40B4-BE49-F238E27FC236}">
                <a16:creationId xmlns:a16="http://schemas.microsoft.com/office/drawing/2014/main" id="{32D551B3-C5A6-CE24-1A22-E1056EBA21FB}"/>
              </a:ext>
            </a:extLst>
          </p:cNvPr>
          <p:cNvPicPr>
            <a:picLocks noChangeAspect="1"/>
          </p:cNvPicPr>
          <p:nvPr/>
        </p:nvPicPr>
        <p:blipFill>
          <a:blip r:embed="rId10"/>
          <a:stretch>
            <a:fillRect/>
          </a:stretch>
        </p:blipFill>
        <p:spPr>
          <a:xfrm>
            <a:off x="56460" y="2096747"/>
            <a:ext cx="625271" cy="471621"/>
          </a:xfrm>
          <a:prstGeom prst="rect">
            <a:avLst/>
          </a:prstGeom>
        </p:spPr>
      </p:pic>
      <p:pic>
        <p:nvPicPr>
          <p:cNvPr id="39" name="Imagem 38">
            <a:extLst>
              <a:ext uri="{FF2B5EF4-FFF2-40B4-BE49-F238E27FC236}">
                <a16:creationId xmlns:a16="http://schemas.microsoft.com/office/drawing/2014/main" id="{42471488-0574-9930-D1A5-18A2A25D53E7}"/>
              </a:ext>
            </a:extLst>
          </p:cNvPr>
          <p:cNvPicPr>
            <a:picLocks noChangeAspect="1"/>
          </p:cNvPicPr>
          <p:nvPr/>
        </p:nvPicPr>
        <p:blipFill>
          <a:blip r:embed="rId11"/>
          <a:stretch>
            <a:fillRect/>
          </a:stretch>
        </p:blipFill>
        <p:spPr>
          <a:xfrm>
            <a:off x="877397" y="2009740"/>
            <a:ext cx="614583" cy="584776"/>
          </a:xfrm>
          <a:prstGeom prst="rect">
            <a:avLst/>
          </a:prstGeom>
        </p:spPr>
      </p:pic>
      <p:sp>
        <p:nvSpPr>
          <p:cNvPr id="40" name="CaixaDeTexto 39">
            <a:extLst>
              <a:ext uri="{FF2B5EF4-FFF2-40B4-BE49-F238E27FC236}">
                <a16:creationId xmlns:a16="http://schemas.microsoft.com/office/drawing/2014/main" id="{042F738E-233E-D59A-581D-D517A9389D30}"/>
              </a:ext>
            </a:extLst>
          </p:cNvPr>
          <p:cNvSpPr txBox="1"/>
          <p:nvPr/>
        </p:nvSpPr>
        <p:spPr>
          <a:xfrm>
            <a:off x="1540715" y="2628907"/>
            <a:ext cx="3340379" cy="707886"/>
          </a:xfrm>
          <a:prstGeom prst="rect">
            <a:avLst/>
          </a:prstGeom>
          <a:noFill/>
          <a:ln>
            <a:solidFill>
              <a:schemeClr val="tx1"/>
            </a:solidFill>
          </a:ln>
        </p:spPr>
        <p:txBody>
          <a:bodyPr wrap="square" rtlCol="0">
            <a:spAutoFit/>
          </a:bodyPr>
          <a:lstStyle/>
          <a:p>
            <a:r>
              <a:rPr lang="pt-BR" sz="800" dirty="0"/>
              <a:t>Taxa de aprendizado = (</a:t>
            </a:r>
            <a:r>
              <a:rPr lang="el-GR" sz="800" dirty="0"/>
              <a:t>η</a:t>
            </a:r>
            <a:r>
              <a:rPr lang="pt-BR" sz="800" dirty="0"/>
              <a:t>= </a:t>
            </a:r>
            <a:r>
              <a:rPr lang="pt-BR" sz="800" b="1" dirty="0"/>
              <a:t>0.005)</a:t>
            </a:r>
          </a:p>
          <a:p>
            <a:r>
              <a:rPr lang="pt-BR" sz="800" dirty="0"/>
              <a:t>Número de amostras para cada classe</a:t>
            </a:r>
            <a:r>
              <a:rPr lang="pt-BR" sz="800" b="1" dirty="0"/>
              <a:t>: 450 </a:t>
            </a:r>
            <a:r>
              <a:rPr lang="pt-BR" sz="800" dirty="0"/>
              <a:t>(parada de aprendizagem)</a:t>
            </a:r>
          </a:p>
          <a:p>
            <a:r>
              <a:rPr lang="pt-BR" sz="800" dirty="0"/>
              <a:t>Curva de validação (10%)</a:t>
            </a:r>
            <a:r>
              <a:rPr lang="pt-BR" sz="800" b="1" dirty="0"/>
              <a:t>: 50  (early stop)</a:t>
            </a:r>
          </a:p>
          <a:p>
            <a:r>
              <a:rPr lang="pt-BR" sz="800" b="1" dirty="0"/>
              <a:t>Resultado:  </a:t>
            </a:r>
            <a:r>
              <a:rPr lang="pt-BR" sz="800" dirty="0"/>
              <a:t>Número de amostra maior melhorou mas classe é desbalanceada.</a:t>
            </a:r>
          </a:p>
        </p:txBody>
      </p:sp>
      <p:pic>
        <p:nvPicPr>
          <p:cNvPr id="42" name="Imagem 41">
            <a:extLst>
              <a:ext uri="{FF2B5EF4-FFF2-40B4-BE49-F238E27FC236}">
                <a16:creationId xmlns:a16="http://schemas.microsoft.com/office/drawing/2014/main" id="{816087E9-D74F-A1B2-738D-B06D450354E8}"/>
              </a:ext>
            </a:extLst>
          </p:cNvPr>
          <p:cNvPicPr>
            <a:picLocks noChangeAspect="1"/>
          </p:cNvPicPr>
          <p:nvPr/>
        </p:nvPicPr>
        <p:blipFill>
          <a:blip r:embed="rId12"/>
          <a:stretch>
            <a:fillRect/>
          </a:stretch>
        </p:blipFill>
        <p:spPr>
          <a:xfrm>
            <a:off x="48717" y="2651467"/>
            <a:ext cx="625271" cy="499769"/>
          </a:xfrm>
          <a:prstGeom prst="rect">
            <a:avLst/>
          </a:prstGeom>
        </p:spPr>
      </p:pic>
      <p:pic>
        <p:nvPicPr>
          <p:cNvPr id="44" name="Imagem 43">
            <a:extLst>
              <a:ext uri="{FF2B5EF4-FFF2-40B4-BE49-F238E27FC236}">
                <a16:creationId xmlns:a16="http://schemas.microsoft.com/office/drawing/2014/main" id="{F9530C98-FA22-7458-7921-A61EB76F443C}"/>
              </a:ext>
            </a:extLst>
          </p:cNvPr>
          <p:cNvPicPr>
            <a:picLocks noChangeAspect="1"/>
          </p:cNvPicPr>
          <p:nvPr/>
        </p:nvPicPr>
        <p:blipFill>
          <a:blip r:embed="rId13"/>
          <a:stretch>
            <a:fillRect/>
          </a:stretch>
        </p:blipFill>
        <p:spPr>
          <a:xfrm>
            <a:off x="829771" y="2609148"/>
            <a:ext cx="662209" cy="615553"/>
          </a:xfrm>
          <a:prstGeom prst="rect">
            <a:avLst/>
          </a:prstGeom>
        </p:spPr>
      </p:pic>
      <p:sp>
        <p:nvSpPr>
          <p:cNvPr id="45" name="CaixaDeTexto 44">
            <a:extLst>
              <a:ext uri="{FF2B5EF4-FFF2-40B4-BE49-F238E27FC236}">
                <a16:creationId xmlns:a16="http://schemas.microsoft.com/office/drawing/2014/main" id="{0707AF5F-2C28-AAC7-72E2-7C722F2AF104}"/>
              </a:ext>
            </a:extLst>
          </p:cNvPr>
          <p:cNvSpPr txBox="1"/>
          <p:nvPr/>
        </p:nvSpPr>
        <p:spPr>
          <a:xfrm>
            <a:off x="1540714" y="3381795"/>
            <a:ext cx="3340379" cy="830997"/>
          </a:xfrm>
          <a:prstGeom prst="rect">
            <a:avLst/>
          </a:prstGeom>
          <a:noFill/>
          <a:ln>
            <a:solidFill>
              <a:schemeClr val="tx1"/>
            </a:solidFill>
          </a:ln>
        </p:spPr>
        <p:txBody>
          <a:bodyPr wrap="square" rtlCol="0">
            <a:spAutoFit/>
          </a:bodyPr>
          <a:lstStyle/>
          <a:p>
            <a:r>
              <a:rPr lang="pt-BR" sz="800" dirty="0"/>
              <a:t>Taxa de aprendizado (</a:t>
            </a:r>
            <a:r>
              <a:rPr lang="el-GR" sz="800" dirty="0"/>
              <a:t>η</a:t>
            </a:r>
            <a:r>
              <a:rPr lang="pt-BR" sz="800" dirty="0"/>
              <a:t>= </a:t>
            </a:r>
            <a:r>
              <a:rPr lang="pt-BR" sz="800" b="1" dirty="0"/>
              <a:t>0.005)</a:t>
            </a:r>
          </a:p>
          <a:p>
            <a:r>
              <a:rPr lang="pt-BR" sz="800" dirty="0"/>
              <a:t>Número de amostras para cada classe</a:t>
            </a:r>
            <a:r>
              <a:rPr lang="pt-BR" sz="800" b="1" dirty="0"/>
              <a:t>: BK=14710, P=1131, Y=511, G=970, B=970.</a:t>
            </a:r>
            <a:endParaRPr lang="pt-BR" sz="800" dirty="0"/>
          </a:p>
          <a:p>
            <a:r>
              <a:rPr lang="pt-BR" sz="800" dirty="0"/>
              <a:t>Curva de validação (10%)</a:t>
            </a:r>
            <a:r>
              <a:rPr lang="pt-BR" sz="800" b="1" dirty="0"/>
              <a:t>: BK=163, P=125, Y=56, G=107, B=107</a:t>
            </a:r>
          </a:p>
          <a:p>
            <a:r>
              <a:rPr lang="pt-BR" sz="800" b="1" dirty="0"/>
              <a:t>Resultado:  </a:t>
            </a:r>
            <a:r>
              <a:rPr lang="pt-BR" sz="800" dirty="0"/>
              <a:t>Número de amostra maior e dimensionado os elementos de classe ,  melhorou  muito mais. </a:t>
            </a:r>
          </a:p>
        </p:txBody>
      </p:sp>
      <p:pic>
        <p:nvPicPr>
          <p:cNvPr id="47" name="Imagem 46">
            <a:extLst>
              <a:ext uri="{FF2B5EF4-FFF2-40B4-BE49-F238E27FC236}">
                <a16:creationId xmlns:a16="http://schemas.microsoft.com/office/drawing/2014/main" id="{AADF7C13-DC19-D734-D82F-68C8DC022557}"/>
              </a:ext>
            </a:extLst>
          </p:cNvPr>
          <p:cNvPicPr>
            <a:picLocks noChangeAspect="1"/>
          </p:cNvPicPr>
          <p:nvPr/>
        </p:nvPicPr>
        <p:blipFill>
          <a:blip r:embed="rId14"/>
          <a:stretch>
            <a:fillRect/>
          </a:stretch>
        </p:blipFill>
        <p:spPr>
          <a:xfrm>
            <a:off x="20367" y="3259985"/>
            <a:ext cx="697455" cy="568482"/>
          </a:xfrm>
          <a:prstGeom prst="rect">
            <a:avLst/>
          </a:prstGeom>
        </p:spPr>
      </p:pic>
      <p:pic>
        <p:nvPicPr>
          <p:cNvPr id="49" name="Imagem 48">
            <a:extLst>
              <a:ext uri="{FF2B5EF4-FFF2-40B4-BE49-F238E27FC236}">
                <a16:creationId xmlns:a16="http://schemas.microsoft.com/office/drawing/2014/main" id="{9EA330F7-DCE1-287B-D638-BD59E373CE7D}"/>
              </a:ext>
            </a:extLst>
          </p:cNvPr>
          <p:cNvPicPr>
            <a:picLocks noChangeAspect="1"/>
          </p:cNvPicPr>
          <p:nvPr/>
        </p:nvPicPr>
        <p:blipFill>
          <a:blip r:embed="rId15"/>
          <a:stretch>
            <a:fillRect/>
          </a:stretch>
        </p:blipFill>
        <p:spPr>
          <a:xfrm>
            <a:off x="836874" y="3273623"/>
            <a:ext cx="675754" cy="615553"/>
          </a:xfrm>
          <a:prstGeom prst="rect">
            <a:avLst/>
          </a:prstGeom>
        </p:spPr>
      </p:pic>
      <p:sp>
        <p:nvSpPr>
          <p:cNvPr id="51" name="CaixaDeTexto 50">
            <a:extLst>
              <a:ext uri="{FF2B5EF4-FFF2-40B4-BE49-F238E27FC236}">
                <a16:creationId xmlns:a16="http://schemas.microsoft.com/office/drawing/2014/main" id="{15DF0A97-FB3C-CB31-6876-53BEFDECB3EC}"/>
              </a:ext>
            </a:extLst>
          </p:cNvPr>
          <p:cNvSpPr txBox="1"/>
          <p:nvPr/>
        </p:nvSpPr>
        <p:spPr>
          <a:xfrm>
            <a:off x="155765" y="3921053"/>
            <a:ext cx="1443263" cy="338554"/>
          </a:xfrm>
          <a:prstGeom prst="rect">
            <a:avLst/>
          </a:prstGeom>
          <a:noFill/>
        </p:spPr>
        <p:txBody>
          <a:bodyPr wrap="square">
            <a:spAutoFit/>
          </a:bodyPr>
          <a:lstStyle/>
          <a:p>
            <a:r>
              <a:rPr lang="pt-BR" sz="800" dirty="0">
                <a:solidFill>
                  <a:srgbClr val="7030A0"/>
                </a:solidFill>
              </a:rPr>
              <a:t>Curva de validação</a:t>
            </a:r>
            <a:r>
              <a:rPr lang="pt-BR" sz="800" b="1" dirty="0">
                <a:solidFill>
                  <a:srgbClr val="7030A0"/>
                </a:solidFill>
              </a:rPr>
              <a:t> com 20% melhora mais ainda.</a:t>
            </a:r>
          </a:p>
        </p:txBody>
      </p:sp>
      <p:sp>
        <p:nvSpPr>
          <p:cNvPr id="52" name="CaixaDeTexto 51">
            <a:extLst>
              <a:ext uri="{FF2B5EF4-FFF2-40B4-BE49-F238E27FC236}">
                <a16:creationId xmlns:a16="http://schemas.microsoft.com/office/drawing/2014/main" id="{FBA90FED-AA26-0A8B-FE0B-7ECD72108B2C}"/>
              </a:ext>
            </a:extLst>
          </p:cNvPr>
          <p:cNvSpPr txBox="1"/>
          <p:nvPr/>
        </p:nvSpPr>
        <p:spPr>
          <a:xfrm>
            <a:off x="1589449" y="4284817"/>
            <a:ext cx="3340379" cy="830997"/>
          </a:xfrm>
          <a:prstGeom prst="rect">
            <a:avLst/>
          </a:prstGeom>
          <a:noFill/>
          <a:ln>
            <a:solidFill>
              <a:schemeClr val="tx1"/>
            </a:solidFill>
          </a:ln>
        </p:spPr>
        <p:txBody>
          <a:bodyPr wrap="square" rtlCol="0">
            <a:spAutoFit/>
          </a:bodyPr>
          <a:lstStyle/>
          <a:p>
            <a:r>
              <a:rPr lang="pt-BR" sz="800" dirty="0"/>
              <a:t>Taxa de aprendizado (</a:t>
            </a:r>
            <a:r>
              <a:rPr lang="el-GR" sz="800" dirty="0"/>
              <a:t>η</a:t>
            </a:r>
            <a:r>
              <a:rPr lang="pt-BR" sz="800" dirty="0"/>
              <a:t>= </a:t>
            </a:r>
            <a:r>
              <a:rPr lang="pt-BR" sz="800" b="1" dirty="0"/>
              <a:t>0.1)</a:t>
            </a:r>
          </a:p>
          <a:p>
            <a:r>
              <a:rPr lang="pt-BR" sz="800" dirty="0"/>
              <a:t>Número de amostras para cada classe</a:t>
            </a:r>
            <a:r>
              <a:rPr lang="pt-BR" sz="800" b="1" dirty="0"/>
              <a:t>: BK=14710, P=1131, Y=511, G=970, B=970.</a:t>
            </a:r>
            <a:endParaRPr lang="pt-BR" sz="800" dirty="0"/>
          </a:p>
          <a:p>
            <a:r>
              <a:rPr lang="pt-BR" sz="800" dirty="0"/>
              <a:t>Curva de validação (10%)</a:t>
            </a:r>
            <a:r>
              <a:rPr lang="pt-BR" sz="800" b="1" dirty="0"/>
              <a:t>: BK=163, P=125, Y=56, G=107, B=107</a:t>
            </a:r>
          </a:p>
          <a:p>
            <a:r>
              <a:rPr lang="pt-BR" sz="800" b="1" dirty="0"/>
              <a:t>Resultado: </a:t>
            </a:r>
            <a:r>
              <a:rPr lang="pt-BR" sz="800" dirty="0"/>
              <a:t>Passos da taxa de aprendizado alto, mas não aprendeu nada, Underfitting. </a:t>
            </a:r>
          </a:p>
        </p:txBody>
      </p:sp>
      <p:pic>
        <p:nvPicPr>
          <p:cNvPr id="54" name="Imagem 53">
            <a:extLst>
              <a:ext uri="{FF2B5EF4-FFF2-40B4-BE49-F238E27FC236}">
                <a16:creationId xmlns:a16="http://schemas.microsoft.com/office/drawing/2014/main" id="{6D80A0F3-20CF-A9A6-735B-2F7AC6447859}"/>
              </a:ext>
            </a:extLst>
          </p:cNvPr>
          <p:cNvPicPr>
            <a:picLocks noChangeAspect="1"/>
          </p:cNvPicPr>
          <p:nvPr/>
        </p:nvPicPr>
        <p:blipFill>
          <a:blip r:embed="rId16"/>
          <a:stretch>
            <a:fillRect/>
          </a:stretch>
        </p:blipFill>
        <p:spPr>
          <a:xfrm>
            <a:off x="12270" y="4332803"/>
            <a:ext cx="705552" cy="539540"/>
          </a:xfrm>
          <a:prstGeom prst="rect">
            <a:avLst/>
          </a:prstGeom>
        </p:spPr>
      </p:pic>
      <p:pic>
        <p:nvPicPr>
          <p:cNvPr id="56" name="Imagem 55">
            <a:extLst>
              <a:ext uri="{FF2B5EF4-FFF2-40B4-BE49-F238E27FC236}">
                <a16:creationId xmlns:a16="http://schemas.microsoft.com/office/drawing/2014/main" id="{386BB941-E472-4950-DC78-D89E1FE0A04E}"/>
              </a:ext>
            </a:extLst>
          </p:cNvPr>
          <p:cNvPicPr>
            <a:picLocks noChangeAspect="1"/>
          </p:cNvPicPr>
          <p:nvPr/>
        </p:nvPicPr>
        <p:blipFill>
          <a:blip r:embed="rId17"/>
          <a:stretch>
            <a:fillRect/>
          </a:stretch>
        </p:blipFill>
        <p:spPr>
          <a:xfrm>
            <a:off x="860635" y="4296721"/>
            <a:ext cx="600479" cy="540169"/>
          </a:xfrm>
          <a:prstGeom prst="rect">
            <a:avLst/>
          </a:prstGeom>
        </p:spPr>
      </p:pic>
      <p:sp>
        <p:nvSpPr>
          <p:cNvPr id="57" name="CaixaDeTexto 56">
            <a:extLst>
              <a:ext uri="{FF2B5EF4-FFF2-40B4-BE49-F238E27FC236}">
                <a16:creationId xmlns:a16="http://schemas.microsoft.com/office/drawing/2014/main" id="{3C25B262-40AB-C5C5-C20E-588977C47356}"/>
              </a:ext>
            </a:extLst>
          </p:cNvPr>
          <p:cNvSpPr txBox="1"/>
          <p:nvPr/>
        </p:nvSpPr>
        <p:spPr>
          <a:xfrm>
            <a:off x="1589448" y="5163609"/>
            <a:ext cx="3340379" cy="338554"/>
          </a:xfrm>
          <a:prstGeom prst="rect">
            <a:avLst/>
          </a:prstGeom>
          <a:noFill/>
          <a:ln>
            <a:solidFill>
              <a:schemeClr val="tx1"/>
            </a:solidFill>
          </a:ln>
        </p:spPr>
        <p:txBody>
          <a:bodyPr wrap="square" rtlCol="0">
            <a:spAutoFit/>
          </a:bodyPr>
          <a:lstStyle/>
          <a:p>
            <a:r>
              <a:rPr lang="pt-BR" sz="800" dirty="0"/>
              <a:t>Taxa de aprendizado (</a:t>
            </a:r>
            <a:r>
              <a:rPr lang="el-GR" sz="800" dirty="0"/>
              <a:t>η</a:t>
            </a:r>
            <a:r>
              <a:rPr lang="pt-BR" sz="800" dirty="0"/>
              <a:t>= </a:t>
            </a:r>
            <a:r>
              <a:rPr lang="pt-BR" sz="800" b="1" dirty="0"/>
              <a:t>0.0001)</a:t>
            </a:r>
          </a:p>
          <a:p>
            <a:r>
              <a:rPr lang="pt-BR" sz="800" dirty="0"/>
              <a:t>Leva mais tempo mas o resultado é ótimo. </a:t>
            </a:r>
          </a:p>
        </p:txBody>
      </p:sp>
      <p:pic>
        <p:nvPicPr>
          <p:cNvPr id="59" name="Imagem 58">
            <a:extLst>
              <a:ext uri="{FF2B5EF4-FFF2-40B4-BE49-F238E27FC236}">
                <a16:creationId xmlns:a16="http://schemas.microsoft.com/office/drawing/2014/main" id="{B13CA234-98F6-1E03-52C3-BCF0D51D39E5}"/>
              </a:ext>
            </a:extLst>
          </p:cNvPr>
          <p:cNvPicPr>
            <a:picLocks noChangeAspect="1"/>
          </p:cNvPicPr>
          <p:nvPr/>
        </p:nvPicPr>
        <p:blipFill>
          <a:blip r:embed="rId18"/>
          <a:stretch>
            <a:fillRect/>
          </a:stretch>
        </p:blipFill>
        <p:spPr>
          <a:xfrm>
            <a:off x="87283" y="4981812"/>
            <a:ext cx="630539" cy="480358"/>
          </a:xfrm>
          <a:prstGeom prst="rect">
            <a:avLst/>
          </a:prstGeom>
        </p:spPr>
      </p:pic>
      <p:pic>
        <p:nvPicPr>
          <p:cNvPr id="61" name="Imagem 60">
            <a:extLst>
              <a:ext uri="{FF2B5EF4-FFF2-40B4-BE49-F238E27FC236}">
                <a16:creationId xmlns:a16="http://schemas.microsoft.com/office/drawing/2014/main" id="{F8A13A19-2D57-4D64-D86D-B307463006E8}"/>
              </a:ext>
            </a:extLst>
          </p:cNvPr>
          <p:cNvPicPr>
            <a:picLocks noChangeAspect="1"/>
          </p:cNvPicPr>
          <p:nvPr/>
        </p:nvPicPr>
        <p:blipFill>
          <a:blip r:embed="rId19"/>
          <a:stretch>
            <a:fillRect/>
          </a:stretch>
        </p:blipFill>
        <p:spPr>
          <a:xfrm>
            <a:off x="897034" y="4980342"/>
            <a:ext cx="527679" cy="471224"/>
          </a:xfrm>
          <a:prstGeom prst="rect">
            <a:avLst/>
          </a:prstGeom>
        </p:spPr>
      </p:pic>
      <p:sp>
        <p:nvSpPr>
          <p:cNvPr id="64" name="CaixaDeTexto 63">
            <a:extLst>
              <a:ext uri="{FF2B5EF4-FFF2-40B4-BE49-F238E27FC236}">
                <a16:creationId xmlns:a16="http://schemas.microsoft.com/office/drawing/2014/main" id="{2F527A37-0CEF-FB4A-5F3C-062076C0E733}"/>
              </a:ext>
            </a:extLst>
          </p:cNvPr>
          <p:cNvSpPr txBox="1"/>
          <p:nvPr/>
        </p:nvSpPr>
        <p:spPr>
          <a:xfrm>
            <a:off x="1580660" y="5546971"/>
            <a:ext cx="3340379" cy="338554"/>
          </a:xfrm>
          <a:prstGeom prst="rect">
            <a:avLst/>
          </a:prstGeom>
          <a:noFill/>
          <a:ln>
            <a:solidFill>
              <a:schemeClr val="tx1"/>
            </a:solidFill>
          </a:ln>
        </p:spPr>
        <p:txBody>
          <a:bodyPr wrap="square" rtlCol="0">
            <a:spAutoFit/>
          </a:bodyPr>
          <a:lstStyle/>
          <a:p>
            <a:r>
              <a:rPr lang="pt-BR" sz="800" dirty="0"/>
              <a:t>Taxa de aprendizado (</a:t>
            </a:r>
            <a:r>
              <a:rPr lang="el-GR" sz="800" dirty="0"/>
              <a:t>η</a:t>
            </a:r>
            <a:r>
              <a:rPr lang="pt-BR" sz="800" dirty="0"/>
              <a:t>= </a:t>
            </a:r>
            <a:r>
              <a:rPr lang="pt-BR" sz="800" b="1" dirty="0"/>
              <a:t>0.001)  </a:t>
            </a:r>
            <a:r>
              <a:rPr lang="pt-BR" sz="800" b="1" dirty="0" err="1"/>
              <a:t>Num_Neurons_Hidden</a:t>
            </a:r>
            <a:r>
              <a:rPr lang="pt-BR" sz="800" b="1" dirty="0"/>
              <a:t> = 3</a:t>
            </a:r>
          </a:p>
          <a:p>
            <a:r>
              <a:rPr lang="pt-BR" sz="800" b="1" dirty="0"/>
              <a:t>Resultado: N</a:t>
            </a:r>
            <a:r>
              <a:rPr lang="pt-BR" sz="800" dirty="0"/>
              <a:t>ão aprendeu nada, Underfitting. </a:t>
            </a:r>
          </a:p>
        </p:txBody>
      </p:sp>
      <p:pic>
        <p:nvPicPr>
          <p:cNvPr id="66" name="Imagem 65">
            <a:extLst>
              <a:ext uri="{FF2B5EF4-FFF2-40B4-BE49-F238E27FC236}">
                <a16:creationId xmlns:a16="http://schemas.microsoft.com/office/drawing/2014/main" id="{613CCE36-7C9B-0623-6F13-C33911D22E5F}"/>
              </a:ext>
            </a:extLst>
          </p:cNvPr>
          <p:cNvPicPr>
            <a:picLocks noChangeAspect="1"/>
          </p:cNvPicPr>
          <p:nvPr/>
        </p:nvPicPr>
        <p:blipFill>
          <a:blip r:embed="rId20"/>
          <a:stretch>
            <a:fillRect/>
          </a:stretch>
        </p:blipFill>
        <p:spPr>
          <a:xfrm>
            <a:off x="149558" y="5480488"/>
            <a:ext cx="527679" cy="414270"/>
          </a:xfrm>
          <a:prstGeom prst="rect">
            <a:avLst/>
          </a:prstGeom>
        </p:spPr>
      </p:pic>
      <p:pic>
        <p:nvPicPr>
          <p:cNvPr id="68" name="Imagem 67">
            <a:extLst>
              <a:ext uri="{FF2B5EF4-FFF2-40B4-BE49-F238E27FC236}">
                <a16:creationId xmlns:a16="http://schemas.microsoft.com/office/drawing/2014/main" id="{7FE5C369-3E8F-4ADC-B7A6-9E1BA6C902B7}"/>
              </a:ext>
            </a:extLst>
          </p:cNvPr>
          <p:cNvPicPr>
            <a:picLocks noChangeAspect="1"/>
          </p:cNvPicPr>
          <p:nvPr/>
        </p:nvPicPr>
        <p:blipFill>
          <a:blip r:embed="rId21"/>
          <a:stretch>
            <a:fillRect/>
          </a:stretch>
        </p:blipFill>
        <p:spPr>
          <a:xfrm>
            <a:off x="906250" y="5495261"/>
            <a:ext cx="509245" cy="471224"/>
          </a:xfrm>
          <a:prstGeom prst="rect">
            <a:avLst/>
          </a:prstGeom>
        </p:spPr>
      </p:pic>
      <p:sp>
        <p:nvSpPr>
          <p:cNvPr id="69" name="CaixaDeTexto 68">
            <a:extLst>
              <a:ext uri="{FF2B5EF4-FFF2-40B4-BE49-F238E27FC236}">
                <a16:creationId xmlns:a16="http://schemas.microsoft.com/office/drawing/2014/main" id="{4A3317F2-0BE1-E805-F753-A67DE064E5EB}"/>
              </a:ext>
            </a:extLst>
          </p:cNvPr>
          <p:cNvSpPr txBox="1"/>
          <p:nvPr/>
        </p:nvSpPr>
        <p:spPr>
          <a:xfrm>
            <a:off x="1580660" y="6034338"/>
            <a:ext cx="3340379" cy="338554"/>
          </a:xfrm>
          <a:prstGeom prst="rect">
            <a:avLst/>
          </a:prstGeom>
          <a:noFill/>
          <a:ln>
            <a:solidFill>
              <a:schemeClr val="tx1"/>
            </a:solidFill>
          </a:ln>
        </p:spPr>
        <p:txBody>
          <a:bodyPr wrap="square" rtlCol="0">
            <a:spAutoFit/>
          </a:bodyPr>
          <a:lstStyle/>
          <a:p>
            <a:r>
              <a:rPr lang="pt-BR" sz="800" dirty="0"/>
              <a:t>Taxa de aprendizado (</a:t>
            </a:r>
            <a:r>
              <a:rPr lang="el-GR" sz="800" dirty="0"/>
              <a:t>η</a:t>
            </a:r>
            <a:r>
              <a:rPr lang="pt-BR" sz="800" dirty="0"/>
              <a:t>= </a:t>
            </a:r>
            <a:r>
              <a:rPr lang="pt-BR" sz="800" b="1" dirty="0"/>
              <a:t>0.001)  </a:t>
            </a:r>
            <a:r>
              <a:rPr lang="pt-BR" sz="800" b="1" dirty="0" err="1"/>
              <a:t>Num_Neurons_Hidden</a:t>
            </a:r>
            <a:r>
              <a:rPr lang="pt-BR" sz="800" b="1" dirty="0"/>
              <a:t> = 50</a:t>
            </a:r>
          </a:p>
          <a:p>
            <a:r>
              <a:rPr lang="pt-BR" sz="800" b="1" dirty="0"/>
              <a:t>Resultado: </a:t>
            </a:r>
            <a:r>
              <a:rPr lang="pt-BR" sz="800" dirty="0"/>
              <a:t> Ótimo, apenas leva mais tempo. </a:t>
            </a:r>
          </a:p>
        </p:txBody>
      </p:sp>
      <p:pic>
        <p:nvPicPr>
          <p:cNvPr id="71" name="Imagem 70">
            <a:extLst>
              <a:ext uri="{FF2B5EF4-FFF2-40B4-BE49-F238E27FC236}">
                <a16:creationId xmlns:a16="http://schemas.microsoft.com/office/drawing/2014/main" id="{EB14331E-8E18-6864-CA77-EC071793F236}"/>
              </a:ext>
            </a:extLst>
          </p:cNvPr>
          <p:cNvPicPr>
            <a:picLocks noChangeAspect="1"/>
          </p:cNvPicPr>
          <p:nvPr/>
        </p:nvPicPr>
        <p:blipFill>
          <a:blip r:embed="rId22"/>
          <a:stretch>
            <a:fillRect/>
          </a:stretch>
        </p:blipFill>
        <p:spPr>
          <a:xfrm>
            <a:off x="168626" y="6000189"/>
            <a:ext cx="513105" cy="406851"/>
          </a:xfrm>
          <a:prstGeom prst="rect">
            <a:avLst/>
          </a:prstGeom>
        </p:spPr>
      </p:pic>
      <p:pic>
        <p:nvPicPr>
          <p:cNvPr id="73" name="Imagem 72">
            <a:extLst>
              <a:ext uri="{FF2B5EF4-FFF2-40B4-BE49-F238E27FC236}">
                <a16:creationId xmlns:a16="http://schemas.microsoft.com/office/drawing/2014/main" id="{F347B92B-E802-CD63-2F8B-0CB4402D8CCB}"/>
              </a:ext>
            </a:extLst>
          </p:cNvPr>
          <p:cNvPicPr>
            <a:picLocks noChangeAspect="1"/>
          </p:cNvPicPr>
          <p:nvPr/>
        </p:nvPicPr>
        <p:blipFill>
          <a:blip r:embed="rId23"/>
          <a:stretch>
            <a:fillRect/>
          </a:stretch>
        </p:blipFill>
        <p:spPr>
          <a:xfrm>
            <a:off x="897034" y="6010180"/>
            <a:ext cx="527679" cy="458334"/>
          </a:xfrm>
          <a:prstGeom prst="rect">
            <a:avLst/>
          </a:prstGeom>
        </p:spPr>
      </p:pic>
      <p:sp>
        <p:nvSpPr>
          <p:cNvPr id="74" name="CaixaDeTexto 73">
            <a:extLst>
              <a:ext uri="{FF2B5EF4-FFF2-40B4-BE49-F238E27FC236}">
                <a16:creationId xmlns:a16="http://schemas.microsoft.com/office/drawing/2014/main" id="{597E46DB-A8BD-0085-B7CE-07F548C470DF}"/>
              </a:ext>
            </a:extLst>
          </p:cNvPr>
          <p:cNvSpPr txBox="1"/>
          <p:nvPr/>
        </p:nvSpPr>
        <p:spPr>
          <a:xfrm>
            <a:off x="877396" y="6428613"/>
            <a:ext cx="3259226" cy="400110"/>
          </a:xfrm>
          <a:prstGeom prst="rect">
            <a:avLst/>
          </a:prstGeom>
          <a:noFill/>
        </p:spPr>
        <p:txBody>
          <a:bodyPr wrap="none" rtlCol="0">
            <a:spAutoFit/>
          </a:bodyPr>
          <a:lstStyle/>
          <a:p>
            <a:r>
              <a:rPr lang="pt-BR" sz="1000" b="1" dirty="0">
                <a:latin typeface="Century Gothic" panose="020B0502020202020204" pitchFamily="34" charset="0"/>
              </a:rPr>
              <a:t>OBS</a:t>
            </a:r>
            <a:r>
              <a:rPr lang="pt-BR" sz="1000" dirty="0">
                <a:latin typeface="Century Gothic" panose="020B0502020202020204" pitchFamily="34" charset="0"/>
              </a:rPr>
              <a:t>.: Aumentado curva de validação para 25%, </a:t>
            </a:r>
          </a:p>
          <a:p>
            <a:r>
              <a:rPr lang="pt-BR" sz="1000" dirty="0">
                <a:latin typeface="Century Gothic" panose="020B0502020202020204" pitchFamily="34" charset="0"/>
              </a:rPr>
              <a:t>melhorou mais ainda. </a:t>
            </a:r>
          </a:p>
        </p:txBody>
      </p:sp>
      <p:sp>
        <p:nvSpPr>
          <p:cNvPr id="75" name="CaixaDeTexto 74">
            <a:extLst>
              <a:ext uri="{FF2B5EF4-FFF2-40B4-BE49-F238E27FC236}">
                <a16:creationId xmlns:a16="http://schemas.microsoft.com/office/drawing/2014/main" id="{FB6F3C4F-54A8-7098-E8B7-A8F065506261}"/>
              </a:ext>
            </a:extLst>
          </p:cNvPr>
          <p:cNvSpPr txBox="1"/>
          <p:nvPr/>
        </p:nvSpPr>
        <p:spPr>
          <a:xfrm>
            <a:off x="9263389" y="2562897"/>
            <a:ext cx="561372" cy="246221"/>
          </a:xfrm>
          <a:prstGeom prst="rect">
            <a:avLst/>
          </a:prstGeom>
          <a:noFill/>
        </p:spPr>
        <p:txBody>
          <a:bodyPr wrap="none" rtlCol="0">
            <a:spAutoFit/>
          </a:bodyPr>
          <a:lstStyle/>
          <a:p>
            <a:r>
              <a:rPr lang="pt-BR" sz="1000" dirty="0">
                <a:latin typeface="Century Gothic" panose="020B0502020202020204" pitchFamily="34" charset="0"/>
              </a:rPr>
              <a:t>1 Pixel</a:t>
            </a:r>
          </a:p>
        </p:txBody>
      </p:sp>
      <p:cxnSp>
        <p:nvCxnSpPr>
          <p:cNvPr id="77" name="Conector de Seta Reta 76">
            <a:extLst>
              <a:ext uri="{FF2B5EF4-FFF2-40B4-BE49-F238E27FC236}">
                <a16:creationId xmlns:a16="http://schemas.microsoft.com/office/drawing/2014/main" id="{F53D6988-E313-52A5-6B51-A7AEC9B56515}"/>
              </a:ext>
            </a:extLst>
          </p:cNvPr>
          <p:cNvCxnSpPr>
            <a:cxnSpLocks/>
            <a:stCxn id="75" idx="2"/>
          </p:cNvCxnSpPr>
          <p:nvPr/>
        </p:nvCxnSpPr>
        <p:spPr>
          <a:xfrm>
            <a:off x="9544075" y="2809118"/>
            <a:ext cx="15460" cy="2713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8288236"/>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3073</TotalTime>
  <Words>3949</Words>
  <Application>Microsoft Office PowerPoint</Application>
  <PresentationFormat>Widescreen</PresentationFormat>
  <Paragraphs>489</Paragraphs>
  <Slides>17</Slides>
  <Notes>0</Notes>
  <HiddenSlides>0</HiddenSlides>
  <MMClips>0</MMClips>
  <ScaleCrop>false</ScaleCrop>
  <HeadingPairs>
    <vt:vector size="6" baseType="variant">
      <vt:variant>
        <vt:lpstr>Fontes usadas</vt:lpstr>
      </vt:variant>
      <vt:variant>
        <vt:i4>10</vt:i4>
      </vt:variant>
      <vt:variant>
        <vt:lpstr>Tema</vt:lpstr>
      </vt:variant>
      <vt:variant>
        <vt:i4>1</vt:i4>
      </vt:variant>
      <vt:variant>
        <vt:lpstr>Títulos de slides</vt:lpstr>
      </vt:variant>
      <vt:variant>
        <vt:i4>17</vt:i4>
      </vt:variant>
    </vt:vector>
  </HeadingPairs>
  <TitlesOfParts>
    <vt:vector size="28" baseType="lpstr">
      <vt:lpstr>Arial</vt:lpstr>
      <vt:lpstr>Calibri</vt:lpstr>
      <vt:lpstr>Calibri Light</vt:lpstr>
      <vt:lpstr>Century Gothic</vt:lpstr>
      <vt:lpstr>Google Sans</vt:lpstr>
      <vt:lpstr>Helvetica</vt:lpstr>
      <vt:lpstr>Linux Libertine</vt:lpstr>
      <vt:lpstr>Raleway</vt:lpstr>
      <vt:lpstr>Roboto</vt:lpstr>
      <vt:lpstr>Segoe UI</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Levi Silva</dc:creator>
  <cp:lastModifiedBy>Levi Rodrigues da Silva</cp:lastModifiedBy>
  <cp:revision>460</cp:revision>
  <dcterms:created xsi:type="dcterms:W3CDTF">2023-10-20T17:07:31Z</dcterms:created>
  <dcterms:modified xsi:type="dcterms:W3CDTF">2024-06-27T18:21:46Z</dcterms:modified>
</cp:coreProperties>
</file>